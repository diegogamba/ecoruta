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C5F2D"/>
                </a:solidFill>
                <a:latin typeface="Cambria"/>
              </a:defRPr>
            </a:pPr>
            <a:r>
              <a:rPr sz="1300" b="0" i="0" u="none" strike="noStrike">
                <a:solidFill>
                  <a:srgbClr val="2C5F2D"/>
                </a:solidFill>
                <a:latin typeface="Cambria"/>
              </a:rPr>
              <a:t>Cobertura por módulo del dominio (%)</a:t>
            </a:r>
          </a:p>
        </c:rich>
      </c:tx>
      <c:layout/>
      <c:overlay val="0"/>
    </c:title>
    <c:autoTitleDeleted val="0"/>
    <c:plotArea>
      <c:layout/>
      <c:barChart>
        <c:barDir val="col"/>
        <c:grouping val="clustered"/>
        <c:varyColors val="0"/>
        <c:ser>
          <c:idx val="0"/>
          <c:order val="0"/>
          <c:tx>
            <c:strRef>
              <c:f>Sheet1!$B$1</c:f>
              <c:strCache>
                <c:ptCount val="1"/>
                <c:pt idx="0">
                  <c:v>Cobertura</c:v>
                </c:pt>
              </c:strCache>
            </c:strRef>
          </c:tx>
          <c:spPr>
            <a:solidFill>
              <a:srgbClr val="2C5F2D"/>
            </a:solidFill>
            <a:effectLst/>
          </c:spPr>
          <c:invertIfNegative val="0"/>
          <c:dLbls>
            <c:numFmt formatCode="#,##0" sourceLinked="0"/>
            <c:txPr>
              <a:bodyPr/>
              <a:lstStyle/>
              <a:p>
                <a:pPr>
                  <a:defRPr b="0" i="0" strike="noStrike" sz="1000" u="none">
                    <a:solidFill>
                      <a:srgbClr val="1C262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Geo</c:v>
                  </c:pt>
                  <c:pt idx="1">
                    <c:v>Servicios</c:v>
                  </c:pt>
                  <c:pt idx="2">
                    <c:v>Handlers API</c:v>
                  </c:pt>
                  <c:pt idx="3">
                    <c:v>HTTP</c:v>
                  </c:pt>
                  <c:pt idx="4">
                    <c:v>Modelos</c:v>
                  </c:pt>
                </c:lvl>
              </c:multiLvlStrCache>
            </c:multiLvlStrRef>
          </c:cat>
          <c:val>
            <c:numRef>
              <c:f>Sheet1!$B$2:$B$6</c:f>
              <c:numCache>
                <c:formatCode>General</c:formatCode>
                <c:ptCount val="5"/>
                <c:pt idx="0">
                  <c:v>100</c:v>
                </c:pt>
                <c:pt idx="1">
                  <c:v>100</c:v>
                </c:pt>
                <c:pt idx="2">
                  <c:v>99</c:v>
                </c:pt>
                <c:pt idx="3">
                  <c:v>98</c:v>
                </c:pt>
                <c:pt idx="4">
                  <c:v>98</c:v>
                </c:pt>
              </c:numCache>
            </c:numRef>
          </c:val>
        </c:ser>
        <c:dLbls>
          <c:numFmt formatCode="#,##0" sourceLinked="0"/>
          <c:txPr>
            <a:bodyPr/>
            <a:lstStyle/>
            <a:p>
              <a:pPr>
                <a:defRPr b="0" i="0" strike="noStrike" sz="1000" u="none">
                  <a:solidFill>
                    <a:srgbClr val="1C262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A70"/>
                </a:solidFill>
                <a:latin typeface="Calibri"/>
              </a:defRPr>
            </a:pPr>
            <a:endParaRPr lang="en-US"/>
          </a:p>
        </c:txPr>
        <c:crossAx val="2094734552"/>
        <c:crosses val="autoZero"/>
        <c:auto val="1"/>
        <c:lblAlgn val="ctr"/>
        <c:noMultiLvlLbl val="1"/>
      </c:catAx>
      <c:valAx>
        <c:axId val="2094734552"/>
        <c:scaling>
          <c:orientation val="minMax"/>
          <c:max val="1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Costo mensual (USD)</c:v>
                </c:pt>
              </c:strCache>
            </c:strRef>
          </c:tx>
          <c:spPr>
            <a:solidFill>
              <a:schemeClr val="accent1"/>
            </a:solidFill>
            <a:ln w="9525" cap="flat">
              <a:solidFill>
                <a:srgbClr val="F9F9F9"/>
              </a:solidFill>
              <a:prstDash val="solid"/>
              <a:round/>
            </a:ln>
            <a:effectLst/>
          </c:spPr>
          <c:dPt>
            <c:idx val="0"/>
            <c:bubble3D val="0"/>
            <c:spPr>
              <a:solidFill>
                <a:srgbClr val="2C5F2D"/>
              </a:solidFill>
              <a:ln w="25400" cap="flat">
                <a:solidFill>
                  <a:srgbClr val="FFFFFF"/>
                </a:solidFill>
                <a:prstDash val="solid"/>
                <a:round/>
              </a:ln>
              <a:effectLst/>
            </c:spPr>
          </c:dPt>
          <c:dPt>
            <c:idx val="1"/>
            <c:bubble3D val="0"/>
            <c:spPr>
              <a:solidFill>
                <a:srgbClr val="97BC62"/>
              </a:solidFill>
              <a:ln w="25400" cap="flat">
                <a:solidFill>
                  <a:srgbClr val="FFFFFF"/>
                </a:solidFill>
                <a:prstDash val="solid"/>
                <a:round/>
              </a:ln>
              <a:effectLst/>
            </c:spPr>
          </c:dPt>
          <c:dPt>
            <c:idx val="2"/>
            <c:bubble3D val="0"/>
            <c:spPr>
              <a:solidFill>
                <a:srgbClr val="5A8F5B"/>
              </a:solidFill>
              <a:ln w="25400" cap="flat">
                <a:solidFill>
                  <a:srgbClr val="FFFFFF"/>
                </a:solidFill>
                <a:prstDash val="solid"/>
                <a:round/>
              </a:ln>
              <a:effectLst/>
            </c:spPr>
          </c:dPt>
          <c:dPt>
            <c:idx val="3"/>
            <c:bubble3D val="0"/>
            <c:spPr>
              <a:solidFill>
                <a:srgbClr val="7FA85C"/>
              </a:solidFill>
              <a:ln w="25400" cap="flat">
                <a:solidFill>
                  <a:srgbClr val="FFFFFF"/>
                </a:solidFill>
                <a:prstDash val="solid"/>
                <a:round/>
              </a:ln>
              <a:effectLst/>
            </c:spPr>
          </c:dPt>
          <c:dPt>
            <c:idx val="4"/>
            <c:bubble3D val="0"/>
            <c:spPr>
              <a:solidFill>
                <a:srgbClr val="B8CFA0"/>
              </a:solidFill>
              <a:ln w="25400" cap="flat">
                <a:solidFill>
                  <a:srgbClr val="FFFFFF"/>
                </a:solidFill>
                <a:prstDash val="solid"/>
                <a:round/>
              </a:ln>
              <a:effectLst/>
            </c:spPr>
          </c:dPt>
          <c:dPt>
            <c:idx val="5"/>
            <c:bubble3D val="0"/>
            <c:spPr>
              <a:solidFill>
                <a:srgbClr val="D4E2C4"/>
              </a:solidFill>
              <a:ln w="25400" cap="flat">
                <a:solidFill>
                  <a:srgbClr val="FFFFFF"/>
                </a:solidFill>
                <a:prstDash val="solid"/>
                <a:round/>
              </a:ln>
              <a:effectLst/>
            </c:spPr>
          </c:dPt>
          <c:dPt>
            <c:idx val="6"/>
            <c:bubble3D val="0"/>
            <c:spPr>
              <a:solidFill>
                <a:srgbClr val="DCE3DA"/>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6"/>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Sheet1!$A$2:$A$8</c:f>
              <c:strCache>
                <c:ptCount val="7"/>
                <c:pt idx="0">
                  <c:v>Rekognition</c:v>
                </c:pt>
                <c:pt idx="1">
                  <c:v>KMS</c:v>
                </c:pt>
                <c:pt idx="2">
                  <c:v>EventBridge · SNS · CloudWatch</c:v>
                </c:pt>
                <c:pt idx="3">
                  <c:v>DynamoDB</c:v>
                </c:pt>
                <c:pt idx="4">
                  <c:v>S3</c:v>
                </c:pt>
                <c:pt idx="5">
                  <c:v>Lambda</c:v>
                </c:pt>
                <c:pt idx="6">
                  <c:v>API Gateway</c:v>
                </c:pt>
              </c:strCache>
            </c:strRef>
          </c:cat>
          <c:val>
            <c:numRef>
              <c:f>Sheet1!$B$2:$B$8</c:f>
              <c:numCache>
                <c:ptCount val="7"/>
                <c:pt idx="0">
                  <c:v>3</c:v>
                </c:pt>
                <c:pt idx="1">
                  <c:v>1</c:v>
                </c:pt>
                <c:pt idx="2">
                  <c:v>0.6</c:v>
                </c:pt>
                <c:pt idx="3">
                  <c:v>0.1</c:v>
                </c:pt>
                <c:pt idx="4">
                  <c:v>0.05</c:v>
                </c:pt>
                <c:pt idx="5">
                  <c:v>0.05</c:v>
                </c:pt>
                <c:pt idx="6">
                  <c:v>0.04</c:v>
                </c:pt>
              </c:numCache>
            </c:numRef>
          </c:val>
        </c:ser>
        <c:firstSliceAng val="0"/>
        <c:holeSize val="55"/>
      </c:doughnutChart>
      <c:spPr>
        <a:noFill/>
        <a:ln>
          <a:noFill/>
        </a:ln>
        <a:effectLst/>
      </c:spPr>
    </c:plotArea>
    <c:legend>
      <c:legendPos val="b"/>
      <c:overlay val="0"/>
      <c:txPr>
        <a:bodyPr/>
        <a:lstStyle/>
        <a:p>
          <a:pPr>
            <a:defRPr sz="1000">
              <a:solidFill>
                <a:srgbClr val="1C262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EcoRuta: una solución móvil respaldada por una arquitectura serverless en AWS para capturar, clasificar y priorizar puntos críticos de residuos sólidos a partir del reporte ciudadano.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PROBLEMA (90 s). Empiece con un caso concreto: 'todos conocemos una esquina del barrio donde aparece basura; la recogen y a la semana vuelve media cuadra mas alla'. Luego los tres rasgos sin leerlos: es dinamico (el inventario queda obsoleto en semanas), es local (lo detecta el vecino, no el operador de la macro-ruta), la informacion no fluye (texto libre sin coordenadas obliga a verificar en campo). Cierre con la consecuencia operativa.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DELIMITACION (60 s). Lea la pregunta de investigacion completa y en voz alta: es lo que convierte el trabajo en algo evaluable y es lo que el jurado de semillero espera oir. De los cinco objetivos mencione solo el 1 y el 2; el resto esta en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SOLUCION (60 s). Recorra los cinco pasos, una frase cada uno. AQUI VA LA DEMOSTRACION EN VIVO: tome una foto con el celular, envie el reporte, muestre el mapa. Remate: 'lo que acaban de ver son treinta segundos; si reportar cuesta mas que ignorar el problema, nadie reporta'.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(2 min). La diapositiva mas importante para la nota. No enumere servicios: explique decisiones. Borde: la validacion del token la hace API Gateway, no mi codigo. Computo: ocho funciones para tener minimo privilegio real. Datos: una sola tabla y ninguna operacion usa Scan. La flecha gruesa: la foto no atraviesa el computo, la app sube directo a S3 con URL prefirmada, lo que evita el limite de 6 MB de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JUSTIFICACION (90 s, recortable). No lea las seis filas: elija dos y explíquelas bien. Luego mencione lo descartado, que es lo que demuestra criterio: 'consideré PostgreSQL con PostGIS; lo descarté porque mis consultas son de proximidad, que el geohash resuelve a costo constante, y PostGIS obligaba a una instancia siempre encendida en una VPC que costaria mas que toda la solucion'.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 DATOS (90 s, recortable). Frase clave: 'en DynamoDB uno no disena desde las entidades sino desde las consultas; tengo exactamente cuatro y cada una tiene su clave'. Si hay tiempo explique el geohash a dos precisiones (se guarda con 7, se particiona por 6) para que las particiones no sean ni diminutas ni calientes.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ALGORITMO (2 min). Aqui se gana el criterio de rigor tecnico: es lo unico verdaderamente propio del proyecto. Explique los cuatro pasos y sea explicito con el umbral: 'un grupo solo es punto critico con tres o mas reportes; sin ese umbral una queja aislada movilizaria una cuadrilla'. Senale el panel derecho: no son casos ilustrativos, son pruebas que corren en cada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SEGURIDAD (90 s). Elija dos tarjetas, no las seis: minimo privilegio real y seudonimizacion en logs. Luego LEA LA DEUDA RECONOCIDA: 'no verifico que la foto se tomo donde dice, no hay WAF y no desenfoco rostros; lo documente porque un analisis de seguridad que solo lista lo que si hice no es un analisis de seguridad'. Si no lo dice usted, se lo preguntan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CALIDAD (60 s). Los cuatro numeros y una historia concreta que vale mas que todos ellos: una prueba fallo la primera vez que la corri porque la API devolvia el identificador del usuario junto con el reporte. Es una fuga de datos personales que no se ve leyendo el codigo, solo se ve cuando alguien la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COSTOS (60 s, recortable). 'La demostracion cabe en la capa gratuita; la operacion real de una localidad cuesta menos de cinco dolares al mes. Pero el dato interesante es la composicion: el 62 % es el servicio de vision por computador.' Ese puente hacia la investigacion es el mejor momento de la presentacion: uselo para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SEMILLERO (2 min). Si le interesa la convocatoria, esta es la diapositiva por la que vino. Nombre el vacio: hay literatura sobre reporte ciudadano y sobre clasificacion de residuos, poca sobre las dos juntas en ciudades latinoamericanas. Explique la Fase 1 con concrecion: comparar contra el inventario oficial publicado como dato abierto y medir precision y exhaustividad. Es un experimento ejecutable, no una intencion.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ENTREGABLES (30 s). Muestre el repositorio en vivo, no la diapositiva: baje por el README, abra un ADR, abra la carpeta de evidencias. Diez segundos de repositorio real valen mas que un minuto describiendolo.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Quedo atento a preguntas sobre la arquitectura, el algoritmo de agrupamiento o la proyección investigativa.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1B"/>
        </a:solidFill>
      </p:bgPr>
    </p:bg>
    <p:spTree>
      <p:nvGrpSpPr>
        <p:cNvPr id="1" name=""/>
        <p:cNvGrpSpPr/>
        <p:nvPr/>
      </p:nvGrpSpPr>
      <p:grpSpPr>
        <a:xfrm>
          <a:off x="0" y="0"/>
          <a:ext cx="0" cy="0"/>
          <a:chOff x="0" y="0"/>
          <a:chExt cx="0" cy="0"/>
        </a:xfrm>
      </p:grpSpPr>
      <p:sp>
        <p:nvSpPr>
          <p:cNvPr id="2" name="Shape 0"/>
          <p:cNvSpPr/>
          <p:nvPr/>
        </p:nvSpPr>
        <p:spPr>
          <a:xfrm>
            <a:off x="8595360" y="-1463040"/>
            <a:ext cx="5120640" cy="5120640"/>
          </a:xfrm>
          <a:prstGeom prst="ellipse">
            <a:avLst/>
          </a:prstGeom>
          <a:solidFill>
            <a:srgbClr val="2C5F2D">
              <a:alpha val="55000"/>
            </a:srgbClr>
          </a:solidFill>
          <a:ln w="12700">
            <a:solidFill>
              <a:srgbClr val="2C5F2D">
                <a:alpha val="0"/>
              </a:srgbClr>
            </a:solidFill>
            <a:prstDash val="solid"/>
          </a:ln>
        </p:spPr>
      </p:sp>
      <p:sp>
        <p:nvSpPr>
          <p:cNvPr id="3" name="Shape 1"/>
          <p:cNvSpPr/>
          <p:nvPr/>
        </p:nvSpPr>
        <p:spPr>
          <a:xfrm>
            <a:off x="10058400" y="3840480"/>
            <a:ext cx="3108960" cy="3108960"/>
          </a:xfrm>
          <a:prstGeom prst="ellipse">
            <a:avLst/>
          </a:prstGeom>
          <a:solidFill>
            <a:srgbClr val="97BC62">
              <a:alpha val="22000"/>
            </a:srgbClr>
          </a:solidFill>
          <a:ln w="12700">
            <a:solidFill>
              <a:srgbClr val="97BC62">
                <a:alpha val="0"/>
              </a:srgbClr>
            </a:solidFill>
            <a:prstDash val="solid"/>
          </a:ln>
        </p:spPr>
      </p:sp>
      <p:sp>
        <p:nvSpPr>
          <p:cNvPr id="4" name="Text 2"/>
          <p:cNvSpPr txBox="1"/>
          <p:nvPr/>
        </p:nvSpPr>
        <p:spPr>
          <a:xfrm>
            <a:off x="640080" y="1417320"/>
            <a:ext cx="7315200" cy="274320"/>
          </a:xfrm>
          <a:prstGeom prst="rect">
            <a:avLst/>
          </a:prstGeom>
          <a:noFill/>
          <a:ln/>
        </p:spPr>
        <p:txBody>
          <a:bodyPr wrap="square" lIns="0" tIns="0" rIns="0" bIns="0" rtlCol="0" anchor="ctr"/>
          <a:lstStyle/>
          <a:p>
            <a:pPr indent="0" marL="0">
              <a:buNone/>
            </a:pPr>
            <a:r>
              <a:rPr lang="en-US" sz="1200" b="1" spc="300" kern="0" dirty="0">
                <a:solidFill>
                  <a:srgbClr val="97BC62"/>
                </a:solidFill>
                <a:latin typeface="Calibri" pitchFamily="34" charset="0"/>
                <a:ea typeface="Calibri" pitchFamily="34" charset="-122"/>
                <a:cs typeface="Calibri" pitchFamily="34" charset="-120"/>
              </a:rPr>
              <a:t>TALLER ABP · ENTREGA 1</a:t>
            </a:r>
            <a:endParaRPr lang="en-US" sz="1200" dirty="0"/>
          </a:p>
        </p:txBody>
      </p:sp>
      <p:sp>
        <p:nvSpPr>
          <p:cNvPr id="5" name="Text 3"/>
          <p:cNvSpPr txBox="1"/>
          <p:nvPr/>
        </p:nvSpPr>
        <p:spPr>
          <a:xfrm>
            <a:off x="640080" y="1783080"/>
            <a:ext cx="7863840" cy="123444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EcoRuta</a:t>
            </a:r>
            <a:endParaRPr lang="en-US" sz="6600" dirty="0"/>
          </a:p>
        </p:txBody>
      </p:sp>
      <p:sp>
        <p:nvSpPr>
          <p:cNvPr id="6" name="Text 4"/>
          <p:cNvSpPr txBox="1"/>
          <p:nvPr/>
        </p:nvSpPr>
        <p:spPr>
          <a:xfrm>
            <a:off x="640080" y="3035808"/>
            <a:ext cx="7863840" cy="914400"/>
          </a:xfrm>
          <a:prstGeom prst="rect">
            <a:avLst/>
          </a:prstGeom>
          <a:noFill/>
          <a:ln/>
        </p:spPr>
        <p:txBody>
          <a:bodyPr wrap="square" lIns="0" tIns="0" rIns="0" bIns="0" rtlCol="0" anchor="ctr"/>
          <a:lstStyle/>
          <a:p>
            <a:pPr indent="0" marL="0">
              <a:lnSpc>
                <a:spcPts val="3000"/>
              </a:lnSpc>
              <a:buNone/>
            </a:pPr>
            <a:r>
              <a:rPr lang="en-US" sz="2100" i="1" dirty="0">
                <a:solidFill>
                  <a:srgbClr val="97BC62"/>
                </a:solidFill>
                <a:latin typeface="Cambria" pitchFamily="34" charset="0"/>
                <a:ea typeface="Cambria" pitchFamily="34" charset="-122"/>
                <a:cs typeface="Cambria" pitchFamily="34" charset="-120"/>
              </a:rPr>
              <a:t>Reporte ciudadano y priorización automática</a:t>
            </a:r>
            <a:endParaRPr lang="en-US" sz="2100" dirty="0"/>
          </a:p>
          <a:p>
            <a:pPr indent="0" marL="0">
              <a:lnSpc>
                <a:spcPts val="3000"/>
              </a:lnSpc>
              <a:buNone/>
            </a:pPr>
            <a:r>
              <a:rPr lang="en-US" sz="2100" i="1" dirty="0">
                <a:solidFill>
                  <a:srgbClr val="97BC62"/>
                </a:solidFill>
                <a:latin typeface="Cambria" pitchFamily="34" charset="0"/>
                <a:ea typeface="Cambria" pitchFamily="34" charset="-122"/>
                <a:cs typeface="Cambria" pitchFamily="34" charset="-120"/>
              </a:rPr>
              <a:t>de puntos críticos de residuos sólidos</a:t>
            </a:r>
            <a:endParaRPr lang="en-US" sz="2100" dirty="0"/>
          </a:p>
        </p:txBody>
      </p:sp>
      <p:sp>
        <p:nvSpPr>
          <p:cNvPr id="7" name="Text 5"/>
          <p:cNvSpPr txBox="1"/>
          <p:nvPr/>
        </p:nvSpPr>
        <p:spPr>
          <a:xfrm>
            <a:off x="640080" y="4160520"/>
            <a:ext cx="8046720" cy="292608"/>
          </a:xfrm>
          <a:prstGeom prst="rect">
            <a:avLst/>
          </a:prstGeom>
          <a:noFill/>
          <a:ln/>
        </p:spPr>
        <p:txBody>
          <a:bodyPr wrap="square" lIns="0" tIns="0" rIns="0" bIns="0" rtlCol="0" anchor="ctr"/>
          <a:lstStyle/>
          <a:p>
            <a:pPr indent="0" marL="0">
              <a:buNone/>
            </a:pPr>
            <a:r>
              <a:rPr lang="en-US" sz="1300" dirty="0">
                <a:solidFill>
                  <a:srgbClr val="F5F5F0"/>
                </a:solidFill>
                <a:latin typeface="Calibri" pitchFamily="34" charset="0"/>
                <a:ea typeface="Calibri" pitchFamily="34" charset="-122"/>
                <a:cs typeface="Calibri" pitchFamily="34" charset="-120"/>
              </a:rPr>
              <a:t>App móvil Flutter  ·  Arquitectura serverless en AWS  ·  Infraestructura como código</a:t>
            </a:r>
            <a:endParaRPr lang="en-US" sz="1300" dirty="0"/>
          </a:p>
        </p:txBody>
      </p:sp>
      <p:sp>
        <p:nvSpPr>
          <p:cNvPr id="8" name="Shape 6"/>
          <p:cNvSpPr/>
          <p:nvPr/>
        </p:nvSpPr>
        <p:spPr>
          <a:xfrm>
            <a:off x="640080" y="4892040"/>
            <a:ext cx="2011680" cy="27432"/>
          </a:xfrm>
          <a:prstGeom prst="rect">
            <a:avLst/>
          </a:prstGeom>
          <a:solidFill>
            <a:srgbClr val="97BC62"/>
          </a:solidFill>
          <a:ln w="12700">
            <a:solidFill>
              <a:srgbClr val="97BC62"/>
            </a:solidFill>
            <a:prstDash val="solid"/>
          </a:ln>
        </p:spPr>
      </p:sp>
      <p:sp>
        <p:nvSpPr>
          <p:cNvPr id="9" name="Text 7"/>
          <p:cNvSpPr txBox="1"/>
          <p:nvPr/>
        </p:nvSpPr>
        <p:spPr>
          <a:xfrm>
            <a:off x="640080" y="5120640"/>
            <a:ext cx="731520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Diego Gamba</a:t>
            </a:r>
            <a:endParaRPr lang="en-US" sz="1500" dirty="0"/>
          </a:p>
        </p:txBody>
      </p:sp>
      <p:sp>
        <p:nvSpPr>
          <p:cNvPr id="10" name="Text 8"/>
          <p:cNvSpPr txBox="1"/>
          <p:nvPr/>
        </p:nvSpPr>
        <p:spPr>
          <a:xfrm>
            <a:off x="640080" y="5440680"/>
            <a:ext cx="8229600" cy="292608"/>
          </a:xfrm>
          <a:prstGeom prst="rect">
            <a:avLst/>
          </a:prstGeom>
          <a:noFill/>
          <a:ln/>
        </p:spPr>
        <p:txBody>
          <a:bodyPr wrap="square" lIns="0" tIns="0" rIns="0" bIns="0" rtlCol="0" anchor="ctr"/>
          <a:lstStyle/>
          <a:p>
            <a:pPr indent="0" marL="0">
              <a:buNone/>
            </a:pPr>
            <a:r>
              <a:rPr lang="en-US" sz="1100" dirty="0">
                <a:solidFill>
                  <a:srgbClr val="97BC62"/>
                </a:solidFill>
                <a:latin typeface="Calibri" pitchFamily="34" charset="0"/>
                <a:ea typeface="Calibri" pitchFamily="34" charset="-122"/>
                <a:cs typeface="Calibri" pitchFamily="34" charset="-120"/>
              </a:rPr>
              <a:t>Diseño de Aplicaciones Móviles · Facultad de Ingeniería, Ciencias y Administración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EL PROBLEMA</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Los puntos críticos aparecen, se erradican y reaparecen</a:t>
            </a:r>
            <a:endParaRPr lang="en-US" sz="3400" dirty="0"/>
          </a:p>
        </p:txBody>
      </p:sp>
      <p:sp>
        <p:nvSpPr>
          <p:cNvPr id="4" name="Text 2"/>
          <p:cNvSpPr txBox="1"/>
          <p:nvPr/>
        </p:nvSpPr>
        <p:spPr>
          <a:xfrm>
            <a:off x="640080" y="1371600"/>
            <a:ext cx="10881360" cy="640080"/>
          </a:xfrm>
          <a:prstGeom prst="rect">
            <a:avLst/>
          </a:prstGeom>
          <a:noFill/>
          <a:ln/>
        </p:spPr>
        <p:txBody>
          <a:bodyPr wrap="square" lIns="0" tIns="0" rIns="0" bIns="0" rtlCol="0" anchor="ctr"/>
          <a:lstStyle/>
          <a:p>
            <a:pPr indent="0" marL="0">
              <a:lnSpc>
                <a:spcPts val="2100"/>
              </a:lnSpc>
              <a:buNone/>
            </a:pPr>
            <a:r>
              <a:rPr lang="en-US" sz="1400" dirty="0">
                <a:solidFill>
                  <a:srgbClr val="1C2620"/>
                </a:solidFill>
                <a:latin typeface="Calibri" pitchFamily="34" charset="0"/>
                <a:ea typeface="Calibri" pitchFamily="34" charset="-122"/>
                <a:cs typeface="Calibri" pitchFamily="34" charset="-120"/>
              </a:rPr>
              <a:t>Parte de los residuos sólidos urbanos no llega al sistema formal de recolección: se acumula en esquinas, separadores y orillas de quebrada. El fenómeno tiene tres rasgos que lo hacen difícil de atender con los instrumentos actuales.</a:t>
            </a:r>
            <a:endParaRPr lang="en-US" sz="1400" dirty="0"/>
          </a:p>
        </p:txBody>
      </p:sp>
      <p:sp>
        <p:nvSpPr>
          <p:cNvPr id="5" name="Shape 3"/>
          <p:cNvSpPr/>
          <p:nvPr/>
        </p:nvSpPr>
        <p:spPr>
          <a:xfrm>
            <a:off x="640080" y="2240280"/>
            <a:ext cx="3444240" cy="2057400"/>
          </a:xfrm>
          <a:prstGeom prst="roundRect">
            <a:avLst>
              <a:gd name="adj" fmla="val 4444"/>
            </a:avLst>
          </a:prstGeom>
          <a:solidFill>
            <a:srgbClr val="F5F5F0"/>
          </a:solidFill>
          <a:ln w="12700">
            <a:solidFill>
              <a:srgbClr val="DCE3DA"/>
            </a:solidFill>
            <a:prstDash val="solid"/>
          </a:ln>
        </p:spPr>
      </p:sp>
      <p:sp>
        <p:nvSpPr>
          <p:cNvPr id="6" name="Shape 4"/>
          <p:cNvSpPr/>
          <p:nvPr/>
        </p:nvSpPr>
        <p:spPr>
          <a:xfrm>
            <a:off x="914400" y="2487168"/>
            <a:ext cx="457200" cy="457200"/>
          </a:xfrm>
          <a:prstGeom prst="ellipse">
            <a:avLst/>
          </a:prstGeom>
          <a:solidFill>
            <a:srgbClr val="2C5F2D"/>
          </a:solidFill>
          <a:ln w="12700">
            <a:solidFill>
              <a:srgbClr val="2C5F2D"/>
            </a:solidFill>
            <a:prstDash val="solid"/>
          </a:ln>
        </p:spPr>
      </p:sp>
      <p:sp>
        <p:nvSpPr>
          <p:cNvPr id="7" name="Text 5"/>
          <p:cNvSpPr txBox="1"/>
          <p:nvPr/>
        </p:nvSpPr>
        <p:spPr>
          <a:xfrm>
            <a:off x="914400" y="24871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914400" y="3072384"/>
            <a:ext cx="2895600" cy="292608"/>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Es dinámico</a:t>
            </a:r>
            <a:endParaRPr lang="en-US" sz="1600" dirty="0"/>
          </a:p>
        </p:txBody>
      </p:sp>
      <p:sp>
        <p:nvSpPr>
          <p:cNvPr id="9" name="Text 7"/>
          <p:cNvSpPr txBox="1"/>
          <p:nvPr/>
        </p:nvSpPr>
        <p:spPr>
          <a:xfrm>
            <a:off x="914400" y="3401568"/>
            <a:ext cx="2895600" cy="777240"/>
          </a:xfrm>
          <a:prstGeom prst="rect">
            <a:avLst/>
          </a:prstGeom>
          <a:noFill/>
          <a:ln/>
        </p:spPr>
        <p:txBody>
          <a:bodyPr wrap="square" lIns="0" tIns="0" rIns="0" bIns="0" rtlCol="0" anchor="ctr"/>
          <a:lstStyle/>
          <a:p>
            <a:pPr indent="0" marL="0">
              <a:lnSpc>
                <a:spcPts val="1700"/>
              </a:lnSpc>
              <a:buNone/>
            </a:pPr>
            <a:r>
              <a:rPr lang="en-US" sz="1200" dirty="0">
                <a:solidFill>
                  <a:srgbClr val="1C2620"/>
                </a:solidFill>
                <a:latin typeface="Calibri" pitchFamily="34" charset="0"/>
                <a:ea typeface="Calibri" pitchFamily="34" charset="-122"/>
                <a:cs typeface="Calibri" pitchFamily="34" charset="-120"/>
              </a:rPr>
              <a:t>Un punto se erradica y reaparece a media cuadra. Los inventarios manuales quedan obsoletos en semanas.</a:t>
            </a:r>
            <a:endParaRPr lang="en-US" sz="1200" dirty="0"/>
          </a:p>
        </p:txBody>
      </p:sp>
      <p:sp>
        <p:nvSpPr>
          <p:cNvPr id="10" name="Shape 8"/>
          <p:cNvSpPr/>
          <p:nvPr/>
        </p:nvSpPr>
        <p:spPr>
          <a:xfrm>
            <a:off x="4358640" y="2240280"/>
            <a:ext cx="3444240" cy="2057400"/>
          </a:xfrm>
          <a:prstGeom prst="roundRect">
            <a:avLst>
              <a:gd name="adj" fmla="val 4444"/>
            </a:avLst>
          </a:prstGeom>
          <a:solidFill>
            <a:srgbClr val="F5F5F0"/>
          </a:solidFill>
          <a:ln w="12700">
            <a:solidFill>
              <a:srgbClr val="DCE3DA"/>
            </a:solidFill>
            <a:prstDash val="solid"/>
          </a:ln>
        </p:spPr>
      </p:sp>
      <p:sp>
        <p:nvSpPr>
          <p:cNvPr id="11" name="Shape 9"/>
          <p:cNvSpPr/>
          <p:nvPr/>
        </p:nvSpPr>
        <p:spPr>
          <a:xfrm>
            <a:off x="4632960" y="2487168"/>
            <a:ext cx="457200" cy="457200"/>
          </a:xfrm>
          <a:prstGeom prst="ellipse">
            <a:avLst/>
          </a:prstGeom>
          <a:solidFill>
            <a:srgbClr val="2C5F2D"/>
          </a:solidFill>
          <a:ln w="12700">
            <a:solidFill>
              <a:srgbClr val="2C5F2D"/>
            </a:solidFill>
            <a:prstDash val="solid"/>
          </a:ln>
        </p:spPr>
      </p:sp>
      <p:sp>
        <p:nvSpPr>
          <p:cNvPr id="12" name="Text 10"/>
          <p:cNvSpPr txBox="1"/>
          <p:nvPr/>
        </p:nvSpPr>
        <p:spPr>
          <a:xfrm>
            <a:off x="4632960" y="24871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4632960" y="3072384"/>
            <a:ext cx="2895600" cy="292608"/>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Es local</a:t>
            </a:r>
            <a:endParaRPr lang="en-US" sz="1600" dirty="0"/>
          </a:p>
        </p:txBody>
      </p:sp>
      <p:sp>
        <p:nvSpPr>
          <p:cNvPr id="14" name="Text 12"/>
          <p:cNvSpPr txBox="1"/>
          <p:nvPr/>
        </p:nvSpPr>
        <p:spPr>
          <a:xfrm>
            <a:off x="4632960" y="3401568"/>
            <a:ext cx="2895600" cy="777240"/>
          </a:xfrm>
          <a:prstGeom prst="rect">
            <a:avLst/>
          </a:prstGeom>
          <a:noFill/>
          <a:ln/>
        </p:spPr>
        <p:txBody>
          <a:bodyPr wrap="square" lIns="0" tIns="0" rIns="0" bIns="0" rtlCol="0" anchor="ctr"/>
          <a:lstStyle/>
          <a:p>
            <a:pPr indent="0" marL="0">
              <a:lnSpc>
                <a:spcPts val="1700"/>
              </a:lnSpc>
              <a:buNone/>
            </a:pPr>
            <a:r>
              <a:rPr lang="en-US" sz="1200" dirty="0">
                <a:solidFill>
                  <a:srgbClr val="1C2620"/>
                </a:solidFill>
                <a:latin typeface="Calibri" pitchFamily="34" charset="0"/>
                <a:ea typeface="Calibri" pitchFamily="34" charset="-122"/>
                <a:cs typeface="Calibri" pitchFamily="34" charset="-120"/>
              </a:rPr>
              <a:t>Quien mejor lo detecta es el vecino que pasa a diario, no el operador que recorre la macro-ruta.</a:t>
            </a:r>
            <a:endParaRPr lang="en-US" sz="1200" dirty="0"/>
          </a:p>
        </p:txBody>
      </p:sp>
      <p:sp>
        <p:nvSpPr>
          <p:cNvPr id="15" name="Shape 13"/>
          <p:cNvSpPr/>
          <p:nvPr/>
        </p:nvSpPr>
        <p:spPr>
          <a:xfrm>
            <a:off x="8077200" y="2240280"/>
            <a:ext cx="3444240" cy="2057400"/>
          </a:xfrm>
          <a:prstGeom prst="roundRect">
            <a:avLst>
              <a:gd name="adj" fmla="val 4444"/>
            </a:avLst>
          </a:prstGeom>
          <a:solidFill>
            <a:srgbClr val="F5F5F0"/>
          </a:solidFill>
          <a:ln w="12700">
            <a:solidFill>
              <a:srgbClr val="DCE3DA"/>
            </a:solidFill>
            <a:prstDash val="solid"/>
          </a:ln>
        </p:spPr>
      </p:sp>
      <p:sp>
        <p:nvSpPr>
          <p:cNvPr id="16" name="Shape 14"/>
          <p:cNvSpPr/>
          <p:nvPr/>
        </p:nvSpPr>
        <p:spPr>
          <a:xfrm>
            <a:off x="8351520" y="2487168"/>
            <a:ext cx="457200" cy="457200"/>
          </a:xfrm>
          <a:prstGeom prst="ellipse">
            <a:avLst/>
          </a:prstGeom>
          <a:solidFill>
            <a:srgbClr val="2C5F2D"/>
          </a:solidFill>
          <a:ln w="12700">
            <a:solidFill>
              <a:srgbClr val="2C5F2D"/>
            </a:solidFill>
            <a:prstDash val="solid"/>
          </a:ln>
        </p:spPr>
      </p:sp>
      <p:sp>
        <p:nvSpPr>
          <p:cNvPr id="17" name="Text 15"/>
          <p:cNvSpPr txBox="1"/>
          <p:nvPr/>
        </p:nvSpPr>
        <p:spPr>
          <a:xfrm>
            <a:off x="8351520" y="24871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8351520" y="3072384"/>
            <a:ext cx="2895600" cy="292608"/>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No fluye la información</a:t>
            </a:r>
            <a:endParaRPr lang="en-US" sz="1600" dirty="0"/>
          </a:p>
        </p:txBody>
      </p:sp>
      <p:sp>
        <p:nvSpPr>
          <p:cNvPr id="19" name="Text 17"/>
          <p:cNvSpPr txBox="1"/>
          <p:nvPr/>
        </p:nvSpPr>
        <p:spPr>
          <a:xfrm>
            <a:off x="8351520" y="3401568"/>
            <a:ext cx="2895600" cy="777240"/>
          </a:xfrm>
          <a:prstGeom prst="rect">
            <a:avLst/>
          </a:prstGeom>
          <a:noFill/>
          <a:ln/>
        </p:spPr>
        <p:txBody>
          <a:bodyPr wrap="square" lIns="0" tIns="0" rIns="0" bIns="0" rtlCol="0" anchor="ctr"/>
          <a:lstStyle/>
          <a:p>
            <a:pPr indent="0" marL="0">
              <a:lnSpc>
                <a:spcPts val="1700"/>
              </a:lnSpc>
              <a:buNone/>
            </a:pPr>
            <a:r>
              <a:rPr lang="en-US" sz="1200" dirty="0">
                <a:solidFill>
                  <a:srgbClr val="1C2620"/>
                </a:solidFill>
                <a:latin typeface="Calibri" pitchFamily="34" charset="0"/>
                <a:ea typeface="Calibri" pitchFamily="34" charset="-122"/>
                <a:cs typeface="Calibri" pitchFamily="34" charset="-120"/>
              </a:rPr>
              <a:t>Los canales actuales producen texto libre sin coordenadas ni evidencia: obligan a verificar en campo.</a:t>
            </a:r>
            <a:endParaRPr lang="en-US" sz="1200" dirty="0"/>
          </a:p>
        </p:txBody>
      </p:sp>
      <p:sp>
        <p:nvSpPr>
          <p:cNvPr id="20" name="Shape 18"/>
          <p:cNvSpPr/>
          <p:nvPr/>
        </p:nvSpPr>
        <p:spPr>
          <a:xfrm>
            <a:off x="640080" y="4572000"/>
            <a:ext cx="10881360" cy="960120"/>
          </a:xfrm>
          <a:prstGeom prst="roundRect">
            <a:avLst>
              <a:gd name="adj" fmla="val 9524"/>
            </a:avLst>
          </a:prstGeom>
          <a:solidFill>
            <a:srgbClr val="1A3A1B"/>
          </a:solidFill>
          <a:ln w="12700">
            <a:solidFill>
              <a:srgbClr val="DCE3DA"/>
            </a:solidFill>
            <a:prstDash val="solid"/>
          </a:ln>
        </p:spPr>
      </p:sp>
      <p:sp>
        <p:nvSpPr>
          <p:cNvPr id="21" name="Text 19"/>
          <p:cNvSpPr txBox="1"/>
          <p:nvPr/>
        </p:nvSpPr>
        <p:spPr>
          <a:xfrm>
            <a:off x="1005840" y="4773168"/>
            <a:ext cx="10149840" cy="566928"/>
          </a:xfrm>
          <a:prstGeom prst="rect">
            <a:avLst/>
          </a:prstGeom>
          <a:noFill/>
          <a:ln/>
        </p:spPr>
        <p:txBody>
          <a:bodyPr wrap="square" lIns="0" tIns="0" rIns="0" bIns="0" rtlCol="0" anchor="ctr"/>
          <a:lstStyle/>
          <a:p>
            <a:pPr indent="0" marL="0">
              <a:lnSpc>
                <a:spcPts val="2000"/>
              </a:lnSpc>
              <a:buNone/>
            </a:pPr>
            <a:r>
              <a:rPr lang="en-US" sz="1350" i="1" dirty="0">
                <a:solidFill>
                  <a:srgbClr val="F5F5F0"/>
                </a:solidFill>
                <a:latin typeface="Calibri" pitchFamily="34" charset="0"/>
                <a:ea typeface="Calibri" pitchFamily="34" charset="-122"/>
                <a:cs typeface="Calibri" pitchFamily="34" charset="-120"/>
              </a:rPr>
              <a:t>Consecuencia operativa: recolección reactiva y no optimizada, riesgo sanitario por vectores, obstrucción de sumideros y deterioro del espacio público.</a:t>
            </a:r>
            <a:endParaRPr lang="en-US" sz="1350" dirty="0"/>
          </a:p>
        </p:txBody>
      </p:sp>
      <p:sp>
        <p:nvSpPr>
          <p:cNvPr id="22" name="Text 20"/>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23" name="Text 21"/>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DELIMITACIÓN</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Qué nos preguntamos y qué nos propusimos</a:t>
            </a:r>
            <a:endParaRPr lang="en-US" sz="3400" dirty="0"/>
          </a:p>
        </p:txBody>
      </p:sp>
      <p:sp>
        <p:nvSpPr>
          <p:cNvPr id="4" name="Shape 2"/>
          <p:cNvSpPr/>
          <p:nvPr/>
        </p:nvSpPr>
        <p:spPr>
          <a:xfrm>
            <a:off x="640080" y="1371600"/>
            <a:ext cx="10881360" cy="1051560"/>
          </a:xfrm>
          <a:prstGeom prst="roundRect">
            <a:avLst>
              <a:gd name="adj" fmla="val 8696"/>
            </a:avLst>
          </a:prstGeom>
          <a:solidFill>
            <a:srgbClr val="F5F5F0"/>
          </a:solidFill>
          <a:ln w="12700">
            <a:solidFill>
              <a:srgbClr val="DCE3DA"/>
            </a:solidFill>
            <a:prstDash val="solid"/>
          </a:ln>
        </p:spPr>
      </p:sp>
      <p:sp>
        <p:nvSpPr>
          <p:cNvPr id="5" name="Text 3"/>
          <p:cNvSpPr txBox="1"/>
          <p:nvPr/>
        </p:nvSpPr>
        <p:spPr>
          <a:xfrm>
            <a:off x="1005840" y="1536192"/>
            <a:ext cx="10149840" cy="228600"/>
          </a:xfrm>
          <a:prstGeom prst="rect">
            <a:avLst/>
          </a:prstGeom>
          <a:noFill/>
          <a:ln/>
        </p:spPr>
        <p:txBody>
          <a:bodyPr wrap="square" lIns="0" tIns="0" rIns="0" bIns="0" rtlCol="0" anchor="ctr"/>
          <a:lstStyle/>
          <a:p>
            <a:pPr indent="0" marL="0">
              <a:buNone/>
            </a:pPr>
            <a:r>
              <a:rPr lang="en-US" sz="1000" b="1" spc="200" kern="0" dirty="0">
                <a:solidFill>
                  <a:srgbClr val="97BC62"/>
                </a:solidFill>
                <a:latin typeface="Calibri" pitchFamily="34" charset="0"/>
                <a:ea typeface="Calibri" pitchFamily="34" charset="-122"/>
                <a:cs typeface="Calibri" pitchFamily="34" charset="-120"/>
              </a:rPr>
              <a:t>PREGUNTA QUE GUÍA EL PROYECTO</a:t>
            </a:r>
            <a:endParaRPr lang="en-US" sz="1000" dirty="0"/>
          </a:p>
        </p:txBody>
      </p:sp>
      <p:sp>
        <p:nvSpPr>
          <p:cNvPr id="6" name="Text 4"/>
          <p:cNvSpPr txBox="1"/>
          <p:nvPr/>
        </p:nvSpPr>
        <p:spPr>
          <a:xfrm>
            <a:off x="1005840" y="1783080"/>
            <a:ext cx="10149840" cy="548640"/>
          </a:xfrm>
          <a:prstGeom prst="rect">
            <a:avLst/>
          </a:prstGeom>
          <a:noFill/>
          <a:ln/>
        </p:spPr>
        <p:txBody>
          <a:bodyPr wrap="square" lIns="0" tIns="0" rIns="0" bIns="0" rtlCol="0" anchor="ctr"/>
          <a:lstStyle/>
          <a:p>
            <a:pPr indent="0" marL="0">
              <a:lnSpc>
                <a:spcPts val="2200"/>
              </a:lnSpc>
              <a:buNone/>
            </a:pPr>
            <a:r>
              <a:rPr lang="en-US" sz="1500" i="1" dirty="0">
                <a:solidFill>
                  <a:srgbClr val="2C5F2D"/>
                </a:solidFill>
                <a:latin typeface="Cambria" pitchFamily="34" charset="0"/>
                <a:ea typeface="Cambria" pitchFamily="34" charset="-122"/>
                <a:cs typeface="Cambria" pitchFamily="34" charset="-120"/>
              </a:rPr>
              <a:t>¿Puede un flujo de reporte ciudadano georreferenciado, con evidencia fotográfica y agrupamiento espacial automático, producir un inventario de puntos críticos más actualizado y accionable que el levantamiento manual periódico?</a:t>
            </a:r>
            <a:endParaRPr lang="en-US" sz="1500" dirty="0"/>
          </a:p>
        </p:txBody>
      </p:sp>
      <p:sp>
        <p:nvSpPr>
          <p:cNvPr id="7" name="Text 5"/>
          <p:cNvSpPr txBox="1"/>
          <p:nvPr/>
        </p:nvSpPr>
        <p:spPr>
          <a:xfrm>
            <a:off x="640080" y="2697480"/>
            <a:ext cx="5486400" cy="320040"/>
          </a:xfrm>
          <a:prstGeom prst="rect">
            <a:avLst/>
          </a:prstGeom>
          <a:noFill/>
          <a:ln/>
        </p:spPr>
        <p:txBody>
          <a:bodyPr wrap="square" lIns="0" tIns="0" rIns="0" bIns="0"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Objetivos específicos</a:t>
            </a:r>
            <a:endParaRPr lang="en-US" sz="1800" dirty="0"/>
          </a:p>
        </p:txBody>
      </p:sp>
      <p:sp>
        <p:nvSpPr>
          <p:cNvPr id="8" name="Shape 6"/>
          <p:cNvSpPr/>
          <p:nvPr/>
        </p:nvSpPr>
        <p:spPr>
          <a:xfrm>
            <a:off x="640080" y="3145536"/>
            <a:ext cx="310896" cy="310896"/>
          </a:xfrm>
          <a:prstGeom prst="ellipse">
            <a:avLst/>
          </a:prstGeom>
          <a:solidFill>
            <a:srgbClr val="97BC62"/>
          </a:solidFill>
          <a:ln w="12700">
            <a:solidFill>
              <a:srgbClr val="97BC62"/>
            </a:solidFill>
            <a:prstDash val="solid"/>
          </a:ln>
        </p:spPr>
      </p:sp>
      <p:sp>
        <p:nvSpPr>
          <p:cNvPr id="9" name="Text 7"/>
          <p:cNvSpPr txBox="1"/>
          <p:nvPr/>
        </p:nvSpPr>
        <p:spPr>
          <a:xfrm>
            <a:off x="640080" y="3145536"/>
            <a:ext cx="310896" cy="310896"/>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115568" y="3127248"/>
            <a:ext cx="6126480" cy="457200"/>
          </a:xfrm>
          <a:prstGeom prst="rect">
            <a:avLst/>
          </a:prstGeom>
          <a:noFill/>
          <a:ln/>
        </p:spPr>
        <p:txBody>
          <a:bodyPr wrap="square" lIns="0" tIns="0" rIns="0" bIns="0" rtlCol="0" anchor="ctr"/>
          <a:lstStyle/>
          <a:p>
            <a:pPr indent="0" marL="0">
              <a:lnSpc>
                <a:spcPts val="1700"/>
              </a:lnSpc>
              <a:buNone/>
            </a:pPr>
            <a:r>
              <a:rPr lang="en-US" sz="1250" dirty="0">
                <a:solidFill>
                  <a:srgbClr val="1C2620"/>
                </a:solidFill>
                <a:latin typeface="Calibri" pitchFamily="34" charset="0"/>
                <a:ea typeface="Calibri" pitchFamily="34" charset="-122"/>
                <a:cs typeface="Calibri" pitchFamily="34" charset="-120"/>
              </a:rPr>
              <a:t>Capturar un reporte georreferenciado con evidencia en menos de 60 segundos, incluso sin conectividad.</a:t>
            </a:r>
            <a:endParaRPr lang="en-US" sz="1250" dirty="0"/>
          </a:p>
        </p:txBody>
      </p:sp>
      <p:sp>
        <p:nvSpPr>
          <p:cNvPr id="11" name="Shape 9"/>
          <p:cNvSpPr/>
          <p:nvPr/>
        </p:nvSpPr>
        <p:spPr>
          <a:xfrm>
            <a:off x="640080" y="3694176"/>
            <a:ext cx="310896" cy="310896"/>
          </a:xfrm>
          <a:prstGeom prst="ellipse">
            <a:avLst/>
          </a:prstGeom>
          <a:solidFill>
            <a:srgbClr val="97BC62"/>
          </a:solidFill>
          <a:ln w="12700">
            <a:solidFill>
              <a:srgbClr val="97BC62"/>
            </a:solidFill>
            <a:prstDash val="solid"/>
          </a:ln>
        </p:spPr>
      </p:sp>
      <p:sp>
        <p:nvSpPr>
          <p:cNvPr id="12" name="Text 10"/>
          <p:cNvSpPr txBox="1"/>
          <p:nvPr/>
        </p:nvSpPr>
        <p:spPr>
          <a:xfrm>
            <a:off x="640080" y="3694176"/>
            <a:ext cx="310896" cy="310896"/>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115568" y="3675888"/>
            <a:ext cx="6126480" cy="457200"/>
          </a:xfrm>
          <a:prstGeom prst="rect">
            <a:avLst/>
          </a:prstGeom>
          <a:noFill/>
          <a:ln/>
        </p:spPr>
        <p:txBody>
          <a:bodyPr wrap="square" lIns="0" tIns="0" rIns="0" bIns="0" rtlCol="0" anchor="ctr"/>
          <a:lstStyle/>
          <a:p>
            <a:pPr indent="0" marL="0">
              <a:lnSpc>
                <a:spcPts val="1700"/>
              </a:lnSpc>
              <a:buNone/>
            </a:pPr>
            <a:r>
              <a:rPr lang="en-US" sz="1250" dirty="0">
                <a:solidFill>
                  <a:srgbClr val="1C2620"/>
                </a:solidFill>
                <a:latin typeface="Calibri" pitchFamily="34" charset="0"/>
                <a:ea typeface="Calibri" pitchFamily="34" charset="-122"/>
                <a:cs typeface="Calibri" pitchFamily="34" charset="-120"/>
              </a:rPr>
              <a:t>Convertir reportes dispersos en puntos críticos mediante agrupamiento espacial y priorizarlos por severidad.</a:t>
            </a:r>
            <a:endParaRPr lang="en-US" sz="1250" dirty="0"/>
          </a:p>
        </p:txBody>
      </p:sp>
      <p:sp>
        <p:nvSpPr>
          <p:cNvPr id="14" name="Shape 12"/>
          <p:cNvSpPr/>
          <p:nvPr/>
        </p:nvSpPr>
        <p:spPr>
          <a:xfrm>
            <a:off x="640080" y="4242816"/>
            <a:ext cx="310896" cy="310896"/>
          </a:xfrm>
          <a:prstGeom prst="ellipse">
            <a:avLst/>
          </a:prstGeom>
          <a:solidFill>
            <a:srgbClr val="97BC62"/>
          </a:solidFill>
          <a:ln w="12700">
            <a:solidFill>
              <a:srgbClr val="97BC62"/>
            </a:solidFill>
            <a:prstDash val="solid"/>
          </a:ln>
        </p:spPr>
      </p:sp>
      <p:sp>
        <p:nvSpPr>
          <p:cNvPr id="15" name="Text 13"/>
          <p:cNvSpPr txBox="1"/>
          <p:nvPr/>
        </p:nvSpPr>
        <p:spPr>
          <a:xfrm>
            <a:off x="640080" y="4242816"/>
            <a:ext cx="310896" cy="310896"/>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15568" y="4224528"/>
            <a:ext cx="6126480" cy="457200"/>
          </a:xfrm>
          <a:prstGeom prst="rect">
            <a:avLst/>
          </a:prstGeom>
          <a:noFill/>
          <a:ln/>
        </p:spPr>
        <p:txBody>
          <a:bodyPr wrap="square" lIns="0" tIns="0" rIns="0" bIns="0" rtlCol="0" anchor="ctr"/>
          <a:lstStyle/>
          <a:p>
            <a:pPr indent="0" marL="0">
              <a:lnSpc>
                <a:spcPts val="1700"/>
              </a:lnSpc>
              <a:buNone/>
            </a:pPr>
            <a:r>
              <a:rPr lang="en-US" sz="1250" dirty="0">
                <a:solidFill>
                  <a:srgbClr val="1C2620"/>
                </a:solidFill>
                <a:latin typeface="Calibri" pitchFamily="34" charset="0"/>
                <a:ea typeface="Calibri" pitchFamily="34" charset="-122"/>
                <a:cs typeface="Calibri" pitchFamily="34" charset="-120"/>
              </a:rPr>
              <a:t>Sugerir el tipo de residuo desde la fotografía para estandarizar el dato.</a:t>
            </a:r>
            <a:endParaRPr lang="en-US" sz="1250" dirty="0"/>
          </a:p>
        </p:txBody>
      </p:sp>
      <p:sp>
        <p:nvSpPr>
          <p:cNvPr id="17" name="Shape 15"/>
          <p:cNvSpPr/>
          <p:nvPr/>
        </p:nvSpPr>
        <p:spPr>
          <a:xfrm>
            <a:off x="640080" y="4791456"/>
            <a:ext cx="310896" cy="310896"/>
          </a:xfrm>
          <a:prstGeom prst="ellipse">
            <a:avLst/>
          </a:prstGeom>
          <a:solidFill>
            <a:srgbClr val="97BC62"/>
          </a:solidFill>
          <a:ln w="12700">
            <a:solidFill>
              <a:srgbClr val="97BC62"/>
            </a:solidFill>
            <a:prstDash val="solid"/>
          </a:ln>
        </p:spPr>
      </p:sp>
      <p:sp>
        <p:nvSpPr>
          <p:cNvPr id="18" name="Text 16"/>
          <p:cNvSpPr txBox="1"/>
          <p:nvPr/>
        </p:nvSpPr>
        <p:spPr>
          <a:xfrm>
            <a:off x="640080" y="4791456"/>
            <a:ext cx="310896" cy="310896"/>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115568" y="4773168"/>
            <a:ext cx="6126480" cy="457200"/>
          </a:xfrm>
          <a:prstGeom prst="rect">
            <a:avLst/>
          </a:prstGeom>
          <a:noFill/>
          <a:ln/>
        </p:spPr>
        <p:txBody>
          <a:bodyPr wrap="square" lIns="0" tIns="0" rIns="0" bIns="0" rtlCol="0" anchor="ctr"/>
          <a:lstStyle/>
          <a:p>
            <a:pPr indent="0" marL="0">
              <a:lnSpc>
                <a:spcPts val="1700"/>
              </a:lnSpc>
              <a:buNone/>
            </a:pPr>
            <a:r>
              <a:rPr lang="en-US" sz="1250" dirty="0">
                <a:solidFill>
                  <a:srgbClr val="1C2620"/>
                </a:solidFill>
                <a:latin typeface="Calibri" pitchFamily="34" charset="0"/>
                <a:ea typeface="Calibri" pitchFamily="34" charset="-122"/>
                <a:cs typeface="Calibri" pitchFamily="34" charset="-120"/>
              </a:rPr>
              <a:t>Notificar de inmediato ante residuos peligrosos o severidad alta.</a:t>
            </a:r>
            <a:endParaRPr lang="en-US" sz="1250" dirty="0"/>
          </a:p>
        </p:txBody>
      </p:sp>
      <p:sp>
        <p:nvSpPr>
          <p:cNvPr id="20" name="Shape 18"/>
          <p:cNvSpPr/>
          <p:nvPr/>
        </p:nvSpPr>
        <p:spPr>
          <a:xfrm>
            <a:off x="640080" y="5340096"/>
            <a:ext cx="310896" cy="310896"/>
          </a:xfrm>
          <a:prstGeom prst="ellipse">
            <a:avLst/>
          </a:prstGeom>
          <a:solidFill>
            <a:srgbClr val="97BC62"/>
          </a:solidFill>
          <a:ln w="12700">
            <a:solidFill>
              <a:srgbClr val="97BC62"/>
            </a:solidFill>
            <a:prstDash val="solid"/>
          </a:ln>
        </p:spPr>
      </p:sp>
      <p:sp>
        <p:nvSpPr>
          <p:cNvPr id="21" name="Text 19"/>
          <p:cNvSpPr txBox="1"/>
          <p:nvPr/>
        </p:nvSpPr>
        <p:spPr>
          <a:xfrm>
            <a:off x="640080" y="5340096"/>
            <a:ext cx="310896" cy="310896"/>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1115568" y="5321808"/>
            <a:ext cx="6126480" cy="457200"/>
          </a:xfrm>
          <a:prstGeom prst="rect">
            <a:avLst/>
          </a:prstGeom>
          <a:noFill/>
          <a:ln/>
        </p:spPr>
        <p:txBody>
          <a:bodyPr wrap="square" lIns="0" tIns="0" rIns="0" bIns="0" rtlCol="0" anchor="ctr"/>
          <a:lstStyle/>
          <a:p>
            <a:pPr indent="0" marL="0">
              <a:lnSpc>
                <a:spcPts val="1700"/>
              </a:lnSpc>
              <a:buNone/>
            </a:pPr>
            <a:r>
              <a:rPr lang="en-US" sz="1250" dirty="0">
                <a:solidFill>
                  <a:srgbClr val="1C2620"/>
                </a:solidFill>
                <a:latin typeface="Calibri" pitchFamily="34" charset="0"/>
                <a:ea typeface="Calibri" pitchFamily="34" charset="-122"/>
                <a:cs typeface="Calibri" pitchFamily="34" charset="-120"/>
              </a:rPr>
              <a:t>Exponer indicadores operativos para el seguimiento de la entidad.</a:t>
            </a:r>
            <a:endParaRPr lang="en-US" sz="1250" dirty="0"/>
          </a:p>
        </p:txBody>
      </p:sp>
      <p:sp>
        <p:nvSpPr>
          <p:cNvPr id="23" name="Shape 21"/>
          <p:cNvSpPr/>
          <p:nvPr/>
        </p:nvSpPr>
        <p:spPr>
          <a:xfrm>
            <a:off x="7223760" y="2697480"/>
            <a:ext cx="4297680" cy="3017520"/>
          </a:xfrm>
          <a:prstGeom prst="roundRect">
            <a:avLst>
              <a:gd name="adj" fmla="val 3030"/>
            </a:avLst>
          </a:prstGeom>
          <a:solidFill>
            <a:srgbClr val="F5F5F0"/>
          </a:solidFill>
          <a:ln w="12700">
            <a:solidFill>
              <a:srgbClr val="DCE3DA"/>
            </a:solidFill>
            <a:prstDash val="solid"/>
          </a:ln>
        </p:spPr>
      </p:sp>
      <p:sp>
        <p:nvSpPr>
          <p:cNvPr id="24" name="Text 22"/>
          <p:cNvSpPr txBox="1"/>
          <p:nvPr/>
        </p:nvSpPr>
        <p:spPr>
          <a:xfrm>
            <a:off x="7498080" y="2907792"/>
            <a:ext cx="4114800" cy="228600"/>
          </a:xfrm>
          <a:prstGeom prst="rect">
            <a:avLst/>
          </a:prstGeom>
          <a:noFill/>
          <a:ln/>
        </p:spPr>
        <p:txBody>
          <a:bodyPr wrap="square" lIns="0" tIns="0" rIns="0" bIns="0" rtlCol="0" anchor="ctr"/>
          <a:lstStyle/>
          <a:p>
            <a:pPr indent="0" marL="0">
              <a:buNone/>
            </a:pPr>
            <a:r>
              <a:rPr lang="en-US" sz="1000" b="1" spc="200" kern="0" dirty="0">
                <a:solidFill>
                  <a:srgbClr val="97BC62"/>
                </a:solidFill>
                <a:latin typeface="Calibri" pitchFamily="34" charset="0"/>
                <a:ea typeface="Calibri" pitchFamily="34" charset="-122"/>
                <a:cs typeface="Calibri" pitchFamily="34" charset="-120"/>
              </a:rPr>
              <a:t>ALCANCE DE LA ENTREGA</a:t>
            </a:r>
            <a:endParaRPr lang="en-US" sz="1000" dirty="0"/>
          </a:p>
        </p:txBody>
      </p:sp>
      <p:sp>
        <p:nvSpPr>
          <p:cNvPr id="25" name="Text 23"/>
          <p:cNvSpPr txBox="1"/>
          <p:nvPr/>
        </p:nvSpPr>
        <p:spPr>
          <a:xfrm>
            <a:off x="7498080" y="3246120"/>
            <a:ext cx="4023360" cy="219456"/>
          </a:xfrm>
          <a:prstGeom prst="rect">
            <a:avLst/>
          </a:prstGeom>
          <a:noFill/>
          <a:ln/>
        </p:spPr>
        <p:txBody>
          <a:bodyPr wrap="square" lIns="0" tIns="0" rIns="0" bIns="0" rtlCol="0" anchor="ctr"/>
          <a:lstStyle/>
          <a:p>
            <a:pPr indent="0" marL="0">
              <a:buNone/>
            </a:pPr>
            <a:r>
              <a:rPr lang="en-US" sz="1050" b="1" dirty="0">
                <a:solidFill>
                  <a:srgbClr val="2C5F2D"/>
                </a:solidFill>
                <a:latin typeface="Calibri" pitchFamily="34" charset="0"/>
                <a:ea typeface="Calibri" pitchFamily="34" charset="-122"/>
                <a:cs typeface="Calibri" pitchFamily="34" charset="-120"/>
              </a:rPr>
              <a:t>Actor primario</a:t>
            </a:r>
            <a:endParaRPr lang="en-US" sz="1050" dirty="0"/>
          </a:p>
        </p:txBody>
      </p:sp>
      <p:sp>
        <p:nvSpPr>
          <p:cNvPr id="26" name="Text 24"/>
          <p:cNvSpPr txBox="1"/>
          <p:nvPr/>
        </p:nvSpPr>
        <p:spPr>
          <a:xfrm>
            <a:off x="7498080" y="3447288"/>
            <a:ext cx="4023360" cy="274320"/>
          </a:xfrm>
          <a:prstGeom prst="rect">
            <a:avLst/>
          </a:prstGeom>
          <a:noFill/>
          <a:ln/>
        </p:spPr>
        <p:txBody>
          <a:bodyPr wrap="square" lIns="0" tIns="0" rIns="0" bIns="0" rtlCol="0" anchor="ctr"/>
          <a:lstStyle/>
          <a:p>
            <a:pPr indent="0" marL="0">
              <a:lnSpc>
                <a:spcPts val="1400"/>
              </a:lnSpc>
              <a:buNone/>
            </a:pPr>
            <a:r>
              <a:rPr lang="en-US" sz="1100" dirty="0">
                <a:solidFill>
                  <a:srgbClr val="1C2620"/>
                </a:solidFill>
                <a:latin typeface="Calibri" pitchFamily="34" charset="0"/>
                <a:ea typeface="Calibri" pitchFamily="34" charset="-122"/>
                <a:cs typeface="Calibri" pitchFamily="34" charset="-120"/>
              </a:rPr>
              <a:t>Ciudadano residente</a:t>
            </a:r>
            <a:endParaRPr lang="en-US" sz="1100" dirty="0"/>
          </a:p>
        </p:txBody>
      </p:sp>
      <p:sp>
        <p:nvSpPr>
          <p:cNvPr id="27" name="Text 25"/>
          <p:cNvSpPr txBox="1"/>
          <p:nvPr/>
        </p:nvSpPr>
        <p:spPr>
          <a:xfrm>
            <a:off x="7498080" y="3749040"/>
            <a:ext cx="4023360" cy="219456"/>
          </a:xfrm>
          <a:prstGeom prst="rect">
            <a:avLst/>
          </a:prstGeom>
          <a:noFill/>
          <a:ln/>
        </p:spPr>
        <p:txBody>
          <a:bodyPr wrap="square" lIns="0" tIns="0" rIns="0" bIns="0" rtlCol="0" anchor="ctr"/>
          <a:lstStyle/>
          <a:p>
            <a:pPr indent="0" marL="0">
              <a:buNone/>
            </a:pPr>
            <a:r>
              <a:rPr lang="en-US" sz="1050" b="1" dirty="0">
                <a:solidFill>
                  <a:srgbClr val="2C5F2D"/>
                </a:solidFill>
                <a:latin typeface="Calibri" pitchFamily="34" charset="0"/>
                <a:ea typeface="Calibri" pitchFamily="34" charset="-122"/>
                <a:cs typeface="Calibri" pitchFamily="34" charset="-120"/>
              </a:rPr>
              <a:t>Actor secundario</a:t>
            </a:r>
            <a:endParaRPr lang="en-US" sz="1050" dirty="0"/>
          </a:p>
        </p:txBody>
      </p:sp>
      <p:sp>
        <p:nvSpPr>
          <p:cNvPr id="28" name="Text 26"/>
          <p:cNvSpPr txBox="1"/>
          <p:nvPr/>
        </p:nvSpPr>
        <p:spPr>
          <a:xfrm>
            <a:off x="7498080" y="3950208"/>
            <a:ext cx="4023360" cy="274320"/>
          </a:xfrm>
          <a:prstGeom prst="rect">
            <a:avLst/>
          </a:prstGeom>
          <a:noFill/>
          <a:ln/>
        </p:spPr>
        <p:txBody>
          <a:bodyPr wrap="square" lIns="0" tIns="0" rIns="0" bIns="0" rtlCol="0" anchor="ctr"/>
          <a:lstStyle/>
          <a:p>
            <a:pPr indent="0" marL="0">
              <a:lnSpc>
                <a:spcPts val="1400"/>
              </a:lnSpc>
              <a:buNone/>
            </a:pPr>
            <a:r>
              <a:rPr lang="en-US" sz="1100" dirty="0">
                <a:solidFill>
                  <a:srgbClr val="1C2620"/>
                </a:solidFill>
                <a:latin typeface="Calibri" pitchFamily="34" charset="0"/>
                <a:ea typeface="Calibri" pitchFamily="34" charset="-122"/>
                <a:cs typeface="Calibri" pitchFamily="34" charset="-120"/>
              </a:rPr>
              <a:t>Operador de aseo</a:t>
            </a:r>
            <a:endParaRPr lang="en-US" sz="1100" dirty="0"/>
          </a:p>
        </p:txBody>
      </p:sp>
      <p:sp>
        <p:nvSpPr>
          <p:cNvPr id="29" name="Text 27"/>
          <p:cNvSpPr txBox="1"/>
          <p:nvPr/>
        </p:nvSpPr>
        <p:spPr>
          <a:xfrm>
            <a:off x="7498080" y="4251960"/>
            <a:ext cx="4023360" cy="219456"/>
          </a:xfrm>
          <a:prstGeom prst="rect">
            <a:avLst/>
          </a:prstGeom>
          <a:noFill/>
          <a:ln/>
        </p:spPr>
        <p:txBody>
          <a:bodyPr wrap="square" lIns="0" tIns="0" rIns="0" bIns="0" rtlCol="0" anchor="ctr"/>
          <a:lstStyle/>
          <a:p>
            <a:pPr indent="0" marL="0">
              <a:buNone/>
            </a:pPr>
            <a:r>
              <a:rPr lang="en-US" sz="1050" b="1" dirty="0">
                <a:solidFill>
                  <a:srgbClr val="2C5F2D"/>
                </a:solidFill>
                <a:latin typeface="Calibri" pitchFamily="34" charset="0"/>
                <a:ea typeface="Calibri" pitchFamily="34" charset="-122"/>
                <a:cs typeface="Calibri" pitchFamily="34" charset="-120"/>
              </a:rPr>
              <a:t>Territorio piloto</a:t>
            </a:r>
            <a:endParaRPr lang="en-US" sz="1050" dirty="0"/>
          </a:p>
        </p:txBody>
      </p:sp>
      <p:sp>
        <p:nvSpPr>
          <p:cNvPr id="30" name="Text 28"/>
          <p:cNvSpPr txBox="1"/>
          <p:nvPr/>
        </p:nvSpPr>
        <p:spPr>
          <a:xfrm>
            <a:off x="7498080" y="4453128"/>
            <a:ext cx="4023360" cy="274320"/>
          </a:xfrm>
          <a:prstGeom prst="rect">
            <a:avLst/>
          </a:prstGeom>
          <a:noFill/>
          <a:ln/>
        </p:spPr>
        <p:txBody>
          <a:bodyPr wrap="square" lIns="0" tIns="0" rIns="0" bIns="0" rtlCol="0" anchor="ctr"/>
          <a:lstStyle/>
          <a:p>
            <a:pPr indent="0" marL="0">
              <a:lnSpc>
                <a:spcPts val="1400"/>
              </a:lnSpc>
              <a:buNone/>
            </a:pPr>
            <a:r>
              <a:rPr lang="en-US" sz="1100" dirty="0">
                <a:solidFill>
                  <a:srgbClr val="1C2620"/>
                </a:solidFill>
                <a:latin typeface="Calibri" pitchFamily="34" charset="0"/>
                <a:ea typeface="Calibri" pitchFamily="34" charset="-122"/>
                <a:cs typeface="Calibri" pitchFamily="34" charset="-120"/>
              </a:rPr>
              <a:t>Una localidad urbana</a:t>
            </a:r>
            <a:endParaRPr lang="en-US" sz="1100" dirty="0"/>
          </a:p>
        </p:txBody>
      </p:sp>
      <p:sp>
        <p:nvSpPr>
          <p:cNvPr id="31" name="Text 29"/>
          <p:cNvSpPr txBox="1"/>
          <p:nvPr/>
        </p:nvSpPr>
        <p:spPr>
          <a:xfrm>
            <a:off x="7498080" y="4754880"/>
            <a:ext cx="4023360" cy="219456"/>
          </a:xfrm>
          <a:prstGeom prst="rect">
            <a:avLst/>
          </a:prstGeom>
          <a:noFill/>
          <a:ln/>
        </p:spPr>
        <p:txBody>
          <a:bodyPr wrap="square" lIns="0" tIns="0" rIns="0" bIns="0" rtlCol="0" anchor="ctr"/>
          <a:lstStyle/>
          <a:p>
            <a:pPr indent="0" marL="0">
              <a:buNone/>
            </a:pPr>
            <a:r>
              <a:rPr lang="en-US" sz="1050" b="1" dirty="0">
                <a:solidFill>
                  <a:srgbClr val="2C5F2D"/>
                </a:solidFill>
                <a:latin typeface="Calibri" pitchFamily="34" charset="0"/>
                <a:ea typeface="Calibri" pitchFamily="34" charset="-122"/>
                <a:cs typeface="Calibri" pitchFamily="34" charset="-120"/>
              </a:rPr>
              <a:t>Flujo cubierto</a:t>
            </a:r>
            <a:endParaRPr lang="en-US" sz="1050" dirty="0"/>
          </a:p>
        </p:txBody>
      </p:sp>
      <p:sp>
        <p:nvSpPr>
          <p:cNvPr id="32" name="Text 30"/>
          <p:cNvSpPr txBox="1"/>
          <p:nvPr/>
        </p:nvSpPr>
        <p:spPr>
          <a:xfrm>
            <a:off x="7498080" y="4956048"/>
            <a:ext cx="4023360" cy="274320"/>
          </a:xfrm>
          <a:prstGeom prst="rect">
            <a:avLst/>
          </a:prstGeom>
          <a:noFill/>
          <a:ln/>
        </p:spPr>
        <p:txBody>
          <a:bodyPr wrap="square" lIns="0" tIns="0" rIns="0" bIns="0" rtlCol="0" anchor="ctr"/>
          <a:lstStyle/>
          <a:p>
            <a:pPr indent="0" marL="0">
              <a:lnSpc>
                <a:spcPts val="1400"/>
              </a:lnSpc>
              <a:buNone/>
            </a:pPr>
            <a:r>
              <a:rPr lang="en-US" sz="1100" dirty="0">
                <a:solidFill>
                  <a:srgbClr val="1C2620"/>
                </a:solidFill>
                <a:latin typeface="Calibri" pitchFamily="34" charset="0"/>
                <a:ea typeface="Calibri" pitchFamily="34" charset="-122"/>
                <a:cs typeface="Calibri" pitchFamily="34" charset="-120"/>
              </a:rPr>
              <a:t>Reporte → clasificación → agrupamiento → priorización → cierre</a:t>
            </a:r>
            <a:endParaRPr lang="en-US" sz="1100" dirty="0"/>
          </a:p>
        </p:txBody>
      </p:sp>
      <p:sp>
        <p:nvSpPr>
          <p:cNvPr id="33" name="Text 31"/>
          <p:cNvSpPr txBox="1"/>
          <p:nvPr/>
        </p:nvSpPr>
        <p:spPr>
          <a:xfrm>
            <a:off x="7498080" y="5257800"/>
            <a:ext cx="4023360" cy="219456"/>
          </a:xfrm>
          <a:prstGeom prst="rect">
            <a:avLst/>
          </a:prstGeom>
          <a:noFill/>
          <a:ln/>
        </p:spPr>
        <p:txBody>
          <a:bodyPr wrap="square" lIns="0" tIns="0" rIns="0" bIns="0" rtlCol="0" anchor="ctr"/>
          <a:lstStyle/>
          <a:p>
            <a:pPr indent="0" marL="0">
              <a:buNone/>
            </a:pPr>
            <a:r>
              <a:rPr lang="en-US" sz="1050" b="1" dirty="0">
                <a:solidFill>
                  <a:srgbClr val="2C5F2D"/>
                </a:solidFill>
                <a:latin typeface="Calibri" pitchFamily="34" charset="0"/>
                <a:ea typeface="Calibri" pitchFamily="34" charset="-122"/>
                <a:cs typeface="Calibri" pitchFamily="34" charset="-120"/>
              </a:rPr>
              <a:t>Fuera de alcance</a:t>
            </a:r>
            <a:endParaRPr lang="en-US" sz="1050" dirty="0"/>
          </a:p>
        </p:txBody>
      </p:sp>
      <p:sp>
        <p:nvSpPr>
          <p:cNvPr id="34" name="Text 32"/>
          <p:cNvSpPr txBox="1"/>
          <p:nvPr/>
        </p:nvSpPr>
        <p:spPr>
          <a:xfrm>
            <a:off x="7498080" y="5458968"/>
            <a:ext cx="4023360" cy="274320"/>
          </a:xfrm>
          <a:prstGeom prst="rect">
            <a:avLst/>
          </a:prstGeom>
          <a:noFill/>
          <a:ln/>
        </p:spPr>
        <p:txBody>
          <a:bodyPr wrap="square" lIns="0" tIns="0" rIns="0" bIns="0" rtlCol="0" anchor="ctr"/>
          <a:lstStyle/>
          <a:p>
            <a:pPr indent="0" marL="0">
              <a:lnSpc>
                <a:spcPts val="1400"/>
              </a:lnSpc>
              <a:buNone/>
            </a:pPr>
            <a:r>
              <a:rPr lang="en-US" sz="1100" dirty="0">
                <a:solidFill>
                  <a:srgbClr val="1C2620"/>
                </a:solidFill>
                <a:latin typeface="Calibri" pitchFamily="34" charset="0"/>
                <a:ea typeface="Calibri" pitchFamily="34" charset="-122"/>
                <a:cs typeface="Calibri" pitchFamily="34" charset="-120"/>
              </a:rPr>
              <a:t>Facturación, despacho de vehículos, comparendo ambiental</a:t>
            </a:r>
            <a:endParaRPr lang="en-US" sz="1100" dirty="0"/>
          </a:p>
        </p:txBody>
      </p:sp>
      <p:sp>
        <p:nvSpPr>
          <p:cNvPr id="35" name="Text 33"/>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36" name="Text 34"/>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LA SOLUCIÓN</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De una foto en la calle a una cuadrilla en ruta</a:t>
            </a:r>
            <a:endParaRPr lang="en-US" sz="3400" dirty="0"/>
          </a:p>
        </p:txBody>
      </p:sp>
      <p:sp>
        <p:nvSpPr>
          <p:cNvPr id="4" name="Text 2"/>
          <p:cNvSpPr txBox="1"/>
          <p:nvPr/>
        </p:nvSpPr>
        <p:spPr>
          <a:xfrm>
            <a:off x="640080" y="1371600"/>
            <a:ext cx="10881360" cy="457200"/>
          </a:xfrm>
          <a:prstGeom prst="rect">
            <a:avLst/>
          </a:prstGeom>
          <a:noFill/>
          <a:ln/>
        </p:spPr>
        <p:txBody>
          <a:bodyPr wrap="square" lIns="0" tIns="0" rIns="0" bIns="0" rtlCol="0" anchor="ctr"/>
          <a:lstStyle/>
          <a:p>
            <a:pPr indent="0" marL="0">
              <a:lnSpc>
                <a:spcPts val="2000"/>
              </a:lnSpc>
              <a:buNone/>
            </a:pPr>
            <a:r>
              <a:rPr lang="en-US" sz="1400" dirty="0">
                <a:solidFill>
                  <a:srgbClr val="1C2620"/>
                </a:solidFill>
                <a:latin typeface="Calibri" pitchFamily="34" charset="0"/>
                <a:ea typeface="Calibri" pitchFamily="34" charset="-122"/>
                <a:cs typeface="Calibri" pitchFamily="34" charset="-120"/>
              </a:rPr>
              <a:t>El ciudadano toma una foto, la app resuelve la ubicación y envía el reporte en menos de un minuto. En la nube el reporte se clasifica, se agrupa con sus vecinos y se prioriza.</a:t>
            </a:r>
            <a:endParaRPr lang="en-US" sz="1400" dirty="0"/>
          </a:p>
        </p:txBody>
      </p:sp>
      <p:sp>
        <p:nvSpPr>
          <p:cNvPr id="5" name="Shape 3"/>
          <p:cNvSpPr/>
          <p:nvPr/>
        </p:nvSpPr>
        <p:spPr>
          <a:xfrm>
            <a:off x="640080" y="2103120"/>
            <a:ext cx="1971446" cy="2057400"/>
          </a:xfrm>
          <a:prstGeom prst="roundRect">
            <a:avLst>
              <a:gd name="adj" fmla="val 4638"/>
            </a:avLst>
          </a:prstGeom>
          <a:solidFill>
            <a:srgbClr val="F5F5F0"/>
          </a:solidFill>
          <a:ln w="12700">
            <a:solidFill>
              <a:srgbClr val="DCE3DA"/>
            </a:solidFill>
            <a:prstDash val="solid"/>
          </a:ln>
        </p:spPr>
      </p:sp>
      <p:sp>
        <p:nvSpPr>
          <p:cNvPr id="6" name="Shape 4"/>
          <p:cNvSpPr/>
          <p:nvPr/>
        </p:nvSpPr>
        <p:spPr>
          <a:xfrm>
            <a:off x="1397203" y="2331720"/>
            <a:ext cx="457200" cy="457200"/>
          </a:xfrm>
          <a:prstGeom prst="ellipse">
            <a:avLst/>
          </a:prstGeom>
          <a:solidFill>
            <a:srgbClr val="2C5F2D"/>
          </a:solidFill>
          <a:ln w="12700">
            <a:solidFill>
              <a:srgbClr val="2C5F2D"/>
            </a:solidFill>
            <a:prstDash val="solid"/>
          </a:ln>
        </p:spPr>
      </p:sp>
      <p:sp>
        <p:nvSpPr>
          <p:cNvPr id="7" name="Text 5"/>
          <p:cNvSpPr txBox="1"/>
          <p:nvPr/>
        </p:nvSpPr>
        <p:spPr>
          <a:xfrm>
            <a:off x="1397203"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777240" y="2907792"/>
            <a:ext cx="1697126" cy="292608"/>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Reporta</a:t>
            </a:r>
            <a:endParaRPr lang="en-US" sz="1500" dirty="0"/>
          </a:p>
        </p:txBody>
      </p:sp>
      <p:sp>
        <p:nvSpPr>
          <p:cNvPr id="9" name="Text 7"/>
          <p:cNvSpPr txBox="1"/>
          <p:nvPr/>
        </p:nvSpPr>
        <p:spPr>
          <a:xfrm>
            <a:off x="777240" y="3246120"/>
            <a:ext cx="1697126" cy="777240"/>
          </a:xfrm>
          <a:prstGeom prst="rect">
            <a:avLst/>
          </a:prstGeom>
          <a:noFill/>
          <a:ln/>
        </p:spPr>
        <p:txBody>
          <a:bodyPr wrap="square" lIns="0" tIns="0" rIns="0" bIns="0" rtlCol="0" anchor="ctr"/>
          <a:lstStyle/>
          <a:p>
            <a:pPr algn="ctr" indent="0" marL="0">
              <a:lnSpc>
                <a:spcPts val="1500"/>
              </a:lnSpc>
              <a:buNone/>
            </a:pPr>
            <a:r>
              <a:rPr lang="en-US" sz="1100" dirty="0">
                <a:solidFill>
                  <a:srgbClr val="1C2620"/>
                </a:solidFill>
                <a:latin typeface="Calibri" pitchFamily="34" charset="0"/>
                <a:ea typeface="Calibri" pitchFamily="34" charset="-122"/>
                <a:cs typeface="Calibri" pitchFamily="34" charset="-120"/>
              </a:rPr>
              <a:t>Foto, GPS y categoría</a:t>
            </a:r>
            <a:endParaRPr lang="en-US" sz="1100" dirty="0"/>
          </a:p>
          <a:p>
            <a:pPr algn="ctr" indent="0" marL="0">
              <a:lnSpc>
                <a:spcPts val="1500"/>
              </a:lnSpc>
              <a:buNone/>
            </a:pPr>
            <a:r>
              <a:rPr lang="en-US" sz="1100" dirty="0">
                <a:solidFill>
                  <a:srgbClr val="1C2620"/>
                </a:solidFill>
                <a:latin typeface="Calibri" pitchFamily="34" charset="0"/>
                <a:ea typeface="Calibri" pitchFamily="34" charset="-122"/>
                <a:cs typeface="Calibri" pitchFamily="34" charset="-120"/>
              </a:rPr>
              <a:t>en menos de 60 s</a:t>
            </a:r>
            <a:endParaRPr lang="en-US" sz="1100" dirty="0"/>
          </a:p>
        </p:txBody>
      </p:sp>
      <p:sp>
        <p:nvSpPr>
          <p:cNvPr id="10" name="Text 8"/>
          <p:cNvSpPr txBox="1"/>
          <p:nvPr/>
        </p:nvSpPr>
        <p:spPr>
          <a:xfrm>
            <a:off x="2629814" y="2788920"/>
            <a:ext cx="219456" cy="365760"/>
          </a:xfrm>
          <a:prstGeom prst="rect">
            <a:avLst/>
          </a:prstGeom>
          <a:noFill/>
          <a:ln/>
        </p:spPr>
        <p:txBody>
          <a:bodyPr wrap="square" lIns="0" tIns="0" rIns="0" bIns="0" rtlCol="0" anchor="ctr"/>
          <a:lstStyle/>
          <a:p>
            <a:pPr algn="ctr" indent="0" marL="0">
              <a:buNone/>
            </a:pPr>
            <a:r>
              <a:rPr lang="en-US" sz="2200" b="1" dirty="0">
                <a:solidFill>
                  <a:srgbClr val="97BC62"/>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2867558" y="2103120"/>
            <a:ext cx="1971446" cy="2057400"/>
          </a:xfrm>
          <a:prstGeom prst="roundRect">
            <a:avLst>
              <a:gd name="adj" fmla="val 4638"/>
            </a:avLst>
          </a:prstGeom>
          <a:solidFill>
            <a:srgbClr val="F5F5F0"/>
          </a:solidFill>
          <a:ln w="12700">
            <a:solidFill>
              <a:srgbClr val="DCE3DA"/>
            </a:solidFill>
            <a:prstDash val="solid"/>
          </a:ln>
        </p:spPr>
      </p:sp>
      <p:sp>
        <p:nvSpPr>
          <p:cNvPr id="12" name="Shape 10"/>
          <p:cNvSpPr/>
          <p:nvPr/>
        </p:nvSpPr>
        <p:spPr>
          <a:xfrm>
            <a:off x="3624682" y="2331720"/>
            <a:ext cx="457200" cy="457200"/>
          </a:xfrm>
          <a:prstGeom prst="ellipse">
            <a:avLst/>
          </a:prstGeom>
          <a:solidFill>
            <a:srgbClr val="2C5F2D"/>
          </a:solidFill>
          <a:ln w="12700">
            <a:solidFill>
              <a:srgbClr val="2C5F2D"/>
            </a:solidFill>
            <a:prstDash val="solid"/>
          </a:ln>
        </p:spPr>
      </p:sp>
      <p:sp>
        <p:nvSpPr>
          <p:cNvPr id="13" name="Text 11"/>
          <p:cNvSpPr txBox="1"/>
          <p:nvPr/>
        </p:nvSpPr>
        <p:spPr>
          <a:xfrm>
            <a:off x="3624682"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3004718" y="2907792"/>
            <a:ext cx="1697126" cy="292608"/>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Clasifica</a:t>
            </a:r>
            <a:endParaRPr lang="en-US" sz="1500" dirty="0"/>
          </a:p>
        </p:txBody>
      </p:sp>
      <p:sp>
        <p:nvSpPr>
          <p:cNvPr id="15" name="Text 13"/>
          <p:cNvSpPr txBox="1"/>
          <p:nvPr/>
        </p:nvSpPr>
        <p:spPr>
          <a:xfrm>
            <a:off x="3004718" y="3246120"/>
            <a:ext cx="1697126" cy="777240"/>
          </a:xfrm>
          <a:prstGeom prst="rect">
            <a:avLst/>
          </a:prstGeom>
          <a:noFill/>
          <a:ln/>
        </p:spPr>
        <p:txBody>
          <a:bodyPr wrap="square" lIns="0" tIns="0" rIns="0" bIns="0" rtlCol="0" anchor="ctr"/>
          <a:lstStyle/>
          <a:p>
            <a:pPr algn="ctr" indent="0" marL="0">
              <a:lnSpc>
                <a:spcPts val="1500"/>
              </a:lnSpc>
              <a:buNone/>
            </a:pPr>
            <a:r>
              <a:rPr lang="en-US" sz="1100" dirty="0">
                <a:solidFill>
                  <a:srgbClr val="1C2620"/>
                </a:solidFill>
                <a:latin typeface="Calibri" pitchFamily="34" charset="0"/>
                <a:ea typeface="Calibri" pitchFamily="34" charset="-122"/>
                <a:cs typeface="Calibri" pitchFamily="34" charset="-120"/>
              </a:rPr>
              <a:t>Visión por computador</a:t>
            </a:r>
            <a:endParaRPr lang="en-US" sz="1100" dirty="0"/>
          </a:p>
          <a:p>
            <a:pPr algn="ctr" indent="0" marL="0">
              <a:lnSpc>
                <a:spcPts val="1500"/>
              </a:lnSpc>
              <a:buNone/>
            </a:pPr>
            <a:r>
              <a:rPr lang="en-US" sz="1100" dirty="0">
                <a:solidFill>
                  <a:srgbClr val="1C2620"/>
                </a:solidFill>
                <a:latin typeface="Calibri" pitchFamily="34" charset="0"/>
                <a:ea typeface="Calibri" pitchFamily="34" charset="-122"/>
                <a:cs typeface="Calibri" pitchFamily="34" charset="-120"/>
              </a:rPr>
              <a:t>sugiere el tipo de residuo</a:t>
            </a:r>
            <a:endParaRPr lang="en-US" sz="1100" dirty="0"/>
          </a:p>
        </p:txBody>
      </p:sp>
      <p:sp>
        <p:nvSpPr>
          <p:cNvPr id="16" name="Text 14"/>
          <p:cNvSpPr txBox="1"/>
          <p:nvPr/>
        </p:nvSpPr>
        <p:spPr>
          <a:xfrm>
            <a:off x="4857293" y="2788920"/>
            <a:ext cx="219456" cy="365760"/>
          </a:xfrm>
          <a:prstGeom prst="rect">
            <a:avLst/>
          </a:prstGeom>
          <a:noFill/>
          <a:ln/>
        </p:spPr>
        <p:txBody>
          <a:bodyPr wrap="square" lIns="0" tIns="0" rIns="0" bIns="0" rtlCol="0" anchor="ctr"/>
          <a:lstStyle/>
          <a:p>
            <a:pPr algn="ctr" indent="0" marL="0">
              <a:buNone/>
            </a:pPr>
            <a:r>
              <a:rPr lang="en-US" sz="2200" b="1" dirty="0">
                <a:solidFill>
                  <a:srgbClr val="97BC62"/>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5095037" y="2103120"/>
            <a:ext cx="1971446" cy="2057400"/>
          </a:xfrm>
          <a:prstGeom prst="roundRect">
            <a:avLst>
              <a:gd name="adj" fmla="val 4638"/>
            </a:avLst>
          </a:prstGeom>
          <a:solidFill>
            <a:srgbClr val="F5F5F0"/>
          </a:solidFill>
          <a:ln w="12700">
            <a:solidFill>
              <a:srgbClr val="DCE3DA"/>
            </a:solidFill>
            <a:prstDash val="solid"/>
          </a:ln>
        </p:spPr>
      </p:sp>
      <p:sp>
        <p:nvSpPr>
          <p:cNvPr id="18" name="Shape 16"/>
          <p:cNvSpPr/>
          <p:nvPr/>
        </p:nvSpPr>
        <p:spPr>
          <a:xfrm>
            <a:off x="5852160" y="2331720"/>
            <a:ext cx="457200" cy="457200"/>
          </a:xfrm>
          <a:prstGeom prst="ellipse">
            <a:avLst/>
          </a:prstGeom>
          <a:solidFill>
            <a:srgbClr val="2C5F2D"/>
          </a:solidFill>
          <a:ln w="12700">
            <a:solidFill>
              <a:srgbClr val="2C5F2D"/>
            </a:solidFill>
            <a:prstDash val="solid"/>
          </a:ln>
        </p:spPr>
      </p:sp>
      <p:sp>
        <p:nvSpPr>
          <p:cNvPr id="19" name="Text 17"/>
          <p:cNvSpPr txBox="1"/>
          <p:nvPr/>
        </p:nvSpPr>
        <p:spPr>
          <a:xfrm>
            <a:off x="585216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5232197" y="2907792"/>
            <a:ext cx="1697126" cy="292608"/>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Agrupa</a:t>
            </a:r>
            <a:endParaRPr lang="en-US" sz="1500" dirty="0"/>
          </a:p>
        </p:txBody>
      </p:sp>
      <p:sp>
        <p:nvSpPr>
          <p:cNvPr id="21" name="Text 19"/>
          <p:cNvSpPr txBox="1"/>
          <p:nvPr/>
        </p:nvSpPr>
        <p:spPr>
          <a:xfrm>
            <a:off x="5232197" y="3246120"/>
            <a:ext cx="1697126" cy="777240"/>
          </a:xfrm>
          <a:prstGeom prst="rect">
            <a:avLst/>
          </a:prstGeom>
          <a:noFill/>
          <a:ln/>
        </p:spPr>
        <p:txBody>
          <a:bodyPr wrap="square" lIns="0" tIns="0" rIns="0" bIns="0" rtlCol="0" anchor="ctr"/>
          <a:lstStyle/>
          <a:p>
            <a:pPr algn="ctr" indent="0" marL="0">
              <a:lnSpc>
                <a:spcPts val="1500"/>
              </a:lnSpc>
              <a:buNone/>
            </a:pPr>
            <a:r>
              <a:rPr lang="en-US" sz="1100" dirty="0">
                <a:solidFill>
                  <a:srgbClr val="1C2620"/>
                </a:solidFill>
                <a:latin typeface="Calibri" pitchFamily="34" charset="0"/>
                <a:ea typeface="Calibri" pitchFamily="34" charset="-122"/>
                <a:cs typeface="Calibri" pitchFamily="34" charset="-120"/>
              </a:rPr>
              <a:t>Reportes cercanos forman</a:t>
            </a:r>
            <a:endParaRPr lang="en-US" sz="1100" dirty="0"/>
          </a:p>
          <a:p>
            <a:pPr algn="ctr" indent="0" marL="0">
              <a:lnSpc>
                <a:spcPts val="1500"/>
              </a:lnSpc>
              <a:buNone/>
            </a:pPr>
            <a:r>
              <a:rPr lang="en-US" sz="1100" dirty="0">
                <a:solidFill>
                  <a:srgbClr val="1C2620"/>
                </a:solidFill>
                <a:latin typeface="Calibri" pitchFamily="34" charset="0"/>
                <a:ea typeface="Calibri" pitchFamily="34" charset="-122"/>
                <a:cs typeface="Calibri" pitchFamily="34" charset="-120"/>
              </a:rPr>
              <a:t>un punto crítico</a:t>
            </a:r>
            <a:endParaRPr lang="en-US" sz="1100" dirty="0"/>
          </a:p>
        </p:txBody>
      </p:sp>
      <p:sp>
        <p:nvSpPr>
          <p:cNvPr id="22" name="Text 20"/>
          <p:cNvSpPr txBox="1"/>
          <p:nvPr/>
        </p:nvSpPr>
        <p:spPr>
          <a:xfrm>
            <a:off x="7084771" y="2788920"/>
            <a:ext cx="219456" cy="365760"/>
          </a:xfrm>
          <a:prstGeom prst="rect">
            <a:avLst/>
          </a:prstGeom>
          <a:noFill/>
          <a:ln/>
        </p:spPr>
        <p:txBody>
          <a:bodyPr wrap="square" lIns="0" tIns="0" rIns="0" bIns="0" rtlCol="0" anchor="ctr"/>
          <a:lstStyle/>
          <a:p>
            <a:pPr algn="ctr" indent="0" marL="0">
              <a:buNone/>
            </a:pPr>
            <a:r>
              <a:rPr lang="en-US" sz="2200" b="1" dirty="0">
                <a:solidFill>
                  <a:srgbClr val="97BC62"/>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7322515" y="2103120"/>
            <a:ext cx="1971446" cy="2057400"/>
          </a:xfrm>
          <a:prstGeom prst="roundRect">
            <a:avLst>
              <a:gd name="adj" fmla="val 4638"/>
            </a:avLst>
          </a:prstGeom>
          <a:solidFill>
            <a:srgbClr val="F5F5F0"/>
          </a:solidFill>
          <a:ln w="12700">
            <a:solidFill>
              <a:srgbClr val="DCE3DA"/>
            </a:solidFill>
            <a:prstDash val="solid"/>
          </a:ln>
        </p:spPr>
      </p:sp>
      <p:sp>
        <p:nvSpPr>
          <p:cNvPr id="24" name="Shape 22"/>
          <p:cNvSpPr/>
          <p:nvPr/>
        </p:nvSpPr>
        <p:spPr>
          <a:xfrm>
            <a:off x="8079638" y="2331720"/>
            <a:ext cx="457200" cy="457200"/>
          </a:xfrm>
          <a:prstGeom prst="ellipse">
            <a:avLst/>
          </a:prstGeom>
          <a:solidFill>
            <a:srgbClr val="2C5F2D"/>
          </a:solidFill>
          <a:ln w="12700">
            <a:solidFill>
              <a:srgbClr val="2C5F2D"/>
            </a:solidFill>
            <a:prstDash val="solid"/>
          </a:ln>
        </p:spPr>
      </p:sp>
      <p:sp>
        <p:nvSpPr>
          <p:cNvPr id="25" name="Text 23"/>
          <p:cNvSpPr txBox="1"/>
          <p:nvPr/>
        </p:nvSpPr>
        <p:spPr>
          <a:xfrm>
            <a:off x="8079638"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txBox="1"/>
          <p:nvPr/>
        </p:nvSpPr>
        <p:spPr>
          <a:xfrm>
            <a:off x="7459675" y="2907792"/>
            <a:ext cx="1697126" cy="292608"/>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Prioriza</a:t>
            </a:r>
            <a:endParaRPr lang="en-US" sz="1500" dirty="0"/>
          </a:p>
        </p:txBody>
      </p:sp>
      <p:sp>
        <p:nvSpPr>
          <p:cNvPr id="27" name="Text 25"/>
          <p:cNvSpPr txBox="1"/>
          <p:nvPr/>
        </p:nvSpPr>
        <p:spPr>
          <a:xfrm>
            <a:off x="7459675" y="3246120"/>
            <a:ext cx="1697126" cy="777240"/>
          </a:xfrm>
          <a:prstGeom prst="rect">
            <a:avLst/>
          </a:prstGeom>
          <a:noFill/>
          <a:ln/>
        </p:spPr>
        <p:txBody>
          <a:bodyPr wrap="square" lIns="0" tIns="0" rIns="0" bIns="0" rtlCol="0" anchor="ctr"/>
          <a:lstStyle/>
          <a:p>
            <a:pPr algn="ctr" indent="0" marL="0">
              <a:lnSpc>
                <a:spcPts val="1500"/>
              </a:lnSpc>
              <a:buNone/>
            </a:pPr>
            <a:r>
              <a:rPr lang="en-US" sz="1100" dirty="0">
                <a:solidFill>
                  <a:srgbClr val="1C2620"/>
                </a:solidFill>
                <a:latin typeface="Calibri" pitchFamily="34" charset="0"/>
                <a:ea typeface="Calibri" pitchFamily="34" charset="-122"/>
                <a:cs typeface="Calibri" pitchFamily="34" charset="-120"/>
              </a:rPr>
              <a:t>Severidad acumulada</a:t>
            </a:r>
            <a:endParaRPr lang="en-US" sz="1100" dirty="0"/>
          </a:p>
          <a:p>
            <a:pPr algn="ctr" indent="0" marL="0">
              <a:lnSpc>
                <a:spcPts val="1500"/>
              </a:lnSpc>
              <a:buNone/>
            </a:pPr>
            <a:r>
              <a:rPr lang="en-US" sz="1100" dirty="0">
                <a:solidFill>
                  <a:srgbClr val="1C2620"/>
                </a:solidFill>
                <a:latin typeface="Calibri" pitchFamily="34" charset="0"/>
                <a:ea typeface="Calibri" pitchFamily="34" charset="-122"/>
                <a:cs typeface="Calibri" pitchFamily="34" charset="-120"/>
              </a:rPr>
              <a:t>ordena la intervención</a:t>
            </a:r>
            <a:endParaRPr lang="en-US" sz="1100" dirty="0"/>
          </a:p>
        </p:txBody>
      </p:sp>
      <p:sp>
        <p:nvSpPr>
          <p:cNvPr id="28" name="Text 26"/>
          <p:cNvSpPr txBox="1"/>
          <p:nvPr/>
        </p:nvSpPr>
        <p:spPr>
          <a:xfrm>
            <a:off x="9312250" y="2788920"/>
            <a:ext cx="219456" cy="365760"/>
          </a:xfrm>
          <a:prstGeom prst="rect">
            <a:avLst/>
          </a:prstGeom>
          <a:noFill/>
          <a:ln/>
        </p:spPr>
        <p:txBody>
          <a:bodyPr wrap="square" lIns="0" tIns="0" rIns="0" bIns="0" rtlCol="0" anchor="ctr"/>
          <a:lstStyle/>
          <a:p>
            <a:pPr algn="ctr" indent="0" marL="0">
              <a:buNone/>
            </a:pPr>
            <a:r>
              <a:rPr lang="en-US" sz="2200" b="1" dirty="0">
                <a:solidFill>
                  <a:srgbClr val="97BC62"/>
                </a:solidFill>
                <a:latin typeface="Calibri" pitchFamily="34" charset="0"/>
                <a:ea typeface="Calibri" pitchFamily="34" charset="-122"/>
                <a:cs typeface="Calibri" pitchFamily="34" charset="-120"/>
              </a:rPr>
              <a:t>›</a:t>
            </a:r>
            <a:endParaRPr lang="en-US" sz="2200" dirty="0"/>
          </a:p>
        </p:txBody>
      </p:sp>
      <p:sp>
        <p:nvSpPr>
          <p:cNvPr id="29" name="Shape 27"/>
          <p:cNvSpPr/>
          <p:nvPr/>
        </p:nvSpPr>
        <p:spPr>
          <a:xfrm>
            <a:off x="9549994" y="2103120"/>
            <a:ext cx="1971446" cy="2057400"/>
          </a:xfrm>
          <a:prstGeom prst="roundRect">
            <a:avLst>
              <a:gd name="adj" fmla="val 4638"/>
            </a:avLst>
          </a:prstGeom>
          <a:solidFill>
            <a:srgbClr val="1A3A1B"/>
          </a:solidFill>
          <a:ln w="12700">
            <a:solidFill>
              <a:srgbClr val="DCE3DA"/>
            </a:solidFill>
            <a:prstDash val="solid"/>
          </a:ln>
        </p:spPr>
      </p:sp>
      <p:sp>
        <p:nvSpPr>
          <p:cNvPr id="30" name="Shape 28"/>
          <p:cNvSpPr/>
          <p:nvPr/>
        </p:nvSpPr>
        <p:spPr>
          <a:xfrm>
            <a:off x="10307117" y="2331720"/>
            <a:ext cx="457200" cy="457200"/>
          </a:xfrm>
          <a:prstGeom prst="ellipse">
            <a:avLst/>
          </a:prstGeom>
          <a:solidFill>
            <a:srgbClr val="97BC62"/>
          </a:solidFill>
          <a:ln w="12700">
            <a:solidFill>
              <a:srgbClr val="97BC62"/>
            </a:solidFill>
            <a:prstDash val="solid"/>
          </a:ln>
        </p:spPr>
      </p:sp>
      <p:sp>
        <p:nvSpPr>
          <p:cNvPr id="31" name="Text 29"/>
          <p:cNvSpPr txBox="1"/>
          <p:nvPr/>
        </p:nvSpPr>
        <p:spPr>
          <a:xfrm>
            <a:off x="10307117" y="2331720"/>
            <a:ext cx="457200" cy="457200"/>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5</a:t>
            </a:r>
            <a:endParaRPr lang="en-US" sz="1500" dirty="0"/>
          </a:p>
        </p:txBody>
      </p:sp>
      <p:sp>
        <p:nvSpPr>
          <p:cNvPr id="32" name="Text 30"/>
          <p:cNvSpPr txBox="1"/>
          <p:nvPr/>
        </p:nvSpPr>
        <p:spPr>
          <a:xfrm>
            <a:off x="9687154" y="2907792"/>
            <a:ext cx="169712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Interviene</a:t>
            </a:r>
            <a:endParaRPr lang="en-US" sz="1500" dirty="0"/>
          </a:p>
        </p:txBody>
      </p:sp>
      <p:sp>
        <p:nvSpPr>
          <p:cNvPr id="33" name="Text 31"/>
          <p:cNvSpPr txBox="1"/>
          <p:nvPr/>
        </p:nvSpPr>
        <p:spPr>
          <a:xfrm>
            <a:off x="9687154" y="3246120"/>
            <a:ext cx="1697126" cy="777240"/>
          </a:xfrm>
          <a:prstGeom prst="rect">
            <a:avLst/>
          </a:prstGeom>
          <a:noFill/>
          <a:ln/>
        </p:spPr>
        <p:txBody>
          <a:bodyPr wrap="square" lIns="0" tIns="0" rIns="0" bIns="0" rtlCol="0" anchor="ctr"/>
          <a:lstStyle/>
          <a:p>
            <a:pPr algn="ctr" indent="0" marL="0">
              <a:lnSpc>
                <a:spcPts val="1500"/>
              </a:lnSpc>
              <a:buNone/>
            </a:pPr>
            <a:r>
              <a:rPr lang="en-US" sz="1100" dirty="0">
                <a:solidFill>
                  <a:srgbClr val="F5F5F0"/>
                </a:solidFill>
                <a:latin typeface="Calibri" pitchFamily="34" charset="0"/>
                <a:ea typeface="Calibri" pitchFamily="34" charset="-122"/>
                <a:cs typeface="Calibri" pitchFamily="34" charset="-120"/>
              </a:rPr>
              <a:t>El operador cierra</a:t>
            </a:r>
            <a:endParaRPr lang="en-US" sz="1100" dirty="0"/>
          </a:p>
          <a:p>
            <a:pPr algn="ctr" indent="0" marL="0">
              <a:lnSpc>
                <a:spcPts val="1500"/>
              </a:lnSpc>
              <a:buNone/>
            </a:pPr>
            <a:r>
              <a:rPr lang="en-US" sz="1100" dirty="0">
                <a:solidFill>
                  <a:srgbClr val="F5F5F0"/>
                </a:solidFill>
                <a:latin typeface="Calibri" pitchFamily="34" charset="0"/>
                <a:ea typeface="Calibri" pitchFamily="34" charset="-122"/>
                <a:cs typeface="Calibri" pitchFamily="34" charset="-120"/>
              </a:rPr>
              <a:t>el ciclo</a:t>
            </a:r>
            <a:endParaRPr lang="en-US" sz="1100" dirty="0"/>
          </a:p>
        </p:txBody>
      </p:sp>
      <p:sp>
        <p:nvSpPr>
          <p:cNvPr id="34" name="Shape 32"/>
          <p:cNvSpPr/>
          <p:nvPr/>
        </p:nvSpPr>
        <p:spPr>
          <a:xfrm>
            <a:off x="640080" y="4434840"/>
            <a:ext cx="3444240" cy="1600200"/>
          </a:xfrm>
          <a:prstGeom prst="roundRect">
            <a:avLst>
              <a:gd name="adj" fmla="val 5714"/>
            </a:avLst>
          </a:prstGeom>
          <a:solidFill>
            <a:srgbClr val="F5F5F0"/>
          </a:solidFill>
          <a:ln w="12700">
            <a:solidFill>
              <a:srgbClr val="DCE3DA"/>
            </a:solidFill>
            <a:prstDash val="solid"/>
          </a:ln>
        </p:spPr>
      </p:sp>
      <p:sp>
        <p:nvSpPr>
          <p:cNvPr id="35" name="Text 33"/>
          <p:cNvSpPr txBox="1"/>
          <p:nvPr/>
        </p:nvSpPr>
        <p:spPr>
          <a:xfrm>
            <a:off x="868680" y="4599432"/>
            <a:ext cx="2987040" cy="685800"/>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&lt; 60 s</a:t>
            </a:r>
            <a:endParaRPr lang="en-US" sz="4000" dirty="0"/>
          </a:p>
        </p:txBody>
      </p:sp>
      <p:sp>
        <p:nvSpPr>
          <p:cNvPr id="36" name="Text 34"/>
          <p:cNvSpPr txBox="1"/>
          <p:nvPr/>
        </p:nvSpPr>
        <p:spPr>
          <a:xfrm>
            <a:off x="868680" y="5303520"/>
            <a:ext cx="2987040" cy="274320"/>
          </a:xfrm>
          <a:prstGeom prst="rect">
            <a:avLst/>
          </a:prstGeom>
          <a:noFill/>
          <a:ln/>
        </p:spPr>
        <p:txBody>
          <a:bodyPr wrap="square" lIns="0" tIns="0" rIns="0" bIns="0" rtlCol="0" anchor="ctr"/>
          <a:lstStyle/>
          <a:p>
            <a:pPr indent="0" marL="0">
              <a:buNone/>
            </a:pPr>
            <a:r>
              <a:rPr lang="en-US" sz="1300" b="1" dirty="0">
                <a:solidFill>
                  <a:srgbClr val="1C2620"/>
                </a:solidFill>
                <a:latin typeface="Calibri" pitchFamily="34" charset="0"/>
                <a:ea typeface="Calibri" pitchFamily="34" charset="-122"/>
                <a:cs typeface="Calibri" pitchFamily="34" charset="-120"/>
              </a:rPr>
              <a:t>Para emitir un reporte</a:t>
            </a:r>
            <a:endParaRPr lang="en-US" sz="1300" dirty="0"/>
          </a:p>
        </p:txBody>
      </p:sp>
      <p:sp>
        <p:nvSpPr>
          <p:cNvPr id="37" name="Text 35"/>
          <p:cNvSpPr txBox="1"/>
          <p:nvPr/>
        </p:nvSpPr>
        <p:spPr>
          <a:xfrm>
            <a:off x="868680" y="5577840"/>
            <a:ext cx="2987040" cy="384048"/>
          </a:xfrm>
          <a:prstGeom prst="rect">
            <a:avLst/>
          </a:prstGeom>
          <a:noFill/>
          <a:ln/>
        </p:spPr>
        <p:txBody>
          <a:bodyPr wrap="square" lIns="0" tIns="0" rIns="0" bIns="0" rtlCol="0" anchor="ctr"/>
          <a:lstStyle/>
          <a:p>
            <a:pPr indent="0" marL="0">
              <a:buNone/>
            </a:pPr>
            <a:r>
              <a:rPr lang="en-US" sz="1050" dirty="0">
                <a:solidFill>
                  <a:srgbClr val="6B7A70"/>
                </a:solidFill>
                <a:latin typeface="Calibri" pitchFamily="34" charset="0"/>
                <a:ea typeface="Calibri" pitchFamily="34" charset="-122"/>
                <a:cs typeface="Calibri" pitchFamily="34" charset="-120"/>
              </a:rPr>
              <a:t>Foto, ubicación y categoría, con cola local si no hay señal</a:t>
            </a:r>
            <a:endParaRPr lang="en-US" sz="1050" dirty="0"/>
          </a:p>
        </p:txBody>
      </p:sp>
      <p:sp>
        <p:nvSpPr>
          <p:cNvPr id="38" name="Shape 36"/>
          <p:cNvSpPr/>
          <p:nvPr/>
        </p:nvSpPr>
        <p:spPr>
          <a:xfrm>
            <a:off x="4358640" y="4434840"/>
            <a:ext cx="3444240" cy="1600200"/>
          </a:xfrm>
          <a:prstGeom prst="roundRect">
            <a:avLst>
              <a:gd name="adj" fmla="val 5714"/>
            </a:avLst>
          </a:prstGeom>
          <a:solidFill>
            <a:srgbClr val="F5F5F0"/>
          </a:solidFill>
          <a:ln w="12700">
            <a:solidFill>
              <a:srgbClr val="DCE3DA"/>
            </a:solidFill>
            <a:prstDash val="solid"/>
          </a:ln>
        </p:spPr>
      </p:sp>
      <p:sp>
        <p:nvSpPr>
          <p:cNvPr id="39" name="Text 37"/>
          <p:cNvSpPr txBox="1"/>
          <p:nvPr/>
        </p:nvSpPr>
        <p:spPr>
          <a:xfrm>
            <a:off x="4587240" y="4599432"/>
            <a:ext cx="2987040" cy="685800"/>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120 m</a:t>
            </a:r>
            <a:endParaRPr lang="en-US" sz="4000" dirty="0"/>
          </a:p>
        </p:txBody>
      </p:sp>
      <p:sp>
        <p:nvSpPr>
          <p:cNvPr id="40" name="Text 38"/>
          <p:cNvSpPr txBox="1"/>
          <p:nvPr/>
        </p:nvSpPr>
        <p:spPr>
          <a:xfrm>
            <a:off x="4587240" y="5303520"/>
            <a:ext cx="2987040" cy="274320"/>
          </a:xfrm>
          <a:prstGeom prst="rect">
            <a:avLst/>
          </a:prstGeom>
          <a:noFill/>
          <a:ln/>
        </p:spPr>
        <p:txBody>
          <a:bodyPr wrap="square" lIns="0" tIns="0" rIns="0" bIns="0" rtlCol="0" anchor="ctr"/>
          <a:lstStyle/>
          <a:p>
            <a:pPr indent="0" marL="0">
              <a:buNone/>
            </a:pPr>
            <a:r>
              <a:rPr lang="en-US" sz="1300" b="1" dirty="0">
                <a:solidFill>
                  <a:srgbClr val="1C2620"/>
                </a:solidFill>
                <a:latin typeface="Calibri" pitchFamily="34" charset="0"/>
                <a:ea typeface="Calibri" pitchFamily="34" charset="-122"/>
                <a:cs typeface="Calibri" pitchFamily="34" charset="-120"/>
              </a:rPr>
              <a:t>Radio de agrupamiento</a:t>
            </a:r>
            <a:endParaRPr lang="en-US" sz="1300" dirty="0"/>
          </a:p>
        </p:txBody>
      </p:sp>
      <p:sp>
        <p:nvSpPr>
          <p:cNvPr id="41" name="Text 39"/>
          <p:cNvSpPr txBox="1"/>
          <p:nvPr/>
        </p:nvSpPr>
        <p:spPr>
          <a:xfrm>
            <a:off x="4587240" y="5577840"/>
            <a:ext cx="2987040" cy="384048"/>
          </a:xfrm>
          <a:prstGeom prst="rect">
            <a:avLst/>
          </a:prstGeom>
          <a:noFill/>
          <a:ln/>
        </p:spPr>
        <p:txBody>
          <a:bodyPr wrap="square" lIns="0" tIns="0" rIns="0" bIns="0" rtlCol="0" anchor="ctr"/>
          <a:lstStyle/>
          <a:p>
            <a:pPr indent="0" marL="0">
              <a:buNone/>
            </a:pPr>
            <a:r>
              <a:rPr lang="en-US" sz="1050" dirty="0">
                <a:solidFill>
                  <a:srgbClr val="6B7A70"/>
                </a:solidFill>
                <a:latin typeface="Calibri" pitchFamily="34" charset="0"/>
                <a:ea typeface="Calibri" pitchFamily="34" charset="-122"/>
                <a:cs typeface="Calibri" pitchFamily="34" charset="-120"/>
              </a:rPr>
              <a:t>Configurable entre 30 y 1000 m según el territorio</a:t>
            </a:r>
            <a:endParaRPr lang="en-US" sz="1050" dirty="0"/>
          </a:p>
        </p:txBody>
      </p:sp>
      <p:sp>
        <p:nvSpPr>
          <p:cNvPr id="42" name="Shape 40"/>
          <p:cNvSpPr/>
          <p:nvPr/>
        </p:nvSpPr>
        <p:spPr>
          <a:xfrm>
            <a:off x="8077200" y="4434840"/>
            <a:ext cx="3444240" cy="1600200"/>
          </a:xfrm>
          <a:prstGeom prst="roundRect">
            <a:avLst>
              <a:gd name="adj" fmla="val 5714"/>
            </a:avLst>
          </a:prstGeom>
          <a:solidFill>
            <a:srgbClr val="F5F5F0"/>
          </a:solidFill>
          <a:ln w="12700">
            <a:solidFill>
              <a:srgbClr val="DCE3DA"/>
            </a:solidFill>
            <a:prstDash val="solid"/>
          </a:ln>
        </p:spPr>
      </p:sp>
      <p:sp>
        <p:nvSpPr>
          <p:cNvPr id="43" name="Text 41"/>
          <p:cNvSpPr txBox="1"/>
          <p:nvPr/>
        </p:nvSpPr>
        <p:spPr>
          <a:xfrm>
            <a:off x="8305800" y="4599432"/>
            <a:ext cx="2987040" cy="685800"/>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3</a:t>
            </a:r>
            <a:endParaRPr lang="en-US" sz="4000" dirty="0"/>
          </a:p>
        </p:txBody>
      </p:sp>
      <p:sp>
        <p:nvSpPr>
          <p:cNvPr id="44" name="Text 42"/>
          <p:cNvSpPr txBox="1"/>
          <p:nvPr/>
        </p:nvSpPr>
        <p:spPr>
          <a:xfrm>
            <a:off x="8305800" y="5303520"/>
            <a:ext cx="2987040" cy="274320"/>
          </a:xfrm>
          <a:prstGeom prst="rect">
            <a:avLst/>
          </a:prstGeom>
          <a:noFill/>
          <a:ln/>
        </p:spPr>
        <p:txBody>
          <a:bodyPr wrap="square" lIns="0" tIns="0" rIns="0" bIns="0" rtlCol="0" anchor="ctr"/>
          <a:lstStyle/>
          <a:p>
            <a:pPr indent="0" marL="0">
              <a:buNone/>
            </a:pPr>
            <a:r>
              <a:rPr lang="en-US" sz="1300" b="1" dirty="0">
                <a:solidFill>
                  <a:srgbClr val="1C2620"/>
                </a:solidFill>
                <a:latin typeface="Calibri" pitchFamily="34" charset="0"/>
                <a:ea typeface="Calibri" pitchFamily="34" charset="-122"/>
                <a:cs typeface="Calibri" pitchFamily="34" charset="-120"/>
              </a:rPr>
              <a:t>Reportes mínimos</a:t>
            </a:r>
            <a:endParaRPr lang="en-US" sz="1300" dirty="0"/>
          </a:p>
        </p:txBody>
      </p:sp>
      <p:sp>
        <p:nvSpPr>
          <p:cNvPr id="45" name="Text 43"/>
          <p:cNvSpPr txBox="1"/>
          <p:nvPr/>
        </p:nvSpPr>
        <p:spPr>
          <a:xfrm>
            <a:off x="8305800" y="5577840"/>
            <a:ext cx="2987040" cy="384048"/>
          </a:xfrm>
          <a:prstGeom prst="rect">
            <a:avLst/>
          </a:prstGeom>
          <a:noFill/>
          <a:ln/>
        </p:spPr>
        <p:txBody>
          <a:bodyPr wrap="square" lIns="0" tIns="0" rIns="0" bIns="0" rtlCol="0" anchor="ctr"/>
          <a:lstStyle/>
          <a:p>
            <a:pPr indent="0" marL="0">
              <a:buNone/>
            </a:pPr>
            <a:r>
              <a:rPr lang="en-US" sz="1050" dirty="0">
                <a:solidFill>
                  <a:srgbClr val="6B7A70"/>
                </a:solidFill>
                <a:latin typeface="Calibri" pitchFamily="34" charset="0"/>
                <a:ea typeface="Calibri" pitchFamily="34" charset="-122"/>
                <a:cs typeface="Calibri" pitchFamily="34" charset="-120"/>
              </a:rPr>
              <a:t>Umbral para que un grupo se considere punto crítico</a:t>
            </a:r>
            <a:endParaRPr lang="en-US" sz="1050" dirty="0"/>
          </a:p>
        </p:txBody>
      </p:sp>
      <p:sp>
        <p:nvSpPr>
          <p:cNvPr id="46" name="Text 44"/>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47" name="Text 45"/>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DISEÑO TÉCNICO</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Arquitectura serverless en AWS</a:t>
            </a:r>
            <a:endParaRPr lang="en-US" sz="3400" dirty="0"/>
          </a:p>
        </p:txBody>
      </p:sp>
      <p:sp>
        <p:nvSpPr>
          <p:cNvPr id="4" name="Text 2"/>
          <p:cNvSpPr txBox="1"/>
          <p:nvPr/>
        </p:nvSpPr>
        <p:spPr>
          <a:xfrm>
            <a:off x="640080" y="1691640"/>
            <a:ext cx="1234440" cy="274320"/>
          </a:xfrm>
          <a:prstGeom prst="rect">
            <a:avLst/>
          </a:prstGeom>
          <a:noFill/>
          <a:ln/>
        </p:spPr>
        <p:txBody>
          <a:bodyPr wrap="square" lIns="0" tIns="0" rIns="0" bIns="0" rtlCol="0" anchor="ctr"/>
          <a:lstStyle/>
          <a:p>
            <a:pPr indent="0" marL="0">
              <a:buNone/>
            </a:pPr>
            <a:r>
              <a:rPr lang="en-US" sz="1000" b="1" spc="150" kern="0" dirty="0">
                <a:solidFill>
                  <a:srgbClr val="97BC62"/>
                </a:solidFill>
                <a:latin typeface="Calibri" pitchFamily="34" charset="0"/>
                <a:ea typeface="Calibri" pitchFamily="34" charset="-122"/>
                <a:cs typeface="Calibri" pitchFamily="34" charset="-120"/>
              </a:rPr>
              <a:t>CLIENTE</a:t>
            </a:r>
            <a:endParaRPr lang="en-US" sz="1000" dirty="0"/>
          </a:p>
        </p:txBody>
      </p:sp>
      <p:sp>
        <p:nvSpPr>
          <p:cNvPr id="5" name="Shape 3"/>
          <p:cNvSpPr/>
          <p:nvPr/>
        </p:nvSpPr>
        <p:spPr>
          <a:xfrm>
            <a:off x="1965960" y="1417320"/>
            <a:ext cx="9555480" cy="868680"/>
          </a:xfrm>
          <a:prstGeom prst="roundRect">
            <a:avLst>
              <a:gd name="adj" fmla="val 10526"/>
            </a:avLst>
          </a:prstGeom>
          <a:solidFill>
            <a:srgbClr val="F5F5F0"/>
          </a:solidFill>
          <a:ln w="12700">
            <a:solidFill>
              <a:srgbClr val="DCE3DA"/>
            </a:solidFill>
            <a:prstDash val="solid"/>
          </a:ln>
        </p:spPr>
      </p:sp>
      <p:sp>
        <p:nvSpPr>
          <p:cNvPr id="6" name="Text 4"/>
          <p:cNvSpPr txBox="1"/>
          <p:nvPr/>
        </p:nvSpPr>
        <p:spPr>
          <a:xfrm>
            <a:off x="2194560" y="1563624"/>
            <a:ext cx="909828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App Flutter</a:t>
            </a:r>
            <a:endParaRPr lang="en-US" sz="1400" dirty="0"/>
          </a:p>
        </p:txBody>
      </p:sp>
      <p:sp>
        <p:nvSpPr>
          <p:cNvPr id="7" name="Text 5"/>
          <p:cNvSpPr txBox="1"/>
          <p:nvPr/>
        </p:nvSpPr>
        <p:spPr>
          <a:xfrm>
            <a:off x="2194560" y="1874520"/>
            <a:ext cx="909828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Android · iOS</a:t>
            </a:r>
            <a:endParaRPr lang="en-US" sz="1100" dirty="0"/>
          </a:p>
        </p:txBody>
      </p:sp>
      <p:sp>
        <p:nvSpPr>
          <p:cNvPr id="8" name="Text 6"/>
          <p:cNvSpPr txBox="1"/>
          <p:nvPr/>
        </p:nvSpPr>
        <p:spPr>
          <a:xfrm>
            <a:off x="640080" y="2670048"/>
            <a:ext cx="1234440" cy="274320"/>
          </a:xfrm>
          <a:prstGeom prst="rect">
            <a:avLst/>
          </a:prstGeom>
          <a:noFill/>
          <a:ln/>
        </p:spPr>
        <p:txBody>
          <a:bodyPr wrap="square" lIns="0" tIns="0" rIns="0" bIns="0" rtlCol="0" anchor="ctr"/>
          <a:lstStyle/>
          <a:p>
            <a:pPr indent="0" marL="0">
              <a:buNone/>
            </a:pPr>
            <a:r>
              <a:rPr lang="en-US" sz="1000" b="1" spc="150" kern="0" dirty="0">
                <a:solidFill>
                  <a:srgbClr val="97BC62"/>
                </a:solidFill>
                <a:latin typeface="Calibri" pitchFamily="34" charset="0"/>
                <a:ea typeface="Calibri" pitchFamily="34" charset="-122"/>
                <a:cs typeface="Calibri" pitchFamily="34" charset="-120"/>
              </a:rPr>
              <a:t>BORDE</a:t>
            </a:r>
            <a:endParaRPr lang="en-US" sz="1000" dirty="0"/>
          </a:p>
        </p:txBody>
      </p:sp>
      <p:sp>
        <p:nvSpPr>
          <p:cNvPr id="9" name="Shape 7"/>
          <p:cNvSpPr/>
          <p:nvPr/>
        </p:nvSpPr>
        <p:spPr>
          <a:xfrm>
            <a:off x="1965960" y="2395728"/>
            <a:ext cx="4663440" cy="868680"/>
          </a:xfrm>
          <a:prstGeom prst="roundRect">
            <a:avLst>
              <a:gd name="adj" fmla="val 10526"/>
            </a:avLst>
          </a:prstGeom>
          <a:solidFill>
            <a:srgbClr val="F5F5F0"/>
          </a:solidFill>
          <a:ln w="12700">
            <a:solidFill>
              <a:srgbClr val="DCE3DA"/>
            </a:solidFill>
            <a:prstDash val="solid"/>
          </a:ln>
        </p:spPr>
      </p:sp>
      <p:sp>
        <p:nvSpPr>
          <p:cNvPr id="10" name="Text 8"/>
          <p:cNvSpPr txBox="1"/>
          <p:nvPr/>
        </p:nvSpPr>
        <p:spPr>
          <a:xfrm>
            <a:off x="2194560" y="2542032"/>
            <a:ext cx="420624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Cognito</a:t>
            </a:r>
            <a:endParaRPr lang="en-US" sz="1400" dirty="0"/>
          </a:p>
        </p:txBody>
      </p:sp>
      <p:sp>
        <p:nvSpPr>
          <p:cNvPr id="11" name="Text 9"/>
          <p:cNvSpPr txBox="1"/>
          <p:nvPr/>
        </p:nvSpPr>
        <p:spPr>
          <a:xfrm>
            <a:off x="2194560" y="2852928"/>
            <a:ext cx="420624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auth + grupos</a:t>
            </a:r>
            <a:endParaRPr lang="en-US" sz="1100" dirty="0"/>
          </a:p>
        </p:txBody>
      </p:sp>
      <p:sp>
        <p:nvSpPr>
          <p:cNvPr id="12" name="Shape 10"/>
          <p:cNvSpPr/>
          <p:nvPr/>
        </p:nvSpPr>
        <p:spPr>
          <a:xfrm>
            <a:off x="6858000" y="2395728"/>
            <a:ext cx="4663440" cy="868680"/>
          </a:xfrm>
          <a:prstGeom prst="roundRect">
            <a:avLst>
              <a:gd name="adj" fmla="val 10526"/>
            </a:avLst>
          </a:prstGeom>
          <a:solidFill>
            <a:srgbClr val="F5F5F0"/>
          </a:solidFill>
          <a:ln w="12700">
            <a:solidFill>
              <a:srgbClr val="DCE3DA"/>
            </a:solidFill>
            <a:prstDash val="solid"/>
          </a:ln>
        </p:spPr>
      </p:sp>
      <p:sp>
        <p:nvSpPr>
          <p:cNvPr id="13" name="Text 11"/>
          <p:cNvSpPr txBox="1"/>
          <p:nvPr/>
        </p:nvSpPr>
        <p:spPr>
          <a:xfrm>
            <a:off x="7086600" y="2542032"/>
            <a:ext cx="420624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API Gateway HTTP</a:t>
            </a:r>
            <a:endParaRPr lang="en-US" sz="1400" dirty="0"/>
          </a:p>
        </p:txBody>
      </p:sp>
      <p:sp>
        <p:nvSpPr>
          <p:cNvPr id="14" name="Text 12"/>
          <p:cNvSpPr txBox="1"/>
          <p:nvPr/>
        </p:nvSpPr>
        <p:spPr>
          <a:xfrm>
            <a:off x="7086600" y="2852928"/>
            <a:ext cx="420624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JWT · throttling</a:t>
            </a:r>
            <a:endParaRPr lang="en-US" sz="1100" dirty="0"/>
          </a:p>
        </p:txBody>
      </p:sp>
      <p:sp>
        <p:nvSpPr>
          <p:cNvPr id="15" name="Text 13"/>
          <p:cNvSpPr txBox="1"/>
          <p:nvPr/>
        </p:nvSpPr>
        <p:spPr>
          <a:xfrm>
            <a:off x="640080" y="3648456"/>
            <a:ext cx="1234440" cy="274320"/>
          </a:xfrm>
          <a:prstGeom prst="rect">
            <a:avLst/>
          </a:prstGeom>
          <a:noFill/>
          <a:ln/>
        </p:spPr>
        <p:txBody>
          <a:bodyPr wrap="square" lIns="0" tIns="0" rIns="0" bIns="0" rtlCol="0" anchor="ctr"/>
          <a:lstStyle/>
          <a:p>
            <a:pPr indent="0" marL="0">
              <a:buNone/>
            </a:pPr>
            <a:r>
              <a:rPr lang="en-US" sz="1000" b="1" spc="150" kern="0" dirty="0">
                <a:solidFill>
                  <a:srgbClr val="97BC62"/>
                </a:solidFill>
                <a:latin typeface="Calibri" pitchFamily="34" charset="0"/>
                <a:ea typeface="Calibri" pitchFamily="34" charset="-122"/>
                <a:cs typeface="Calibri" pitchFamily="34" charset="-120"/>
              </a:rPr>
              <a:t>CÓMPUTO</a:t>
            </a:r>
            <a:endParaRPr lang="en-US" sz="1000" dirty="0"/>
          </a:p>
        </p:txBody>
      </p:sp>
      <p:sp>
        <p:nvSpPr>
          <p:cNvPr id="16" name="Shape 14"/>
          <p:cNvSpPr/>
          <p:nvPr/>
        </p:nvSpPr>
        <p:spPr>
          <a:xfrm>
            <a:off x="1965960" y="3374136"/>
            <a:ext cx="4663440" cy="868680"/>
          </a:xfrm>
          <a:prstGeom prst="roundRect">
            <a:avLst>
              <a:gd name="adj" fmla="val 10526"/>
            </a:avLst>
          </a:prstGeom>
          <a:solidFill>
            <a:srgbClr val="F5F5F0"/>
          </a:solidFill>
          <a:ln w="12700">
            <a:solidFill>
              <a:srgbClr val="DCE3DA"/>
            </a:solidFill>
            <a:prstDash val="solid"/>
          </a:ln>
        </p:spPr>
      </p:sp>
      <p:sp>
        <p:nvSpPr>
          <p:cNvPr id="17" name="Text 15"/>
          <p:cNvSpPr txBox="1"/>
          <p:nvPr/>
        </p:nvSpPr>
        <p:spPr>
          <a:xfrm>
            <a:off x="2194560" y="3520440"/>
            <a:ext cx="420624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Lambda × 8</a:t>
            </a:r>
            <a:endParaRPr lang="en-US" sz="1400" dirty="0"/>
          </a:p>
        </p:txBody>
      </p:sp>
      <p:sp>
        <p:nvSpPr>
          <p:cNvPr id="18" name="Text 16"/>
          <p:cNvSpPr txBox="1"/>
          <p:nvPr/>
        </p:nvSpPr>
        <p:spPr>
          <a:xfrm>
            <a:off x="2194560" y="3831336"/>
            <a:ext cx="420624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Python 3.12 · arm64</a:t>
            </a:r>
            <a:endParaRPr lang="en-US" sz="1100" dirty="0"/>
          </a:p>
        </p:txBody>
      </p:sp>
      <p:sp>
        <p:nvSpPr>
          <p:cNvPr id="19" name="Shape 17"/>
          <p:cNvSpPr/>
          <p:nvPr/>
        </p:nvSpPr>
        <p:spPr>
          <a:xfrm>
            <a:off x="6858000" y="3374136"/>
            <a:ext cx="4663440" cy="868680"/>
          </a:xfrm>
          <a:prstGeom prst="roundRect">
            <a:avLst>
              <a:gd name="adj" fmla="val 10526"/>
            </a:avLst>
          </a:prstGeom>
          <a:solidFill>
            <a:srgbClr val="F5F5F0"/>
          </a:solidFill>
          <a:ln w="12700">
            <a:solidFill>
              <a:srgbClr val="DCE3DA"/>
            </a:solidFill>
            <a:prstDash val="solid"/>
          </a:ln>
        </p:spPr>
      </p:sp>
      <p:sp>
        <p:nvSpPr>
          <p:cNvPr id="20" name="Text 18"/>
          <p:cNvSpPr txBox="1"/>
          <p:nvPr/>
        </p:nvSpPr>
        <p:spPr>
          <a:xfrm>
            <a:off x="7086600" y="3520440"/>
            <a:ext cx="420624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Un rol IAM por función</a:t>
            </a:r>
            <a:endParaRPr lang="en-US" sz="1400" dirty="0"/>
          </a:p>
        </p:txBody>
      </p:sp>
      <p:sp>
        <p:nvSpPr>
          <p:cNvPr id="21" name="Text 19"/>
          <p:cNvSpPr txBox="1"/>
          <p:nvPr/>
        </p:nvSpPr>
        <p:spPr>
          <a:xfrm>
            <a:off x="7086600" y="3831336"/>
            <a:ext cx="420624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mínimo privilegio</a:t>
            </a:r>
            <a:endParaRPr lang="en-US" sz="1100" dirty="0"/>
          </a:p>
        </p:txBody>
      </p:sp>
      <p:sp>
        <p:nvSpPr>
          <p:cNvPr id="22" name="Text 20"/>
          <p:cNvSpPr txBox="1"/>
          <p:nvPr/>
        </p:nvSpPr>
        <p:spPr>
          <a:xfrm>
            <a:off x="640080" y="4626864"/>
            <a:ext cx="1234440" cy="274320"/>
          </a:xfrm>
          <a:prstGeom prst="rect">
            <a:avLst/>
          </a:prstGeom>
          <a:noFill/>
          <a:ln/>
        </p:spPr>
        <p:txBody>
          <a:bodyPr wrap="square" lIns="0" tIns="0" rIns="0" bIns="0" rtlCol="0" anchor="ctr"/>
          <a:lstStyle/>
          <a:p>
            <a:pPr indent="0" marL="0">
              <a:buNone/>
            </a:pPr>
            <a:r>
              <a:rPr lang="en-US" sz="1000" b="1" spc="150" kern="0" dirty="0">
                <a:solidFill>
                  <a:srgbClr val="97BC62"/>
                </a:solidFill>
                <a:latin typeface="Calibri" pitchFamily="34" charset="0"/>
                <a:ea typeface="Calibri" pitchFamily="34" charset="-122"/>
                <a:cs typeface="Calibri" pitchFamily="34" charset="-120"/>
              </a:rPr>
              <a:t>DATOS</a:t>
            </a:r>
            <a:endParaRPr lang="en-US" sz="1000" dirty="0"/>
          </a:p>
        </p:txBody>
      </p:sp>
      <p:sp>
        <p:nvSpPr>
          <p:cNvPr id="23" name="Shape 21"/>
          <p:cNvSpPr/>
          <p:nvPr/>
        </p:nvSpPr>
        <p:spPr>
          <a:xfrm>
            <a:off x="1965960" y="4352544"/>
            <a:ext cx="4663440" cy="868680"/>
          </a:xfrm>
          <a:prstGeom prst="roundRect">
            <a:avLst>
              <a:gd name="adj" fmla="val 10526"/>
            </a:avLst>
          </a:prstGeom>
          <a:solidFill>
            <a:srgbClr val="F5F5F0"/>
          </a:solidFill>
          <a:ln w="12700">
            <a:solidFill>
              <a:srgbClr val="DCE3DA"/>
            </a:solidFill>
            <a:prstDash val="solid"/>
          </a:ln>
        </p:spPr>
      </p:sp>
      <p:sp>
        <p:nvSpPr>
          <p:cNvPr id="24" name="Text 22"/>
          <p:cNvSpPr txBox="1"/>
          <p:nvPr/>
        </p:nvSpPr>
        <p:spPr>
          <a:xfrm>
            <a:off x="2194560" y="4498848"/>
            <a:ext cx="420624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DynamoDB</a:t>
            </a:r>
            <a:endParaRPr lang="en-US" sz="1400" dirty="0"/>
          </a:p>
        </p:txBody>
      </p:sp>
      <p:sp>
        <p:nvSpPr>
          <p:cNvPr id="25" name="Text 23"/>
          <p:cNvSpPr txBox="1"/>
          <p:nvPr/>
        </p:nvSpPr>
        <p:spPr>
          <a:xfrm>
            <a:off x="2194560" y="4809744"/>
            <a:ext cx="420624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single-table · 3 GSI</a:t>
            </a:r>
            <a:endParaRPr lang="en-US" sz="1100" dirty="0"/>
          </a:p>
        </p:txBody>
      </p:sp>
      <p:sp>
        <p:nvSpPr>
          <p:cNvPr id="26" name="Shape 24"/>
          <p:cNvSpPr/>
          <p:nvPr/>
        </p:nvSpPr>
        <p:spPr>
          <a:xfrm>
            <a:off x="6858000" y="4352544"/>
            <a:ext cx="4663440" cy="868680"/>
          </a:xfrm>
          <a:prstGeom prst="roundRect">
            <a:avLst>
              <a:gd name="adj" fmla="val 10526"/>
            </a:avLst>
          </a:prstGeom>
          <a:solidFill>
            <a:srgbClr val="F5F5F0"/>
          </a:solidFill>
          <a:ln w="12700">
            <a:solidFill>
              <a:srgbClr val="DCE3DA"/>
            </a:solidFill>
            <a:prstDash val="solid"/>
          </a:ln>
        </p:spPr>
      </p:sp>
      <p:sp>
        <p:nvSpPr>
          <p:cNvPr id="27" name="Text 25"/>
          <p:cNvSpPr txBox="1"/>
          <p:nvPr/>
        </p:nvSpPr>
        <p:spPr>
          <a:xfrm>
            <a:off x="7086600" y="4498848"/>
            <a:ext cx="420624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S3 + KMS</a:t>
            </a:r>
            <a:endParaRPr lang="en-US" sz="1400" dirty="0"/>
          </a:p>
        </p:txBody>
      </p:sp>
      <p:sp>
        <p:nvSpPr>
          <p:cNvPr id="28" name="Text 26"/>
          <p:cNvSpPr txBox="1"/>
          <p:nvPr/>
        </p:nvSpPr>
        <p:spPr>
          <a:xfrm>
            <a:off x="7086600" y="4809744"/>
            <a:ext cx="420624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evidencias cifradas</a:t>
            </a:r>
            <a:endParaRPr lang="en-US" sz="1100" dirty="0"/>
          </a:p>
        </p:txBody>
      </p:sp>
      <p:sp>
        <p:nvSpPr>
          <p:cNvPr id="29" name="Text 27"/>
          <p:cNvSpPr txBox="1"/>
          <p:nvPr/>
        </p:nvSpPr>
        <p:spPr>
          <a:xfrm>
            <a:off x="640080" y="5605272"/>
            <a:ext cx="1234440" cy="274320"/>
          </a:xfrm>
          <a:prstGeom prst="rect">
            <a:avLst/>
          </a:prstGeom>
          <a:noFill/>
          <a:ln/>
        </p:spPr>
        <p:txBody>
          <a:bodyPr wrap="square" lIns="0" tIns="0" rIns="0" bIns="0" rtlCol="0" anchor="ctr"/>
          <a:lstStyle/>
          <a:p>
            <a:pPr indent="0" marL="0">
              <a:buNone/>
            </a:pPr>
            <a:r>
              <a:rPr lang="en-US" sz="1000" b="1" spc="150" kern="0" dirty="0">
                <a:solidFill>
                  <a:srgbClr val="97BC62"/>
                </a:solidFill>
                <a:latin typeface="Calibri" pitchFamily="34" charset="0"/>
                <a:ea typeface="Calibri" pitchFamily="34" charset="-122"/>
                <a:cs typeface="Calibri" pitchFamily="34" charset="-120"/>
              </a:rPr>
              <a:t>ASÍNCRONO</a:t>
            </a:r>
            <a:endParaRPr lang="en-US" sz="1000" dirty="0"/>
          </a:p>
        </p:txBody>
      </p:sp>
      <p:sp>
        <p:nvSpPr>
          <p:cNvPr id="30" name="Shape 28"/>
          <p:cNvSpPr/>
          <p:nvPr/>
        </p:nvSpPr>
        <p:spPr>
          <a:xfrm>
            <a:off x="1965960" y="5330952"/>
            <a:ext cx="3032760" cy="868680"/>
          </a:xfrm>
          <a:prstGeom prst="roundRect">
            <a:avLst>
              <a:gd name="adj" fmla="val 10526"/>
            </a:avLst>
          </a:prstGeom>
          <a:solidFill>
            <a:srgbClr val="F5F5F0"/>
          </a:solidFill>
          <a:ln w="12700">
            <a:solidFill>
              <a:srgbClr val="DCE3DA"/>
            </a:solidFill>
            <a:prstDash val="solid"/>
          </a:ln>
        </p:spPr>
      </p:sp>
      <p:sp>
        <p:nvSpPr>
          <p:cNvPr id="31" name="Text 29"/>
          <p:cNvSpPr txBox="1"/>
          <p:nvPr/>
        </p:nvSpPr>
        <p:spPr>
          <a:xfrm>
            <a:off x="2194560" y="5477256"/>
            <a:ext cx="257556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EventBridge + SNS</a:t>
            </a:r>
            <a:endParaRPr lang="en-US" sz="1400" dirty="0"/>
          </a:p>
        </p:txBody>
      </p:sp>
      <p:sp>
        <p:nvSpPr>
          <p:cNvPr id="32" name="Text 30"/>
          <p:cNvSpPr txBox="1"/>
          <p:nvPr/>
        </p:nvSpPr>
        <p:spPr>
          <a:xfrm>
            <a:off x="2194560" y="5788152"/>
            <a:ext cx="257556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alertas prioritarias</a:t>
            </a:r>
            <a:endParaRPr lang="en-US" sz="1100" dirty="0"/>
          </a:p>
        </p:txBody>
      </p:sp>
      <p:sp>
        <p:nvSpPr>
          <p:cNvPr id="33" name="Shape 31"/>
          <p:cNvSpPr/>
          <p:nvPr/>
        </p:nvSpPr>
        <p:spPr>
          <a:xfrm>
            <a:off x="5227320" y="5330952"/>
            <a:ext cx="3032760" cy="868680"/>
          </a:xfrm>
          <a:prstGeom prst="roundRect">
            <a:avLst>
              <a:gd name="adj" fmla="val 10526"/>
            </a:avLst>
          </a:prstGeom>
          <a:solidFill>
            <a:srgbClr val="F5F5F0"/>
          </a:solidFill>
          <a:ln w="12700">
            <a:solidFill>
              <a:srgbClr val="DCE3DA"/>
            </a:solidFill>
            <a:prstDash val="solid"/>
          </a:ln>
        </p:spPr>
      </p:sp>
      <p:sp>
        <p:nvSpPr>
          <p:cNvPr id="34" name="Text 32"/>
          <p:cNvSpPr txBox="1"/>
          <p:nvPr/>
        </p:nvSpPr>
        <p:spPr>
          <a:xfrm>
            <a:off x="5455920" y="5477256"/>
            <a:ext cx="257556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Rekognition</a:t>
            </a:r>
            <a:endParaRPr lang="en-US" sz="1400" dirty="0"/>
          </a:p>
        </p:txBody>
      </p:sp>
      <p:sp>
        <p:nvSpPr>
          <p:cNvPr id="35" name="Text 33"/>
          <p:cNvSpPr txBox="1"/>
          <p:nvPr/>
        </p:nvSpPr>
        <p:spPr>
          <a:xfrm>
            <a:off x="5455920" y="5788152"/>
            <a:ext cx="257556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clasificación asistida</a:t>
            </a:r>
            <a:endParaRPr lang="en-US" sz="1100" dirty="0"/>
          </a:p>
        </p:txBody>
      </p:sp>
      <p:sp>
        <p:nvSpPr>
          <p:cNvPr id="36" name="Shape 34"/>
          <p:cNvSpPr/>
          <p:nvPr/>
        </p:nvSpPr>
        <p:spPr>
          <a:xfrm>
            <a:off x="8488680" y="5330952"/>
            <a:ext cx="3032760" cy="868680"/>
          </a:xfrm>
          <a:prstGeom prst="roundRect">
            <a:avLst>
              <a:gd name="adj" fmla="val 10526"/>
            </a:avLst>
          </a:prstGeom>
          <a:solidFill>
            <a:srgbClr val="F5F5F0"/>
          </a:solidFill>
          <a:ln w="12700">
            <a:solidFill>
              <a:srgbClr val="DCE3DA"/>
            </a:solidFill>
            <a:prstDash val="solid"/>
          </a:ln>
        </p:spPr>
      </p:sp>
      <p:sp>
        <p:nvSpPr>
          <p:cNvPr id="37" name="Text 35"/>
          <p:cNvSpPr txBox="1"/>
          <p:nvPr/>
        </p:nvSpPr>
        <p:spPr>
          <a:xfrm>
            <a:off x="8717280" y="5477256"/>
            <a:ext cx="257556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SQS DLQ</a:t>
            </a:r>
            <a:endParaRPr lang="en-US" sz="1400" dirty="0"/>
          </a:p>
        </p:txBody>
      </p:sp>
      <p:sp>
        <p:nvSpPr>
          <p:cNvPr id="38" name="Text 36"/>
          <p:cNvSpPr txBox="1"/>
          <p:nvPr/>
        </p:nvSpPr>
        <p:spPr>
          <a:xfrm>
            <a:off x="8717280" y="5788152"/>
            <a:ext cx="2575560" cy="274320"/>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nada se pierde</a:t>
            </a:r>
            <a:endParaRPr lang="en-US" sz="1100" dirty="0"/>
          </a:p>
        </p:txBody>
      </p:sp>
      <p:sp>
        <p:nvSpPr>
          <p:cNvPr id="39" name="Text 37"/>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40" name="Text 38"/>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JUSTIFICACIÓN TECNOLÓGICA</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Cada servicio responde a un rasgo del problema</a:t>
            </a:r>
            <a:endParaRPr lang="en-US" sz="3400" dirty="0"/>
          </a:p>
        </p:txBody>
      </p:sp>
      <p:sp>
        <p:nvSpPr>
          <p:cNvPr id="4" name="Text 2"/>
          <p:cNvSpPr txBox="1"/>
          <p:nvPr/>
        </p:nvSpPr>
        <p:spPr>
          <a:xfrm>
            <a:off x="640080" y="1389888"/>
            <a:ext cx="4937760" cy="256032"/>
          </a:xfrm>
          <a:prstGeom prst="rect">
            <a:avLst/>
          </a:prstGeom>
          <a:noFill/>
          <a:ln/>
        </p:spPr>
        <p:txBody>
          <a:bodyPr wrap="square" lIns="0" tIns="0" rIns="0" bIns="0" rtlCol="0" anchor="ctr"/>
          <a:lstStyle/>
          <a:p>
            <a:pPr indent="0" marL="0">
              <a:buNone/>
            </a:pPr>
            <a:r>
              <a:rPr lang="en-US" sz="1000" b="1" spc="150" kern="0" dirty="0">
                <a:solidFill>
                  <a:srgbClr val="97BC62"/>
                </a:solidFill>
                <a:latin typeface="Calibri" pitchFamily="34" charset="0"/>
                <a:ea typeface="Calibri" pitchFamily="34" charset="-122"/>
                <a:cs typeface="Calibri" pitchFamily="34" charset="-120"/>
              </a:rPr>
              <a:t>RASGO DEL PROBLEMA</a:t>
            </a:r>
            <a:endParaRPr lang="en-US" sz="1000" dirty="0"/>
          </a:p>
        </p:txBody>
      </p:sp>
      <p:sp>
        <p:nvSpPr>
          <p:cNvPr id="5" name="Text 3"/>
          <p:cNvSpPr txBox="1"/>
          <p:nvPr/>
        </p:nvSpPr>
        <p:spPr>
          <a:xfrm>
            <a:off x="5760720" y="1389888"/>
            <a:ext cx="2560320" cy="256032"/>
          </a:xfrm>
          <a:prstGeom prst="rect">
            <a:avLst/>
          </a:prstGeom>
          <a:noFill/>
          <a:ln/>
        </p:spPr>
        <p:txBody>
          <a:bodyPr wrap="square" lIns="0" tIns="0" rIns="0" bIns="0" rtlCol="0" anchor="ctr"/>
          <a:lstStyle/>
          <a:p>
            <a:pPr indent="0" marL="0">
              <a:buNone/>
            </a:pPr>
            <a:r>
              <a:rPr lang="en-US" sz="1000" b="1" spc="150" kern="0" dirty="0">
                <a:solidFill>
                  <a:srgbClr val="97BC62"/>
                </a:solidFill>
                <a:latin typeface="Calibri" pitchFamily="34" charset="0"/>
                <a:ea typeface="Calibri" pitchFamily="34" charset="-122"/>
                <a:cs typeface="Calibri" pitchFamily="34" charset="-120"/>
              </a:rPr>
              <a:t>SERVICIO ELEGIDO</a:t>
            </a:r>
            <a:endParaRPr lang="en-US" sz="1000" dirty="0"/>
          </a:p>
        </p:txBody>
      </p:sp>
      <p:sp>
        <p:nvSpPr>
          <p:cNvPr id="6" name="Text 4"/>
          <p:cNvSpPr txBox="1"/>
          <p:nvPr/>
        </p:nvSpPr>
        <p:spPr>
          <a:xfrm>
            <a:off x="8503920" y="1389888"/>
            <a:ext cx="3017520" cy="256032"/>
          </a:xfrm>
          <a:prstGeom prst="rect">
            <a:avLst/>
          </a:prstGeom>
          <a:noFill/>
          <a:ln/>
        </p:spPr>
        <p:txBody>
          <a:bodyPr wrap="square" lIns="0" tIns="0" rIns="0" bIns="0" rtlCol="0" anchor="ctr"/>
          <a:lstStyle/>
          <a:p>
            <a:pPr indent="0" marL="0">
              <a:buNone/>
            </a:pPr>
            <a:r>
              <a:rPr lang="en-US" sz="1000" b="1" spc="150" kern="0" dirty="0">
                <a:solidFill>
                  <a:srgbClr val="97BC62"/>
                </a:solidFill>
                <a:latin typeface="Calibri" pitchFamily="34" charset="0"/>
                <a:ea typeface="Calibri" pitchFamily="34" charset="-122"/>
                <a:cs typeface="Calibri" pitchFamily="34" charset="-120"/>
              </a:rPr>
              <a:t>POR QUÉ</a:t>
            </a:r>
            <a:endParaRPr lang="en-US" sz="1000" dirty="0"/>
          </a:p>
        </p:txBody>
      </p:sp>
      <p:sp>
        <p:nvSpPr>
          <p:cNvPr id="7" name="Shape 5"/>
          <p:cNvSpPr/>
          <p:nvPr/>
        </p:nvSpPr>
        <p:spPr>
          <a:xfrm>
            <a:off x="502920" y="1709928"/>
            <a:ext cx="11155680" cy="658368"/>
          </a:xfrm>
          <a:prstGeom prst="rect">
            <a:avLst/>
          </a:prstGeom>
          <a:solidFill>
            <a:srgbClr val="F5F5F0"/>
          </a:solidFill>
          <a:ln w="12700">
            <a:solidFill>
              <a:srgbClr val="F5F5F0"/>
            </a:solidFill>
            <a:prstDash val="solid"/>
          </a:ln>
        </p:spPr>
      </p:sp>
      <p:sp>
        <p:nvSpPr>
          <p:cNvPr id="8" name="Text 6"/>
          <p:cNvSpPr txBox="1"/>
          <p:nvPr/>
        </p:nvSpPr>
        <p:spPr>
          <a:xfrm>
            <a:off x="640080" y="1783080"/>
            <a:ext cx="4937760" cy="530352"/>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Demanda muy irregular: picos tras lluvias, casi nula de madrugada</a:t>
            </a:r>
            <a:endParaRPr lang="en-US" sz="1150" dirty="0"/>
          </a:p>
        </p:txBody>
      </p:sp>
      <p:sp>
        <p:nvSpPr>
          <p:cNvPr id="9" name="Text 7"/>
          <p:cNvSpPr txBox="1"/>
          <p:nvPr/>
        </p:nvSpPr>
        <p:spPr>
          <a:xfrm>
            <a:off x="5760720" y="1783080"/>
            <a:ext cx="2560320" cy="530352"/>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Lambda + API Gateway</a:t>
            </a:r>
            <a:endParaRPr lang="en-US" sz="1150" dirty="0"/>
          </a:p>
        </p:txBody>
      </p:sp>
      <p:sp>
        <p:nvSpPr>
          <p:cNvPr id="10" name="Text 8"/>
          <p:cNvSpPr txBox="1"/>
          <p:nvPr/>
        </p:nvSpPr>
        <p:spPr>
          <a:xfrm>
            <a:off x="8503920" y="1783080"/>
            <a:ext cx="3017520" cy="530352"/>
          </a:xfrm>
          <a:prstGeom prst="rect">
            <a:avLst/>
          </a:prstGeom>
          <a:noFill/>
          <a:ln/>
        </p:spPr>
        <p:txBody>
          <a:bodyPr wrap="square" lIns="0" tIns="0" rIns="0" bIns="0" rtlCol="0" anchor="ctr"/>
          <a:lstStyle/>
          <a:p>
            <a:pPr indent="0" marL="0">
              <a:lnSpc>
                <a:spcPts val="1500"/>
              </a:lnSpc>
              <a:buNone/>
            </a:pPr>
            <a:r>
              <a:rPr lang="en-US" sz="1150" dirty="0">
                <a:solidFill>
                  <a:srgbClr val="6B7A70"/>
                </a:solidFill>
                <a:latin typeface="Calibri" pitchFamily="34" charset="0"/>
                <a:ea typeface="Calibri" pitchFamily="34" charset="-122"/>
                <a:cs typeface="Calibri" pitchFamily="34" charset="-120"/>
              </a:rPr>
              <a:t>Escala a cero; sin capacidad ociosa</a:t>
            </a:r>
            <a:endParaRPr lang="en-US" sz="1150" dirty="0"/>
          </a:p>
        </p:txBody>
      </p:sp>
      <p:sp>
        <p:nvSpPr>
          <p:cNvPr id="11" name="Text 9"/>
          <p:cNvSpPr txBox="1"/>
          <p:nvPr/>
        </p:nvSpPr>
        <p:spPr>
          <a:xfrm>
            <a:off x="640080" y="2496312"/>
            <a:ext cx="4937760" cy="530352"/>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Consultas siempre por zona o por estado, nunca analíticas</a:t>
            </a:r>
            <a:endParaRPr lang="en-US" sz="1150" dirty="0"/>
          </a:p>
        </p:txBody>
      </p:sp>
      <p:sp>
        <p:nvSpPr>
          <p:cNvPr id="12" name="Text 10"/>
          <p:cNvSpPr txBox="1"/>
          <p:nvPr/>
        </p:nvSpPr>
        <p:spPr>
          <a:xfrm>
            <a:off x="5760720" y="2496312"/>
            <a:ext cx="2560320" cy="530352"/>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DynamoDB single-table</a:t>
            </a:r>
            <a:endParaRPr lang="en-US" sz="1150" dirty="0"/>
          </a:p>
        </p:txBody>
      </p:sp>
      <p:sp>
        <p:nvSpPr>
          <p:cNvPr id="13" name="Text 11"/>
          <p:cNvSpPr txBox="1"/>
          <p:nvPr/>
        </p:nvSpPr>
        <p:spPr>
          <a:xfrm>
            <a:off x="8503920" y="2496312"/>
            <a:ext cx="3017520" cy="530352"/>
          </a:xfrm>
          <a:prstGeom prst="rect">
            <a:avLst/>
          </a:prstGeom>
          <a:noFill/>
          <a:ln/>
        </p:spPr>
        <p:txBody>
          <a:bodyPr wrap="square" lIns="0" tIns="0" rIns="0" bIns="0" rtlCol="0" anchor="ctr"/>
          <a:lstStyle/>
          <a:p>
            <a:pPr indent="0" marL="0">
              <a:lnSpc>
                <a:spcPts val="1500"/>
              </a:lnSpc>
              <a:buNone/>
            </a:pPr>
            <a:r>
              <a:rPr lang="en-US" sz="1150" dirty="0">
                <a:solidFill>
                  <a:srgbClr val="6B7A70"/>
                </a:solidFill>
                <a:latin typeface="Calibri" pitchFamily="34" charset="0"/>
                <a:ea typeface="Calibri" pitchFamily="34" charset="-122"/>
                <a:cs typeface="Calibri" pitchFamily="34" charset="-120"/>
              </a:rPr>
              <a:t>Todo es Query por clave; nunca Scan</a:t>
            </a:r>
            <a:endParaRPr lang="en-US" sz="1150" dirty="0"/>
          </a:p>
        </p:txBody>
      </p:sp>
      <p:sp>
        <p:nvSpPr>
          <p:cNvPr id="14" name="Shape 12"/>
          <p:cNvSpPr/>
          <p:nvPr/>
        </p:nvSpPr>
        <p:spPr>
          <a:xfrm>
            <a:off x="502920" y="3136392"/>
            <a:ext cx="11155680" cy="658368"/>
          </a:xfrm>
          <a:prstGeom prst="rect">
            <a:avLst/>
          </a:prstGeom>
          <a:solidFill>
            <a:srgbClr val="F5F5F0"/>
          </a:solidFill>
          <a:ln w="12700">
            <a:solidFill>
              <a:srgbClr val="F5F5F0"/>
            </a:solidFill>
            <a:prstDash val="solid"/>
          </a:ln>
        </p:spPr>
      </p:sp>
      <p:sp>
        <p:nvSpPr>
          <p:cNvPr id="15" name="Text 13"/>
          <p:cNvSpPr txBox="1"/>
          <p:nvPr/>
        </p:nvSpPr>
        <p:spPr>
          <a:xfrm>
            <a:off x="640080" y="3209544"/>
            <a:ext cx="4937760" cy="530352"/>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La evidencia pesa mucho más que el resto del reporte</a:t>
            </a:r>
            <a:endParaRPr lang="en-US" sz="1150" dirty="0"/>
          </a:p>
        </p:txBody>
      </p:sp>
      <p:sp>
        <p:nvSpPr>
          <p:cNvPr id="16" name="Text 14"/>
          <p:cNvSpPr txBox="1"/>
          <p:nvPr/>
        </p:nvSpPr>
        <p:spPr>
          <a:xfrm>
            <a:off x="5760720" y="3209544"/>
            <a:ext cx="2560320" cy="530352"/>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S3 + URL prefirmada</a:t>
            </a:r>
            <a:endParaRPr lang="en-US" sz="1150" dirty="0"/>
          </a:p>
        </p:txBody>
      </p:sp>
      <p:sp>
        <p:nvSpPr>
          <p:cNvPr id="17" name="Text 15"/>
          <p:cNvSpPr txBox="1"/>
          <p:nvPr/>
        </p:nvSpPr>
        <p:spPr>
          <a:xfrm>
            <a:off x="8503920" y="3209544"/>
            <a:ext cx="3017520" cy="530352"/>
          </a:xfrm>
          <a:prstGeom prst="rect">
            <a:avLst/>
          </a:prstGeom>
          <a:noFill/>
          <a:ln/>
        </p:spPr>
        <p:txBody>
          <a:bodyPr wrap="square" lIns="0" tIns="0" rIns="0" bIns="0" rtlCol="0" anchor="ctr"/>
          <a:lstStyle/>
          <a:p>
            <a:pPr indent="0" marL="0">
              <a:lnSpc>
                <a:spcPts val="1500"/>
              </a:lnSpc>
              <a:buNone/>
            </a:pPr>
            <a:r>
              <a:rPr lang="en-US" sz="1150" dirty="0">
                <a:solidFill>
                  <a:srgbClr val="6B7A70"/>
                </a:solidFill>
                <a:latin typeface="Calibri" pitchFamily="34" charset="0"/>
                <a:ea typeface="Calibri" pitchFamily="34" charset="-122"/>
                <a:cs typeface="Calibri" pitchFamily="34" charset="-120"/>
              </a:rPr>
              <a:t>La foto no pasa por el cómputo</a:t>
            </a:r>
            <a:endParaRPr lang="en-US" sz="1150" dirty="0"/>
          </a:p>
        </p:txBody>
      </p:sp>
      <p:sp>
        <p:nvSpPr>
          <p:cNvPr id="18" name="Text 16"/>
          <p:cNvSpPr txBox="1"/>
          <p:nvPr/>
        </p:nvSpPr>
        <p:spPr>
          <a:xfrm>
            <a:off x="640080" y="3922776"/>
            <a:ext cx="4937760" cy="530352"/>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Clasificar residuos sin dataset propio inicial</a:t>
            </a:r>
            <a:endParaRPr lang="en-US" sz="1150" dirty="0"/>
          </a:p>
        </p:txBody>
      </p:sp>
      <p:sp>
        <p:nvSpPr>
          <p:cNvPr id="19" name="Text 17"/>
          <p:cNvSpPr txBox="1"/>
          <p:nvPr/>
        </p:nvSpPr>
        <p:spPr>
          <a:xfrm>
            <a:off x="5760720" y="3922776"/>
            <a:ext cx="2560320" cy="530352"/>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Rekognition</a:t>
            </a:r>
            <a:endParaRPr lang="en-US" sz="1150" dirty="0"/>
          </a:p>
        </p:txBody>
      </p:sp>
      <p:sp>
        <p:nvSpPr>
          <p:cNvPr id="20" name="Text 18"/>
          <p:cNvSpPr txBox="1"/>
          <p:nvPr/>
        </p:nvSpPr>
        <p:spPr>
          <a:xfrm>
            <a:off x="8503920" y="3922776"/>
            <a:ext cx="3017520" cy="530352"/>
          </a:xfrm>
          <a:prstGeom prst="rect">
            <a:avLst/>
          </a:prstGeom>
          <a:noFill/>
          <a:ln/>
        </p:spPr>
        <p:txBody>
          <a:bodyPr wrap="square" lIns="0" tIns="0" rIns="0" bIns="0" rtlCol="0" anchor="ctr"/>
          <a:lstStyle/>
          <a:p>
            <a:pPr indent="0" marL="0">
              <a:lnSpc>
                <a:spcPts val="1500"/>
              </a:lnSpc>
              <a:buNone/>
            </a:pPr>
            <a:r>
              <a:rPr lang="en-US" sz="1150" dirty="0">
                <a:solidFill>
                  <a:srgbClr val="6B7A70"/>
                </a:solidFill>
                <a:latin typeface="Calibri" pitchFamily="34" charset="0"/>
                <a:ea typeface="Calibri" pitchFamily="34" charset="-122"/>
                <a:cs typeface="Calibri" pitchFamily="34" charset="-120"/>
              </a:rPr>
              <a:t>Línea base inmediata y reemplazable</a:t>
            </a:r>
            <a:endParaRPr lang="en-US" sz="1150" dirty="0"/>
          </a:p>
        </p:txBody>
      </p:sp>
      <p:sp>
        <p:nvSpPr>
          <p:cNvPr id="21" name="Shape 19"/>
          <p:cNvSpPr/>
          <p:nvPr/>
        </p:nvSpPr>
        <p:spPr>
          <a:xfrm>
            <a:off x="502920" y="4562856"/>
            <a:ext cx="11155680" cy="658368"/>
          </a:xfrm>
          <a:prstGeom prst="rect">
            <a:avLst/>
          </a:prstGeom>
          <a:solidFill>
            <a:srgbClr val="F5F5F0"/>
          </a:solidFill>
          <a:ln w="12700">
            <a:solidFill>
              <a:srgbClr val="F5F5F0"/>
            </a:solidFill>
            <a:prstDash val="solid"/>
          </a:ln>
        </p:spPr>
      </p:sp>
      <p:sp>
        <p:nvSpPr>
          <p:cNvPr id="22" name="Text 20"/>
          <p:cNvSpPr txBox="1"/>
          <p:nvPr/>
        </p:nvSpPr>
        <p:spPr>
          <a:xfrm>
            <a:off x="640080" y="4636008"/>
            <a:ext cx="4937760" cy="530352"/>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Nuevos consumidores del evento a futuro</a:t>
            </a:r>
            <a:endParaRPr lang="en-US" sz="1150" dirty="0"/>
          </a:p>
        </p:txBody>
      </p:sp>
      <p:sp>
        <p:nvSpPr>
          <p:cNvPr id="23" name="Text 21"/>
          <p:cNvSpPr txBox="1"/>
          <p:nvPr/>
        </p:nvSpPr>
        <p:spPr>
          <a:xfrm>
            <a:off x="5760720" y="4636008"/>
            <a:ext cx="2560320" cy="530352"/>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EventBridge</a:t>
            </a:r>
            <a:endParaRPr lang="en-US" sz="1150" dirty="0"/>
          </a:p>
        </p:txBody>
      </p:sp>
      <p:sp>
        <p:nvSpPr>
          <p:cNvPr id="24" name="Text 22"/>
          <p:cNvSpPr txBox="1"/>
          <p:nvPr/>
        </p:nvSpPr>
        <p:spPr>
          <a:xfrm>
            <a:off x="8503920" y="4636008"/>
            <a:ext cx="3017520" cy="530352"/>
          </a:xfrm>
          <a:prstGeom prst="rect">
            <a:avLst/>
          </a:prstGeom>
          <a:noFill/>
          <a:ln/>
        </p:spPr>
        <p:txBody>
          <a:bodyPr wrap="square" lIns="0" tIns="0" rIns="0" bIns="0" rtlCol="0" anchor="ctr"/>
          <a:lstStyle/>
          <a:p>
            <a:pPr indent="0" marL="0">
              <a:lnSpc>
                <a:spcPts val="1500"/>
              </a:lnSpc>
              <a:buNone/>
            </a:pPr>
            <a:r>
              <a:rPr lang="en-US" sz="1150" dirty="0">
                <a:solidFill>
                  <a:srgbClr val="6B7A70"/>
                </a:solidFill>
                <a:latin typeface="Calibri" pitchFamily="34" charset="0"/>
                <a:ea typeface="Calibri" pitchFamily="34" charset="-122"/>
                <a:cs typeface="Calibri" pitchFamily="34" charset="-120"/>
              </a:rPr>
              <a:t>El productor no conoce a sus consumidores</a:t>
            </a:r>
            <a:endParaRPr lang="en-US" sz="1150" dirty="0"/>
          </a:p>
        </p:txBody>
      </p:sp>
      <p:sp>
        <p:nvSpPr>
          <p:cNvPr id="25" name="Text 23"/>
          <p:cNvSpPr txBox="1"/>
          <p:nvPr/>
        </p:nvSpPr>
        <p:spPr>
          <a:xfrm>
            <a:off x="640080" y="5349240"/>
            <a:ext cx="4937760" cy="530352"/>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Datos personales implícitos: ubicación y foto</a:t>
            </a:r>
            <a:endParaRPr lang="en-US" sz="1150" dirty="0"/>
          </a:p>
        </p:txBody>
      </p:sp>
      <p:sp>
        <p:nvSpPr>
          <p:cNvPr id="26" name="Text 24"/>
          <p:cNvSpPr txBox="1"/>
          <p:nvPr/>
        </p:nvSpPr>
        <p:spPr>
          <a:xfrm>
            <a:off x="5760720" y="5349240"/>
            <a:ext cx="2560320" cy="530352"/>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KMS + IAM + TTL</a:t>
            </a:r>
            <a:endParaRPr lang="en-US" sz="1150" dirty="0"/>
          </a:p>
        </p:txBody>
      </p:sp>
      <p:sp>
        <p:nvSpPr>
          <p:cNvPr id="27" name="Text 25"/>
          <p:cNvSpPr txBox="1"/>
          <p:nvPr/>
        </p:nvSpPr>
        <p:spPr>
          <a:xfrm>
            <a:off x="8503920" y="5349240"/>
            <a:ext cx="3017520" cy="530352"/>
          </a:xfrm>
          <a:prstGeom prst="rect">
            <a:avLst/>
          </a:prstGeom>
          <a:noFill/>
          <a:ln/>
        </p:spPr>
        <p:txBody>
          <a:bodyPr wrap="square" lIns="0" tIns="0" rIns="0" bIns="0" rtlCol="0" anchor="ctr"/>
          <a:lstStyle/>
          <a:p>
            <a:pPr indent="0" marL="0">
              <a:lnSpc>
                <a:spcPts val="1500"/>
              </a:lnSpc>
              <a:buNone/>
            </a:pPr>
            <a:r>
              <a:rPr lang="en-US" sz="1150" dirty="0">
                <a:solidFill>
                  <a:srgbClr val="6B7A70"/>
                </a:solidFill>
                <a:latin typeface="Calibri" pitchFamily="34" charset="0"/>
                <a:ea typeface="Calibri" pitchFamily="34" charset="-122"/>
                <a:cs typeface="Calibri" pitchFamily="34" charset="-120"/>
              </a:rPr>
              <a:t>Cifrado, mínimo privilegio, retención acotada</a:t>
            </a:r>
            <a:endParaRPr lang="en-US" sz="1150" dirty="0"/>
          </a:p>
        </p:txBody>
      </p:sp>
      <p:sp>
        <p:nvSpPr>
          <p:cNvPr id="28" name="Text 26"/>
          <p:cNvSpPr txBox="1"/>
          <p:nvPr/>
        </p:nvSpPr>
        <p:spPr>
          <a:xfrm>
            <a:off x="640080" y="5943600"/>
            <a:ext cx="10881360" cy="384048"/>
          </a:xfrm>
          <a:prstGeom prst="rect">
            <a:avLst/>
          </a:prstGeom>
          <a:noFill/>
          <a:ln/>
        </p:spPr>
        <p:txBody>
          <a:bodyPr wrap="square" lIns="0" tIns="0" rIns="0" bIns="0" rtlCol="0" anchor="ctr"/>
          <a:lstStyle/>
          <a:p>
            <a:pPr indent="0" marL="0">
              <a:lnSpc>
                <a:spcPts val="1400"/>
              </a:lnSpc>
              <a:buNone/>
            </a:pPr>
            <a:r>
              <a:rPr lang="en-US" sz="1050" i="1" dirty="0">
                <a:solidFill>
                  <a:srgbClr val="6B7A70"/>
                </a:solidFill>
                <a:latin typeface="Calibri" pitchFamily="34" charset="0"/>
                <a:ea typeface="Calibri" pitchFamily="34" charset="-122"/>
                <a:cs typeface="Calibri" pitchFamily="34" charset="-120"/>
              </a:rPr>
              <a:t>Descartados con razón documentada: contenedores en ECS/EKS (costo base injustificado), PostgreSQL + PostGIS (instancia siempre encendida y VPC innecesaria), Firebase (menor ejercicio de arquitectura).</a:t>
            </a:r>
            <a:endParaRPr lang="en-US" sz="1050" dirty="0"/>
          </a:p>
        </p:txBody>
      </p:sp>
      <p:sp>
        <p:nvSpPr>
          <p:cNvPr id="29" name="Text 27"/>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30" name="Text 28"/>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MODELO DE DATOS</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Una sola tabla, cuatro preguntas, ningún Scan</a:t>
            </a:r>
            <a:endParaRPr lang="en-US" sz="3400" dirty="0"/>
          </a:p>
        </p:txBody>
      </p:sp>
      <p:sp>
        <p:nvSpPr>
          <p:cNvPr id="4" name="Text 2"/>
          <p:cNvSpPr txBox="1"/>
          <p:nvPr/>
        </p:nvSpPr>
        <p:spPr>
          <a:xfrm>
            <a:off x="640080" y="1371600"/>
            <a:ext cx="10881360" cy="457200"/>
          </a:xfrm>
          <a:prstGeom prst="rect">
            <a:avLst/>
          </a:prstGeom>
          <a:noFill/>
          <a:ln/>
        </p:spPr>
        <p:txBody>
          <a:bodyPr wrap="square" lIns="0" tIns="0" rIns="0" bIns="0" rtlCol="0" anchor="ctr"/>
          <a:lstStyle/>
          <a:p>
            <a:pPr indent="0" marL="0">
              <a:lnSpc>
                <a:spcPts val="1900"/>
              </a:lnSpc>
              <a:buNone/>
            </a:pPr>
            <a:r>
              <a:rPr lang="en-US" sz="1350" dirty="0">
                <a:solidFill>
                  <a:srgbClr val="1C2620"/>
                </a:solidFill>
                <a:latin typeface="Calibri" pitchFamily="34" charset="0"/>
                <a:ea typeface="Calibri" pitchFamily="34" charset="-122"/>
                <a:cs typeface="Calibri" pitchFamily="34" charset="-120"/>
              </a:rPr>
              <a:t>En DynamoDB el modelo se diseña desde las consultas, no desde las entidades. Hay exactamente cuatro consultas en el producto y cada una tiene su clave.</a:t>
            </a:r>
            <a:endParaRPr lang="en-US" sz="1350" dirty="0"/>
          </a:p>
        </p:txBody>
      </p:sp>
      <p:sp>
        <p:nvSpPr>
          <p:cNvPr id="5" name="Shape 3"/>
          <p:cNvSpPr/>
          <p:nvPr/>
        </p:nvSpPr>
        <p:spPr>
          <a:xfrm>
            <a:off x="640080" y="1965960"/>
            <a:ext cx="2548890" cy="1554480"/>
          </a:xfrm>
          <a:prstGeom prst="roundRect">
            <a:avLst>
              <a:gd name="adj" fmla="val 5882"/>
            </a:avLst>
          </a:prstGeom>
          <a:solidFill>
            <a:srgbClr val="F5F5F0"/>
          </a:solidFill>
          <a:ln w="12700">
            <a:solidFill>
              <a:srgbClr val="DCE3DA"/>
            </a:solidFill>
            <a:prstDash val="solid"/>
          </a:ln>
        </p:spPr>
      </p:sp>
      <p:sp>
        <p:nvSpPr>
          <p:cNvPr id="6" name="Text 4"/>
          <p:cNvSpPr txBox="1"/>
          <p:nvPr/>
        </p:nvSpPr>
        <p:spPr>
          <a:xfrm>
            <a:off x="841248" y="2148840"/>
            <a:ext cx="2146554" cy="502920"/>
          </a:xfrm>
          <a:prstGeom prst="rect">
            <a:avLst/>
          </a:prstGeom>
          <a:noFill/>
          <a:ln/>
        </p:spPr>
        <p:txBody>
          <a:bodyPr wrap="square" lIns="0" tIns="0" rIns="0" bIns="0" rtlCol="0" anchor="ctr"/>
          <a:lstStyle/>
          <a:p>
            <a:pPr indent="0" marL="0">
              <a:lnSpc>
                <a:spcPts val="1800"/>
              </a:lnSpc>
              <a:buNone/>
            </a:pPr>
            <a:r>
              <a:rPr lang="en-US" sz="1400" b="1" dirty="0">
                <a:solidFill>
                  <a:srgbClr val="2C5F2D"/>
                </a:solidFill>
                <a:latin typeface="Cambria" pitchFamily="34" charset="0"/>
                <a:ea typeface="Cambria" pitchFamily="34" charset="-122"/>
                <a:cs typeface="Cambria" pitchFamily="34" charset="-120"/>
              </a:rPr>
              <a:t>Detalle de un reporte</a:t>
            </a:r>
            <a:endParaRPr lang="en-US" sz="1400" dirty="0"/>
          </a:p>
        </p:txBody>
      </p:sp>
      <p:sp>
        <p:nvSpPr>
          <p:cNvPr id="7" name="Text 5"/>
          <p:cNvSpPr txBox="1"/>
          <p:nvPr/>
        </p:nvSpPr>
        <p:spPr>
          <a:xfrm>
            <a:off x="841248" y="2724912"/>
            <a:ext cx="2146554" cy="237744"/>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Tabla principal</a:t>
            </a:r>
            <a:endParaRPr lang="en-US" sz="1100" dirty="0"/>
          </a:p>
        </p:txBody>
      </p:sp>
      <p:sp>
        <p:nvSpPr>
          <p:cNvPr id="8" name="Text 6"/>
          <p:cNvSpPr txBox="1"/>
          <p:nvPr/>
        </p:nvSpPr>
        <p:spPr>
          <a:xfrm>
            <a:off x="841248" y="3017520"/>
            <a:ext cx="2146554" cy="274320"/>
          </a:xfrm>
          <a:prstGeom prst="rect">
            <a:avLst/>
          </a:prstGeom>
          <a:noFill/>
          <a:ln/>
        </p:spPr>
        <p:txBody>
          <a:bodyPr wrap="square" lIns="0" tIns="0" rIns="0" bIns="0" rtlCol="0" anchor="ctr"/>
          <a:lstStyle/>
          <a:p>
            <a:pPr indent="0" marL="0">
              <a:buNone/>
            </a:pPr>
            <a:r>
              <a:rPr lang="en-US" sz="1050" b="1" dirty="0">
                <a:solidFill>
                  <a:srgbClr val="1C2620"/>
                </a:solidFill>
                <a:latin typeface="Courier New" pitchFamily="34" charset="0"/>
                <a:ea typeface="Courier New" pitchFamily="34" charset="-122"/>
                <a:cs typeface="Courier New" pitchFamily="34" charset="-120"/>
              </a:rPr>
              <a:t>REPORT#&lt;uuid&gt;</a:t>
            </a:r>
            <a:endParaRPr lang="en-US" sz="1050" dirty="0"/>
          </a:p>
        </p:txBody>
      </p:sp>
      <p:sp>
        <p:nvSpPr>
          <p:cNvPr id="9" name="Shape 7"/>
          <p:cNvSpPr/>
          <p:nvPr/>
        </p:nvSpPr>
        <p:spPr>
          <a:xfrm>
            <a:off x="3417570" y="1965960"/>
            <a:ext cx="2548890" cy="1554480"/>
          </a:xfrm>
          <a:prstGeom prst="roundRect">
            <a:avLst>
              <a:gd name="adj" fmla="val 5882"/>
            </a:avLst>
          </a:prstGeom>
          <a:solidFill>
            <a:srgbClr val="F5F5F0"/>
          </a:solidFill>
          <a:ln w="12700">
            <a:solidFill>
              <a:srgbClr val="DCE3DA"/>
            </a:solidFill>
            <a:prstDash val="solid"/>
          </a:ln>
        </p:spPr>
      </p:sp>
      <p:sp>
        <p:nvSpPr>
          <p:cNvPr id="10" name="Text 8"/>
          <p:cNvSpPr txBox="1"/>
          <p:nvPr/>
        </p:nvSpPr>
        <p:spPr>
          <a:xfrm>
            <a:off x="3618738" y="2148840"/>
            <a:ext cx="2146554" cy="502920"/>
          </a:xfrm>
          <a:prstGeom prst="rect">
            <a:avLst/>
          </a:prstGeom>
          <a:noFill/>
          <a:ln/>
        </p:spPr>
        <p:txBody>
          <a:bodyPr wrap="square" lIns="0" tIns="0" rIns="0" bIns="0" rtlCol="0" anchor="ctr"/>
          <a:lstStyle/>
          <a:p>
            <a:pPr indent="0" marL="0">
              <a:lnSpc>
                <a:spcPts val="1800"/>
              </a:lnSpc>
              <a:buNone/>
            </a:pPr>
            <a:r>
              <a:rPr lang="en-US" sz="1400" b="1" dirty="0">
                <a:solidFill>
                  <a:srgbClr val="2C5F2D"/>
                </a:solidFill>
                <a:latin typeface="Cambria" pitchFamily="34" charset="0"/>
                <a:ea typeface="Cambria" pitchFamily="34" charset="-122"/>
                <a:cs typeface="Cambria" pitchFamily="34" charset="-120"/>
              </a:rPr>
              <a:t>¿Qué hay cerca de aquí?</a:t>
            </a:r>
            <a:endParaRPr lang="en-US" sz="1400" dirty="0"/>
          </a:p>
        </p:txBody>
      </p:sp>
      <p:sp>
        <p:nvSpPr>
          <p:cNvPr id="11" name="Text 9"/>
          <p:cNvSpPr txBox="1"/>
          <p:nvPr/>
        </p:nvSpPr>
        <p:spPr>
          <a:xfrm>
            <a:off x="3618738" y="2724912"/>
            <a:ext cx="2146554" cy="237744"/>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GSI1 · geohash</a:t>
            </a:r>
            <a:endParaRPr lang="en-US" sz="1100" dirty="0"/>
          </a:p>
        </p:txBody>
      </p:sp>
      <p:sp>
        <p:nvSpPr>
          <p:cNvPr id="12" name="Text 10"/>
          <p:cNvSpPr txBox="1"/>
          <p:nvPr/>
        </p:nvSpPr>
        <p:spPr>
          <a:xfrm>
            <a:off x="3618738" y="3017520"/>
            <a:ext cx="2146554" cy="274320"/>
          </a:xfrm>
          <a:prstGeom prst="rect">
            <a:avLst/>
          </a:prstGeom>
          <a:noFill/>
          <a:ln/>
        </p:spPr>
        <p:txBody>
          <a:bodyPr wrap="square" lIns="0" tIns="0" rIns="0" bIns="0" rtlCol="0" anchor="ctr"/>
          <a:lstStyle/>
          <a:p>
            <a:pPr indent="0" marL="0">
              <a:buNone/>
            </a:pPr>
            <a:r>
              <a:rPr lang="en-US" sz="1050" b="1" dirty="0">
                <a:solidFill>
                  <a:srgbClr val="1C2620"/>
                </a:solidFill>
                <a:latin typeface="Courier New" pitchFamily="34" charset="0"/>
                <a:ea typeface="Courier New" pitchFamily="34" charset="-122"/>
                <a:cs typeface="Courier New" pitchFamily="34" charset="-120"/>
              </a:rPr>
              <a:t>GEO#&lt;geohash6&gt;</a:t>
            </a:r>
            <a:endParaRPr lang="en-US" sz="1050" dirty="0"/>
          </a:p>
        </p:txBody>
      </p:sp>
      <p:sp>
        <p:nvSpPr>
          <p:cNvPr id="13" name="Shape 11"/>
          <p:cNvSpPr/>
          <p:nvPr/>
        </p:nvSpPr>
        <p:spPr>
          <a:xfrm>
            <a:off x="6195060" y="1965960"/>
            <a:ext cx="2548890" cy="1554480"/>
          </a:xfrm>
          <a:prstGeom prst="roundRect">
            <a:avLst>
              <a:gd name="adj" fmla="val 5882"/>
            </a:avLst>
          </a:prstGeom>
          <a:solidFill>
            <a:srgbClr val="F5F5F0"/>
          </a:solidFill>
          <a:ln w="12700">
            <a:solidFill>
              <a:srgbClr val="DCE3DA"/>
            </a:solidFill>
            <a:prstDash val="solid"/>
          </a:ln>
        </p:spPr>
      </p:sp>
      <p:sp>
        <p:nvSpPr>
          <p:cNvPr id="14" name="Text 12"/>
          <p:cNvSpPr txBox="1"/>
          <p:nvPr/>
        </p:nvSpPr>
        <p:spPr>
          <a:xfrm>
            <a:off x="6396228" y="2148840"/>
            <a:ext cx="2146554" cy="502920"/>
          </a:xfrm>
          <a:prstGeom prst="rect">
            <a:avLst/>
          </a:prstGeom>
          <a:noFill/>
          <a:ln/>
        </p:spPr>
        <p:txBody>
          <a:bodyPr wrap="square" lIns="0" tIns="0" rIns="0" bIns="0" rtlCol="0" anchor="ctr"/>
          <a:lstStyle/>
          <a:p>
            <a:pPr indent="0" marL="0">
              <a:lnSpc>
                <a:spcPts val="1800"/>
              </a:lnSpc>
              <a:buNone/>
            </a:pPr>
            <a:r>
              <a:rPr lang="en-US" sz="1400" b="1" dirty="0">
                <a:solidFill>
                  <a:srgbClr val="2C5F2D"/>
                </a:solidFill>
                <a:latin typeface="Cambria" pitchFamily="34" charset="0"/>
                <a:ea typeface="Cambria" pitchFamily="34" charset="-122"/>
                <a:cs typeface="Cambria" pitchFamily="34" charset="-120"/>
              </a:rPr>
              <a:t>¿Qué está pendiente?</a:t>
            </a:r>
            <a:endParaRPr lang="en-US" sz="1400" dirty="0"/>
          </a:p>
        </p:txBody>
      </p:sp>
      <p:sp>
        <p:nvSpPr>
          <p:cNvPr id="15" name="Text 13"/>
          <p:cNvSpPr txBox="1"/>
          <p:nvPr/>
        </p:nvSpPr>
        <p:spPr>
          <a:xfrm>
            <a:off x="6396228" y="2724912"/>
            <a:ext cx="2146554" cy="237744"/>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GSI2 · estado</a:t>
            </a:r>
            <a:endParaRPr lang="en-US" sz="1100" dirty="0"/>
          </a:p>
        </p:txBody>
      </p:sp>
      <p:sp>
        <p:nvSpPr>
          <p:cNvPr id="16" name="Text 14"/>
          <p:cNvSpPr txBox="1"/>
          <p:nvPr/>
        </p:nvSpPr>
        <p:spPr>
          <a:xfrm>
            <a:off x="6396228" y="3017520"/>
            <a:ext cx="2146554" cy="274320"/>
          </a:xfrm>
          <a:prstGeom prst="rect">
            <a:avLst/>
          </a:prstGeom>
          <a:noFill/>
          <a:ln/>
        </p:spPr>
        <p:txBody>
          <a:bodyPr wrap="square" lIns="0" tIns="0" rIns="0" bIns="0" rtlCol="0" anchor="ctr"/>
          <a:lstStyle/>
          <a:p>
            <a:pPr indent="0" marL="0">
              <a:buNone/>
            </a:pPr>
            <a:r>
              <a:rPr lang="en-US" sz="1050" b="1" dirty="0">
                <a:solidFill>
                  <a:srgbClr val="1C2620"/>
                </a:solidFill>
                <a:latin typeface="Courier New" pitchFamily="34" charset="0"/>
                <a:ea typeface="Courier New" pitchFamily="34" charset="-122"/>
                <a:cs typeface="Courier New" pitchFamily="34" charset="-120"/>
              </a:rPr>
              <a:t>STATUS#&lt;estado&gt;</a:t>
            </a:r>
            <a:endParaRPr lang="en-US" sz="1050" dirty="0"/>
          </a:p>
        </p:txBody>
      </p:sp>
      <p:sp>
        <p:nvSpPr>
          <p:cNvPr id="17" name="Shape 15"/>
          <p:cNvSpPr/>
          <p:nvPr/>
        </p:nvSpPr>
        <p:spPr>
          <a:xfrm>
            <a:off x="8972550" y="1965960"/>
            <a:ext cx="2548890" cy="1554480"/>
          </a:xfrm>
          <a:prstGeom prst="roundRect">
            <a:avLst>
              <a:gd name="adj" fmla="val 5882"/>
            </a:avLst>
          </a:prstGeom>
          <a:solidFill>
            <a:srgbClr val="F5F5F0"/>
          </a:solidFill>
          <a:ln w="12700">
            <a:solidFill>
              <a:srgbClr val="DCE3DA"/>
            </a:solidFill>
            <a:prstDash val="solid"/>
          </a:ln>
        </p:spPr>
      </p:sp>
      <p:sp>
        <p:nvSpPr>
          <p:cNvPr id="18" name="Text 16"/>
          <p:cNvSpPr txBox="1"/>
          <p:nvPr/>
        </p:nvSpPr>
        <p:spPr>
          <a:xfrm>
            <a:off x="9173718" y="2148840"/>
            <a:ext cx="2146554" cy="502920"/>
          </a:xfrm>
          <a:prstGeom prst="rect">
            <a:avLst/>
          </a:prstGeom>
          <a:noFill/>
          <a:ln/>
        </p:spPr>
        <p:txBody>
          <a:bodyPr wrap="square" lIns="0" tIns="0" rIns="0" bIns="0" rtlCol="0" anchor="ctr"/>
          <a:lstStyle/>
          <a:p>
            <a:pPr indent="0" marL="0">
              <a:lnSpc>
                <a:spcPts val="1800"/>
              </a:lnSpc>
              <a:buNone/>
            </a:pPr>
            <a:r>
              <a:rPr lang="en-US" sz="1400" b="1" dirty="0">
                <a:solidFill>
                  <a:srgbClr val="2C5F2D"/>
                </a:solidFill>
                <a:latin typeface="Cambria" pitchFamily="34" charset="0"/>
                <a:ea typeface="Cambria" pitchFamily="34" charset="-122"/>
                <a:cs typeface="Cambria" pitchFamily="34" charset="-120"/>
              </a:rPr>
              <a:t>¿De quién es esta foto?</a:t>
            </a:r>
            <a:endParaRPr lang="en-US" sz="1400" dirty="0"/>
          </a:p>
        </p:txBody>
      </p:sp>
      <p:sp>
        <p:nvSpPr>
          <p:cNvPr id="19" name="Text 17"/>
          <p:cNvSpPr txBox="1"/>
          <p:nvPr/>
        </p:nvSpPr>
        <p:spPr>
          <a:xfrm>
            <a:off x="9173718" y="2724912"/>
            <a:ext cx="2146554" cy="237744"/>
          </a:xfrm>
          <a:prstGeom prst="rect">
            <a:avLst/>
          </a:prstGeom>
          <a:noFill/>
          <a:ln/>
        </p:spPr>
        <p:txBody>
          <a:bodyPr wrap="square" lIns="0" tIns="0" rIns="0" bIns="0" rtlCol="0" anchor="ctr"/>
          <a:lstStyle/>
          <a:p>
            <a:pPr indent="0" marL="0">
              <a:buNone/>
            </a:pPr>
            <a:r>
              <a:rPr lang="en-US" sz="1100" dirty="0">
                <a:solidFill>
                  <a:srgbClr val="6B7A70"/>
                </a:solidFill>
                <a:latin typeface="Calibri" pitchFamily="34" charset="0"/>
                <a:ea typeface="Calibri" pitchFamily="34" charset="-122"/>
                <a:cs typeface="Calibri" pitchFamily="34" charset="-120"/>
              </a:rPr>
              <a:t>GSI3 · disperso</a:t>
            </a:r>
            <a:endParaRPr lang="en-US" sz="1100" dirty="0"/>
          </a:p>
        </p:txBody>
      </p:sp>
      <p:sp>
        <p:nvSpPr>
          <p:cNvPr id="20" name="Text 18"/>
          <p:cNvSpPr txBox="1"/>
          <p:nvPr/>
        </p:nvSpPr>
        <p:spPr>
          <a:xfrm>
            <a:off x="9173718" y="3017520"/>
            <a:ext cx="2146554" cy="274320"/>
          </a:xfrm>
          <a:prstGeom prst="rect">
            <a:avLst/>
          </a:prstGeom>
          <a:noFill/>
          <a:ln/>
        </p:spPr>
        <p:txBody>
          <a:bodyPr wrap="square" lIns="0" tIns="0" rIns="0" bIns="0" rtlCol="0" anchor="ctr"/>
          <a:lstStyle/>
          <a:p>
            <a:pPr indent="0" marL="0">
              <a:buNone/>
            </a:pPr>
            <a:r>
              <a:rPr lang="en-US" sz="1050" b="1" dirty="0">
                <a:solidFill>
                  <a:srgbClr val="1C2620"/>
                </a:solidFill>
                <a:latin typeface="Courier New" pitchFamily="34" charset="0"/>
                <a:ea typeface="Courier New" pitchFamily="34" charset="-122"/>
                <a:cs typeface="Courier New" pitchFamily="34" charset="-120"/>
              </a:rPr>
              <a:t>EVID#&lt;clave&gt;</a:t>
            </a:r>
            <a:endParaRPr lang="en-US" sz="1050" dirty="0"/>
          </a:p>
        </p:txBody>
      </p:sp>
      <p:sp>
        <p:nvSpPr>
          <p:cNvPr id="21" name="Text 19"/>
          <p:cNvSpPr txBox="1"/>
          <p:nvPr/>
        </p:nvSpPr>
        <p:spPr>
          <a:xfrm>
            <a:off x="640080" y="3840480"/>
            <a:ext cx="344424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Geohash a dos precisiones</a:t>
            </a:r>
            <a:endParaRPr lang="en-US" sz="1400" dirty="0"/>
          </a:p>
        </p:txBody>
      </p:sp>
      <p:sp>
        <p:nvSpPr>
          <p:cNvPr id="22" name="Text 20"/>
          <p:cNvSpPr txBox="1"/>
          <p:nvPr/>
        </p:nvSpPr>
        <p:spPr>
          <a:xfrm>
            <a:off x="640080" y="4160520"/>
            <a:ext cx="3444240" cy="1188720"/>
          </a:xfrm>
          <a:prstGeom prst="rect">
            <a:avLst/>
          </a:prstGeom>
          <a:noFill/>
          <a:ln/>
        </p:spPr>
        <p:txBody>
          <a:bodyPr wrap="square" lIns="0" tIns="0" rIns="0" bIns="0" rtlCol="0" anchor="ctr"/>
          <a:lstStyle/>
          <a:p>
            <a:pPr indent="0" marL="0">
              <a:lnSpc>
                <a:spcPts val="1700"/>
              </a:lnSpc>
              <a:buNone/>
            </a:pPr>
            <a:r>
              <a:rPr lang="en-US" sz="1150" dirty="0">
                <a:solidFill>
                  <a:srgbClr val="1C2620"/>
                </a:solidFill>
                <a:latin typeface="Calibri" pitchFamily="34" charset="0"/>
                <a:ea typeface="Calibri" pitchFamily="34" charset="-122"/>
                <a:cs typeface="Calibri" pitchFamily="34" charset="-120"/>
              </a:rPr>
              <a:t>Se guarda con precisión 7 (~153 m) pero se particiona por los 6 primeros caracteres (~1,2 km): un barrio completo en una sola consulta, sin partición caliente.</a:t>
            </a:r>
            <a:endParaRPr lang="en-US" sz="1150" dirty="0"/>
          </a:p>
        </p:txBody>
      </p:sp>
      <p:sp>
        <p:nvSpPr>
          <p:cNvPr id="23" name="Text 21"/>
          <p:cNvSpPr txBox="1"/>
          <p:nvPr/>
        </p:nvSpPr>
        <p:spPr>
          <a:xfrm>
            <a:off x="4358640" y="3840480"/>
            <a:ext cx="344424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Índice disperso</a:t>
            </a:r>
            <a:endParaRPr lang="en-US" sz="1400" dirty="0"/>
          </a:p>
        </p:txBody>
      </p:sp>
      <p:sp>
        <p:nvSpPr>
          <p:cNvPr id="24" name="Text 22"/>
          <p:cNvSpPr txBox="1"/>
          <p:nvPr/>
        </p:nvSpPr>
        <p:spPr>
          <a:xfrm>
            <a:off x="4358640" y="4160520"/>
            <a:ext cx="3444240" cy="1188720"/>
          </a:xfrm>
          <a:prstGeom prst="rect">
            <a:avLst/>
          </a:prstGeom>
          <a:noFill/>
          <a:ln/>
        </p:spPr>
        <p:txBody>
          <a:bodyPr wrap="square" lIns="0" tIns="0" rIns="0" bIns="0" rtlCol="0" anchor="ctr"/>
          <a:lstStyle/>
          <a:p>
            <a:pPr indent="0" marL="0">
              <a:lnSpc>
                <a:spcPts val="1700"/>
              </a:lnSpc>
              <a:buNone/>
            </a:pPr>
            <a:r>
              <a:rPr lang="en-US" sz="1150" dirty="0">
                <a:solidFill>
                  <a:srgbClr val="1C2620"/>
                </a:solidFill>
                <a:latin typeface="Calibri" pitchFamily="34" charset="0"/>
                <a:ea typeface="Calibri" pitchFamily="34" charset="-122"/>
                <a:cs typeface="Calibri" pitchFamily="34" charset="-120"/>
              </a:rPr>
              <a:t>GSI3 solo indexa reportes con evidencia, con proyección KEYS_ONLY. Sin él, cada foto subida costaría un Scan de la tabla entera.</a:t>
            </a:r>
            <a:endParaRPr lang="en-US" sz="1150" dirty="0"/>
          </a:p>
        </p:txBody>
      </p:sp>
      <p:sp>
        <p:nvSpPr>
          <p:cNvPr id="25" name="Text 23"/>
          <p:cNvSpPr txBox="1"/>
          <p:nvPr/>
        </p:nvSpPr>
        <p:spPr>
          <a:xfrm>
            <a:off x="8077200" y="3840480"/>
            <a:ext cx="3444240" cy="2743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TTL de 540 días</a:t>
            </a:r>
            <a:endParaRPr lang="en-US" sz="1400" dirty="0"/>
          </a:p>
        </p:txBody>
      </p:sp>
      <p:sp>
        <p:nvSpPr>
          <p:cNvPr id="26" name="Text 24"/>
          <p:cNvSpPr txBox="1"/>
          <p:nvPr/>
        </p:nvSpPr>
        <p:spPr>
          <a:xfrm>
            <a:off x="8077200" y="4160520"/>
            <a:ext cx="3444240" cy="1188720"/>
          </a:xfrm>
          <a:prstGeom prst="rect">
            <a:avLst/>
          </a:prstGeom>
          <a:noFill/>
          <a:ln/>
        </p:spPr>
        <p:txBody>
          <a:bodyPr wrap="square" lIns="0" tIns="0" rIns="0" bIns="0" rtlCol="0" anchor="ctr"/>
          <a:lstStyle/>
          <a:p>
            <a:pPr indent="0" marL="0">
              <a:lnSpc>
                <a:spcPts val="1700"/>
              </a:lnSpc>
              <a:buNone/>
            </a:pPr>
            <a:r>
              <a:rPr lang="en-US" sz="1150" dirty="0">
                <a:solidFill>
                  <a:srgbClr val="1C2620"/>
                </a:solidFill>
                <a:latin typeface="Calibri" pitchFamily="34" charset="0"/>
                <a:ea typeface="Calibri" pitchFamily="34" charset="-122"/>
                <a:cs typeface="Calibri" pitchFamily="34" charset="-120"/>
              </a:rPr>
              <a:t>Es a la vez decisión de privacidad y de costo: el reporte y su evidencia en S3 caducan juntos.</a:t>
            </a:r>
            <a:endParaRPr lang="en-US" sz="1150" dirty="0"/>
          </a:p>
        </p:txBody>
      </p:sp>
      <p:sp>
        <p:nvSpPr>
          <p:cNvPr id="27" name="Text 25"/>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28" name="Text 26"/>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ALGORITMO</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De reportes sueltos a puntos críticos priorizados</a:t>
            </a:r>
            <a:endParaRPr lang="en-US" sz="3400" dirty="0"/>
          </a:p>
        </p:txBody>
      </p:sp>
      <p:sp>
        <p:nvSpPr>
          <p:cNvPr id="4" name="Shape 2"/>
          <p:cNvSpPr/>
          <p:nvPr/>
        </p:nvSpPr>
        <p:spPr>
          <a:xfrm>
            <a:off x="640080" y="1472184"/>
            <a:ext cx="384048" cy="384048"/>
          </a:xfrm>
          <a:prstGeom prst="ellipse">
            <a:avLst/>
          </a:prstGeom>
          <a:solidFill>
            <a:srgbClr val="2C5F2D"/>
          </a:solidFill>
          <a:ln w="12700">
            <a:solidFill>
              <a:srgbClr val="2C5F2D"/>
            </a:solidFill>
            <a:prstDash val="solid"/>
          </a:ln>
        </p:spPr>
      </p:sp>
      <p:sp>
        <p:nvSpPr>
          <p:cNvPr id="5" name="Text 3"/>
          <p:cNvSpPr txBox="1"/>
          <p:nvPr/>
        </p:nvSpPr>
        <p:spPr>
          <a:xfrm>
            <a:off x="640080" y="14721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07008" y="1417320"/>
            <a:ext cx="6035040" cy="27432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Prefiltrado por geohash</a:t>
            </a:r>
            <a:endParaRPr lang="en-US" sz="1600" dirty="0"/>
          </a:p>
        </p:txBody>
      </p:sp>
      <p:sp>
        <p:nvSpPr>
          <p:cNvPr id="7" name="Text 5"/>
          <p:cNvSpPr txBox="1"/>
          <p:nvPr/>
        </p:nvSpPr>
        <p:spPr>
          <a:xfrm>
            <a:off x="1207008" y="1728216"/>
            <a:ext cx="6035040" cy="640080"/>
          </a:xfrm>
          <a:prstGeom prst="rect">
            <a:avLst/>
          </a:prstGeom>
          <a:noFill/>
          <a:ln/>
        </p:spPr>
        <p:txBody>
          <a:bodyPr wrap="square" lIns="0" tIns="0" rIns="0" bIns="0" rtlCol="0" anchor="ctr"/>
          <a:lstStyle/>
          <a:p>
            <a:pPr indent="0" marL="0">
              <a:lnSpc>
                <a:spcPts val="1600"/>
              </a:lnSpc>
              <a:buNone/>
            </a:pPr>
            <a:r>
              <a:rPr lang="en-US" sz="1200" dirty="0">
                <a:solidFill>
                  <a:srgbClr val="1C2620"/>
                </a:solidFill>
                <a:latin typeface="Calibri" pitchFamily="34" charset="0"/>
                <a:ea typeface="Calibri" pitchFamily="34" charset="-122"/>
                <a:cs typeface="Calibri" pitchFamily="34" charset="-120"/>
              </a:rPr>
              <a:t>Se consultan la celda del punto y sus vecinas en GSI1. Acota el conjunto a decenas de reportes sin escanear la tabla.</a:t>
            </a:r>
            <a:endParaRPr lang="en-US" sz="1200" dirty="0"/>
          </a:p>
        </p:txBody>
      </p:sp>
      <p:sp>
        <p:nvSpPr>
          <p:cNvPr id="8" name="Shape 6"/>
          <p:cNvSpPr/>
          <p:nvPr/>
        </p:nvSpPr>
        <p:spPr>
          <a:xfrm>
            <a:off x="640080" y="2496312"/>
            <a:ext cx="384048" cy="384048"/>
          </a:xfrm>
          <a:prstGeom prst="ellipse">
            <a:avLst/>
          </a:prstGeom>
          <a:solidFill>
            <a:srgbClr val="2C5F2D"/>
          </a:solidFill>
          <a:ln w="12700">
            <a:solidFill>
              <a:srgbClr val="2C5F2D"/>
            </a:solidFill>
            <a:prstDash val="solid"/>
          </a:ln>
        </p:spPr>
      </p:sp>
      <p:sp>
        <p:nvSpPr>
          <p:cNvPr id="9" name="Text 7"/>
          <p:cNvSpPr txBox="1"/>
          <p:nvPr/>
        </p:nvSpPr>
        <p:spPr>
          <a:xfrm>
            <a:off x="640080" y="24963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207008" y="2441448"/>
            <a:ext cx="6035040" cy="27432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Agrupamiento por densidad</a:t>
            </a:r>
            <a:endParaRPr lang="en-US" sz="1600" dirty="0"/>
          </a:p>
        </p:txBody>
      </p:sp>
      <p:sp>
        <p:nvSpPr>
          <p:cNvPr id="11" name="Text 9"/>
          <p:cNvSpPr txBox="1"/>
          <p:nvPr/>
        </p:nvSpPr>
        <p:spPr>
          <a:xfrm>
            <a:off x="1207008" y="2752344"/>
            <a:ext cx="6035040" cy="640080"/>
          </a:xfrm>
          <a:prstGeom prst="rect">
            <a:avLst/>
          </a:prstGeom>
          <a:noFill/>
          <a:ln/>
        </p:spPr>
        <p:txBody>
          <a:bodyPr wrap="square" lIns="0" tIns="0" rIns="0" bIns="0" rtlCol="0" anchor="ctr"/>
          <a:lstStyle/>
          <a:p>
            <a:pPr indent="0" marL="0">
              <a:lnSpc>
                <a:spcPts val="1600"/>
              </a:lnSpc>
              <a:buNone/>
            </a:pPr>
            <a:r>
              <a:rPr lang="en-US" sz="1200" dirty="0">
                <a:solidFill>
                  <a:srgbClr val="1C2620"/>
                </a:solidFill>
                <a:latin typeface="Calibri" pitchFamily="34" charset="0"/>
                <a:ea typeface="Calibri" pitchFamily="34" charset="-122"/>
                <a:cs typeface="Calibri" pitchFamily="34" charset="-120"/>
              </a:rPr>
              <a:t>Variante de DBSCAN sobre distancia de Haversine: cada reporte no asignado abre un grupo y absorbe a los que estén dentro del radio.</a:t>
            </a:r>
            <a:endParaRPr lang="en-US" sz="1200" dirty="0"/>
          </a:p>
        </p:txBody>
      </p:sp>
      <p:sp>
        <p:nvSpPr>
          <p:cNvPr id="12" name="Shape 10"/>
          <p:cNvSpPr/>
          <p:nvPr/>
        </p:nvSpPr>
        <p:spPr>
          <a:xfrm>
            <a:off x="640080" y="3520440"/>
            <a:ext cx="384048" cy="384048"/>
          </a:xfrm>
          <a:prstGeom prst="ellipse">
            <a:avLst/>
          </a:prstGeom>
          <a:solidFill>
            <a:srgbClr val="2C5F2D"/>
          </a:solidFill>
          <a:ln w="12700">
            <a:solidFill>
              <a:srgbClr val="2C5F2D"/>
            </a:solidFill>
            <a:prstDash val="solid"/>
          </a:ln>
        </p:spPr>
      </p:sp>
      <p:sp>
        <p:nvSpPr>
          <p:cNvPr id="13" name="Text 11"/>
          <p:cNvSpPr txBox="1"/>
          <p:nvPr/>
        </p:nvSpPr>
        <p:spPr>
          <a:xfrm>
            <a:off x="640080" y="35204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207008" y="3465576"/>
            <a:ext cx="6035040" cy="27432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Umbral de existencia</a:t>
            </a:r>
            <a:endParaRPr lang="en-US" sz="1600" dirty="0"/>
          </a:p>
        </p:txBody>
      </p:sp>
      <p:sp>
        <p:nvSpPr>
          <p:cNvPr id="15" name="Text 13"/>
          <p:cNvSpPr txBox="1"/>
          <p:nvPr/>
        </p:nvSpPr>
        <p:spPr>
          <a:xfrm>
            <a:off x="1207008" y="3776472"/>
            <a:ext cx="6035040" cy="640080"/>
          </a:xfrm>
          <a:prstGeom prst="rect">
            <a:avLst/>
          </a:prstGeom>
          <a:noFill/>
          <a:ln/>
        </p:spPr>
        <p:txBody>
          <a:bodyPr wrap="square" lIns="0" tIns="0" rIns="0" bIns="0" rtlCol="0" anchor="ctr"/>
          <a:lstStyle/>
          <a:p>
            <a:pPr indent="0" marL="0">
              <a:lnSpc>
                <a:spcPts val="1600"/>
              </a:lnSpc>
              <a:buNone/>
            </a:pPr>
            <a:r>
              <a:rPr lang="en-US" sz="1200" dirty="0">
                <a:solidFill>
                  <a:srgbClr val="1C2620"/>
                </a:solidFill>
                <a:latin typeface="Calibri" pitchFamily="34" charset="0"/>
                <a:ea typeface="Calibri" pitchFamily="34" charset="-122"/>
                <a:cs typeface="Calibri" pitchFamily="34" charset="-120"/>
              </a:rPr>
              <a:t>Un grupo es punto crítico solo con 3 o más reportes. Evita que una queja aislada movilice una cuadrilla.</a:t>
            </a:r>
            <a:endParaRPr lang="en-US" sz="1200" dirty="0"/>
          </a:p>
        </p:txBody>
      </p:sp>
      <p:sp>
        <p:nvSpPr>
          <p:cNvPr id="16" name="Shape 14"/>
          <p:cNvSpPr/>
          <p:nvPr/>
        </p:nvSpPr>
        <p:spPr>
          <a:xfrm>
            <a:off x="640080" y="4544568"/>
            <a:ext cx="384048" cy="384048"/>
          </a:xfrm>
          <a:prstGeom prst="ellipse">
            <a:avLst/>
          </a:prstGeom>
          <a:solidFill>
            <a:srgbClr val="2C5F2D"/>
          </a:solidFill>
          <a:ln w="12700">
            <a:solidFill>
              <a:srgbClr val="2C5F2D"/>
            </a:solidFill>
            <a:prstDash val="solid"/>
          </a:ln>
        </p:spPr>
      </p:sp>
      <p:sp>
        <p:nvSpPr>
          <p:cNvPr id="17" name="Text 15"/>
          <p:cNvSpPr txBox="1"/>
          <p:nvPr/>
        </p:nvSpPr>
        <p:spPr>
          <a:xfrm>
            <a:off x="640080" y="45445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207008" y="4489704"/>
            <a:ext cx="6035040" cy="27432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Priorización</a:t>
            </a:r>
            <a:endParaRPr lang="en-US" sz="1600" dirty="0"/>
          </a:p>
        </p:txBody>
      </p:sp>
      <p:sp>
        <p:nvSpPr>
          <p:cNvPr id="19" name="Text 17"/>
          <p:cNvSpPr txBox="1"/>
          <p:nvPr/>
        </p:nvSpPr>
        <p:spPr>
          <a:xfrm>
            <a:off x="1207008" y="4800600"/>
            <a:ext cx="6035040" cy="640080"/>
          </a:xfrm>
          <a:prstGeom prst="rect">
            <a:avLst/>
          </a:prstGeom>
          <a:noFill/>
          <a:ln/>
        </p:spPr>
        <p:txBody>
          <a:bodyPr wrap="square" lIns="0" tIns="0" rIns="0" bIns="0" rtlCol="0" anchor="ctr"/>
          <a:lstStyle/>
          <a:p>
            <a:pPr indent="0" marL="0">
              <a:lnSpc>
                <a:spcPts val="1600"/>
              </a:lnSpc>
              <a:buNone/>
            </a:pPr>
            <a:r>
              <a:rPr lang="en-US" sz="1200" dirty="0">
                <a:solidFill>
                  <a:srgbClr val="1C2620"/>
                </a:solidFill>
                <a:latin typeface="Calibri" pitchFamily="34" charset="0"/>
                <a:ea typeface="Calibri" pitchFamily="34" charset="-122"/>
                <a:cs typeface="Calibri" pitchFamily="34" charset="-120"/>
              </a:rPr>
              <a:t>Severidad acumulada ordena los grupos; la categoría dominante define el protocolo de manejo.</a:t>
            </a:r>
            <a:endParaRPr lang="en-US" sz="1200" dirty="0"/>
          </a:p>
        </p:txBody>
      </p:sp>
      <p:sp>
        <p:nvSpPr>
          <p:cNvPr id="20" name="Shape 18"/>
          <p:cNvSpPr/>
          <p:nvPr/>
        </p:nvSpPr>
        <p:spPr>
          <a:xfrm>
            <a:off x="7680960" y="1417320"/>
            <a:ext cx="3840480" cy="4114800"/>
          </a:xfrm>
          <a:prstGeom prst="roundRect">
            <a:avLst>
              <a:gd name="adj" fmla="val 2381"/>
            </a:avLst>
          </a:prstGeom>
          <a:solidFill>
            <a:srgbClr val="1A3A1B"/>
          </a:solidFill>
          <a:ln w="12700">
            <a:solidFill>
              <a:srgbClr val="DCE3DA"/>
            </a:solidFill>
            <a:prstDash val="solid"/>
          </a:ln>
        </p:spPr>
      </p:sp>
      <p:sp>
        <p:nvSpPr>
          <p:cNvPr id="21" name="Text 19"/>
          <p:cNvSpPr txBox="1"/>
          <p:nvPr/>
        </p:nvSpPr>
        <p:spPr>
          <a:xfrm>
            <a:off x="8001000" y="1645920"/>
            <a:ext cx="3657600" cy="237744"/>
          </a:xfrm>
          <a:prstGeom prst="rect">
            <a:avLst/>
          </a:prstGeom>
          <a:noFill/>
          <a:ln/>
        </p:spPr>
        <p:txBody>
          <a:bodyPr wrap="square" lIns="0" tIns="0" rIns="0" bIns="0" rtlCol="0" anchor="ctr"/>
          <a:lstStyle/>
          <a:p>
            <a:pPr indent="0" marL="0">
              <a:buNone/>
            </a:pPr>
            <a:r>
              <a:rPr lang="en-US" sz="1000" b="1" spc="150" kern="0" dirty="0">
                <a:solidFill>
                  <a:srgbClr val="97BC62"/>
                </a:solidFill>
                <a:latin typeface="Calibri" pitchFamily="34" charset="0"/>
                <a:ea typeface="Calibri" pitchFamily="34" charset="-122"/>
                <a:cs typeface="Calibri" pitchFamily="34" charset="-120"/>
              </a:rPr>
              <a:t>COMPORTAMIENTO VERIFICADO</a:t>
            </a:r>
            <a:endParaRPr lang="en-US" sz="1000" dirty="0"/>
          </a:p>
        </p:txBody>
      </p:sp>
      <p:sp>
        <p:nvSpPr>
          <p:cNvPr id="22" name="Text 20"/>
          <p:cNvSpPr txBox="1"/>
          <p:nvPr/>
        </p:nvSpPr>
        <p:spPr>
          <a:xfrm>
            <a:off x="8001000" y="2011680"/>
            <a:ext cx="3657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4 reportes en 8 m</a:t>
            </a:r>
            <a:endParaRPr lang="en-US" sz="1150" dirty="0"/>
          </a:p>
        </p:txBody>
      </p:sp>
      <p:sp>
        <p:nvSpPr>
          <p:cNvPr id="23" name="Text 21"/>
          <p:cNvSpPr txBox="1"/>
          <p:nvPr/>
        </p:nvSpPr>
        <p:spPr>
          <a:xfrm>
            <a:off x="8001000" y="2240280"/>
            <a:ext cx="3657600" cy="402336"/>
          </a:xfrm>
          <a:prstGeom prst="rect">
            <a:avLst/>
          </a:prstGeom>
          <a:noFill/>
          <a:ln/>
        </p:spPr>
        <p:txBody>
          <a:bodyPr wrap="square" lIns="0" tIns="0" rIns="0" bIns="0" rtlCol="0" anchor="ctr"/>
          <a:lstStyle/>
          <a:p>
            <a:pPr indent="0" marL="0">
              <a:lnSpc>
                <a:spcPts val="1400"/>
              </a:lnSpc>
              <a:buNone/>
            </a:pPr>
            <a:r>
              <a:rPr lang="en-US" sz="1100" dirty="0">
                <a:solidFill>
                  <a:srgbClr val="97BC62"/>
                </a:solidFill>
                <a:latin typeface="Calibri" pitchFamily="34" charset="0"/>
                <a:ea typeface="Calibri" pitchFamily="34" charset="-122"/>
                <a:cs typeface="Calibri" pitchFamily="34" charset="-120"/>
              </a:rPr>
              <a:t>1 punto crítico · severidad 15 · prioridad Alta</a:t>
            </a:r>
            <a:endParaRPr lang="en-US" sz="1100" dirty="0"/>
          </a:p>
        </p:txBody>
      </p:sp>
      <p:sp>
        <p:nvSpPr>
          <p:cNvPr id="24" name="Text 22"/>
          <p:cNvSpPr txBox="1"/>
          <p:nvPr/>
        </p:nvSpPr>
        <p:spPr>
          <a:xfrm>
            <a:off x="8001000" y="2706624"/>
            <a:ext cx="3657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Los mismos, ya atendidos</a:t>
            </a:r>
            <a:endParaRPr lang="en-US" sz="1150" dirty="0"/>
          </a:p>
        </p:txBody>
      </p:sp>
      <p:sp>
        <p:nvSpPr>
          <p:cNvPr id="25" name="Text 23"/>
          <p:cNvSpPr txBox="1"/>
          <p:nvPr/>
        </p:nvSpPr>
        <p:spPr>
          <a:xfrm>
            <a:off x="8001000" y="2935224"/>
            <a:ext cx="3657600" cy="402336"/>
          </a:xfrm>
          <a:prstGeom prst="rect">
            <a:avLst/>
          </a:prstGeom>
          <a:noFill/>
          <a:ln/>
        </p:spPr>
        <p:txBody>
          <a:bodyPr wrap="square" lIns="0" tIns="0" rIns="0" bIns="0" rtlCol="0" anchor="ctr"/>
          <a:lstStyle/>
          <a:p>
            <a:pPr indent="0" marL="0">
              <a:lnSpc>
                <a:spcPts val="1400"/>
              </a:lnSpc>
              <a:buNone/>
            </a:pPr>
            <a:r>
              <a:rPr lang="en-US" sz="1100" dirty="0">
                <a:solidFill>
                  <a:srgbClr val="97BC62"/>
                </a:solidFill>
                <a:latin typeface="Calibri" pitchFamily="34" charset="0"/>
                <a:ea typeface="Calibri" pitchFamily="34" charset="-122"/>
                <a:cs typeface="Calibri" pitchFamily="34" charset="-120"/>
              </a:rPr>
              <a:t>0 puntos: lo cerrado sale del análisis</a:t>
            </a:r>
            <a:endParaRPr lang="en-US" sz="1100" dirty="0"/>
          </a:p>
        </p:txBody>
      </p:sp>
      <p:sp>
        <p:nvSpPr>
          <p:cNvPr id="26" name="Text 24"/>
          <p:cNvSpPr txBox="1"/>
          <p:nvPr/>
        </p:nvSpPr>
        <p:spPr>
          <a:xfrm>
            <a:off x="8001000" y="3401568"/>
            <a:ext cx="3657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Solo 2 reportes cercanos</a:t>
            </a:r>
            <a:endParaRPr lang="en-US" sz="1150" dirty="0"/>
          </a:p>
        </p:txBody>
      </p:sp>
      <p:sp>
        <p:nvSpPr>
          <p:cNvPr id="27" name="Text 25"/>
          <p:cNvSpPr txBox="1"/>
          <p:nvPr/>
        </p:nvSpPr>
        <p:spPr>
          <a:xfrm>
            <a:off x="8001000" y="3630168"/>
            <a:ext cx="3657600" cy="402336"/>
          </a:xfrm>
          <a:prstGeom prst="rect">
            <a:avLst/>
          </a:prstGeom>
          <a:noFill/>
          <a:ln/>
        </p:spPr>
        <p:txBody>
          <a:bodyPr wrap="square" lIns="0" tIns="0" rIns="0" bIns="0" rtlCol="0" anchor="ctr"/>
          <a:lstStyle/>
          <a:p>
            <a:pPr indent="0" marL="0">
              <a:lnSpc>
                <a:spcPts val="1400"/>
              </a:lnSpc>
              <a:buNone/>
            </a:pPr>
            <a:r>
              <a:rPr lang="en-US" sz="1100" dirty="0">
                <a:solidFill>
                  <a:srgbClr val="97BC62"/>
                </a:solidFill>
                <a:latin typeface="Calibri" pitchFamily="34" charset="0"/>
                <a:ea typeface="Calibri" pitchFamily="34" charset="-122"/>
                <a:cs typeface="Calibri" pitchFamily="34" charset="-120"/>
              </a:rPr>
              <a:t>0 puntos: no alcanza el umbral</a:t>
            </a:r>
            <a:endParaRPr lang="en-US" sz="1100" dirty="0"/>
          </a:p>
        </p:txBody>
      </p:sp>
      <p:sp>
        <p:nvSpPr>
          <p:cNvPr id="28" name="Text 26"/>
          <p:cNvSpPr txBox="1"/>
          <p:nvPr/>
        </p:nvSpPr>
        <p:spPr>
          <a:xfrm>
            <a:off x="8001000" y="4096512"/>
            <a:ext cx="3657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3 cercanos + 3 a 4 km</a:t>
            </a:r>
            <a:endParaRPr lang="en-US" sz="1150" dirty="0"/>
          </a:p>
        </p:txBody>
      </p:sp>
      <p:sp>
        <p:nvSpPr>
          <p:cNvPr id="29" name="Text 27"/>
          <p:cNvSpPr txBox="1"/>
          <p:nvPr/>
        </p:nvSpPr>
        <p:spPr>
          <a:xfrm>
            <a:off x="8001000" y="4325112"/>
            <a:ext cx="3657600" cy="402336"/>
          </a:xfrm>
          <a:prstGeom prst="rect">
            <a:avLst/>
          </a:prstGeom>
          <a:noFill/>
          <a:ln/>
        </p:spPr>
        <p:txBody>
          <a:bodyPr wrap="square" lIns="0" tIns="0" rIns="0" bIns="0" rtlCol="0" anchor="ctr"/>
          <a:lstStyle/>
          <a:p>
            <a:pPr indent="0" marL="0">
              <a:lnSpc>
                <a:spcPts val="1400"/>
              </a:lnSpc>
              <a:buNone/>
            </a:pPr>
            <a:r>
              <a:rPr lang="en-US" sz="1100" dirty="0">
                <a:solidFill>
                  <a:srgbClr val="97BC62"/>
                </a:solidFill>
                <a:latin typeface="Calibri" pitchFamily="34" charset="0"/>
                <a:ea typeface="Calibri" pitchFamily="34" charset="-122"/>
                <a:cs typeface="Calibri" pitchFamily="34" charset="-120"/>
              </a:rPr>
              <a:t>2 puntos independientes</a:t>
            </a:r>
            <a:endParaRPr lang="en-US" sz="1100" dirty="0"/>
          </a:p>
        </p:txBody>
      </p:sp>
      <p:sp>
        <p:nvSpPr>
          <p:cNvPr id="30" name="Text 28"/>
          <p:cNvSpPr txBox="1"/>
          <p:nvPr/>
        </p:nvSpPr>
        <p:spPr>
          <a:xfrm>
            <a:off x="8001000" y="4791456"/>
            <a:ext cx="3657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Radio pedido: 99.999 m</a:t>
            </a:r>
            <a:endParaRPr lang="en-US" sz="1150" dirty="0"/>
          </a:p>
        </p:txBody>
      </p:sp>
      <p:sp>
        <p:nvSpPr>
          <p:cNvPr id="31" name="Text 29"/>
          <p:cNvSpPr txBox="1"/>
          <p:nvPr/>
        </p:nvSpPr>
        <p:spPr>
          <a:xfrm>
            <a:off x="8001000" y="5020056"/>
            <a:ext cx="3657600" cy="402336"/>
          </a:xfrm>
          <a:prstGeom prst="rect">
            <a:avLst/>
          </a:prstGeom>
          <a:noFill/>
          <a:ln/>
        </p:spPr>
        <p:txBody>
          <a:bodyPr wrap="square" lIns="0" tIns="0" rIns="0" bIns="0" rtlCol="0" anchor="ctr"/>
          <a:lstStyle/>
          <a:p>
            <a:pPr indent="0" marL="0">
              <a:lnSpc>
                <a:spcPts val="1400"/>
              </a:lnSpc>
              <a:buNone/>
            </a:pPr>
            <a:r>
              <a:rPr lang="en-US" sz="1100" dirty="0">
                <a:solidFill>
                  <a:srgbClr val="97BC62"/>
                </a:solidFill>
                <a:latin typeface="Calibri" pitchFamily="34" charset="0"/>
                <a:ea typeface="Calibri" pitchFamily="34" charset="-122"/>
                <a:cs typeface="Calibri" pitchFamily="34" charset="-120"/>
              </a:rPr>
              <a:t>Se acota a 1000 m en el servidor</a:t>
            </a:r>
            <a:endParaRPr lang="en-US" sz="1100" dirty="0"/>
          </a:p>
        </p:txBody>
      </p:sp>
      <p:sp>
        <p:nvSpPr>
          <p:cNvPr id="32" name="Text 30"/>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33" name="Text 31"/>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INGENIERÍA</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Seguridad y privacidad por diseño</a:t>
            </a:r>
            <a:endParaRPr lang="en-US" sz="3400" dirty="0"/>
          </a:p>
        </p:txBody>
      </p:sp>
      <p:sp>
        <p:nvSpPr>
          <p:cNvPr id="4" name="Shape 2"/>
          <p:cNvSpPr/>
          <p:nvPr/>
        </p:nvSpPr>
        <p:spPr>
          <a:xfrm>
            <a:off x="640080" y="1417320"/>
            <a:ext cx="5257800" cy="1143000"/>
          </a:xfrm>
          <a:prstGeom prst="roundRect">
            <a:avLst>
              <a:gd name="adj" fmla="val 8000"/>
            </a:avLst>
          </a:prstGeom>
          <a:solidFill>
            <a:srgbClr val="F5F5F0"/>
          </a:solidFill>
          <a:ln w="12700">
            <a:solidFill>
              <a:srgbClr val="DCE3DA"/>
            </a:solidFill>
            <a:prstDash val="solid"/>
          </a:ln>
        </p:spPr>
      </p:sp>
      <p:sp>
        <p:nvSpPr>
          <p:cNvPr id="5" name="Text 3"/>
          <p:cNvSpPr txBox="1"/>
          <p:nvPr/>
        </p:nvSpPr>
        <p:spPr>
          <a:xfrm>
            <a:off x="896112" y="1581912"/>
            <a:ext cx="4745736" cy="27432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Autenticación en el borde</a:t>
            </a:r>
            <a:endParaRPr lang="en-US" sz="1500" dirty="0"/>
          </a:p>
        </p:txBody>
      </p:sp>
      <p:sp>
        <p:nvSpPr>
          <p:cNvPr id="6" name="Text 4"/>
          <p:cNvSpPr txBox="1"/>
          <p:nvPr/>
        </p:nvSpPr>
        <p:spPr>
          <a:xfrm>
            <a:off x="896112" y="1892808"/>
            <a:ext cx="4745736" cy="566928"/>
          </a:xfrm>
          <a:prstGeom prst="rect">
            <a:avLst/>
          </a:prstGeom>
          <a:noFill/>
          <a:ln/>
        </p:spPr>
        <p:txBody>
          <a:bodyPr wrap="square" lIns="0" tIns="0" rIns="0" bIns="0" rtlCol="0" anchor="ctr"/>
          <a:lstStyle/>
          <a:p>
            <a:pPr indent="0" marL="0">
              <a:lnSpc>
                <a:spcPts val="1600"/>
              </a:lnSpc>
              <a:buNone/>
            </a:pPr>
            <a:r>
              <a:rPr lang="en-US" sz="1150" dirty="0">
                <a:solidFill>
                  <a:srgbClr val="1C2620"/>
                </a:solidFill>
                <a:latin typeface="Calibri" pitchFamily="34" charset="0"/>
                <a:ea typeface="Calibri" pitchFamily="34" charset="-122"/>
                <a:cs typeface="Calibri" pitchFamily="34" charset="-120"/>
              </a:rPr>
              <a:t>API Gateway valida el JWT antes de invocar código propio. Una petición sin credenciales nunca ejecuta una Lambda.</a:t>
            </a:r>
            <a:endParaRPr lang="en-US" sz="1150" dirty="0"/>
          </a:p>
        </p:txBody>
      </p:sp>
      <p:sp>
        <p:nvSpPr>
          <p:cNvPr id="7" name="Shape 5"/>
          <p:cNvSpPr/>
          <p:nvPr/>
        </p:nvSpPr>
        <p:spPr>
          <a:xfrm>
            <a:off x="640080" y="2743200"/>
            <a:ext cx="5257800" cy="1143000"/>
          </a:xfrm>
          <a:prstGeom prst="roundRect">
            <a:avLst>
              <a:gd name="adj" fmla="val 8000"/>
            </a:avLst>
          </a:prstGeom>
          <a:solidFill>
            <a:srgbClr val="F5F5F0"/>
          </a:solidFill>
          <a:ln w="12700">
            <a:solidFill>
              <a:srgbClr val="DCE3DA"/>
            </a:solidFill>
            <a:prstDash val="solid"/>
          </a:ln>
        </p:spPr>
      </p:sp>
      <p:sp>
        <p:nvSpPr>
          <p:cNvPr id="8" name="Text 6"/>
          <p:cNvSpPr txBox="1"/>
          <p:nvPr/>
        </p:nvSpPr>
        <p:spPr>
          <a:xfrm>
            <a:off x="896112" y="2907792"/>
            <a:ext cx="4745736" cy="27432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Mínimo privilegio real</a:t>
            </a:r>
            <a:endParaRPr lang="en-US" sz="1500" dirty="0"/>
          </a:p>
        </p:txBody>
      </p:sp>
      <p:sp>
        <p:nvSpPr>
          <p:cNvPr id="9" name="Text 7"/>
          <p:cNvSpPr txBox="1"/>
          <p:nvPr/>
        </p:nvSpPr>
        <p:spPr>
          <a:xfrm>
            <a:off x="896112" y="3218688"/>
            <a:ext cx="4745736" cy="566928"/>
          </a:xfrm>
          <a:prstGeom prst="rect">
            <a:avLst/>
          </a:prstGeom>
          <a:noFill/>
          <a:ln/>
        </p:spPr>
        <p:txBody>
          <a:bodyPr wrap="square" lIns="0" tIns="0" rIns="0" bIns="0" rtlCol="0" anchor="ctr"/>
          <a:lstStyle/>
          <a:p>
            <a:pPr indent="0" marL="0">
              <a:lnSpc>
                <a:spcPts val="1600"/>
              </a:lnSpc>
              <a:buNone/>
            </a:pPr>
            <a:r>
              <a:rPr lang="en-US" sz="1150" dirty="0">
                <a:solidFill>
                  <a:srgbClr val="1C2620"/>
                </a:solidFill>
                <a:latin typeface="Calibri" pitchFamily="34" charset="0"/>
                <a:ea typeface="Calibri" pitchFamily="34" charset="-122"/>
                <a:cs typeface="Calibri" pitchFamily="34" charset="-120"/>
              </a:rPr>
              <a:t>Ocho roles IAM, uno por función. get_report solo lee; presign_evidence solo firma en un prefijo del bucket.</a:t>
            </a:r>
            <a:endParaRPr lang="en-US" sz="1150" dirty="0"/>
          </a:p>
        </p:txBody>
      </p:sp>
      <p:sp>
        <p:nvSpPr>
          <p:cNvPr id="10" name="Shape 8"/>
          <p:cNvSpPr/>
          <p:nvPr/>
        </p:nvSpPr>
        <p:spPr>
          <a:xfrm>
            <a:off x="640080" y="4069080"/>
            <a:ext cx="5257800" cy="1143000"/>
          </a:xfrm>
          <a:prstGeom prst="roundRect">
            <a:avLst>
              <a:gd name="adj" fmla="val 8000"/>
            </a:avLst>
          </a:prstGeom>
          <a:solidFill>
            <a:srgbClr val="F5F5F0"/>
          </a:solidFill>
          <a:ln w="12700">
            <a:solidFill>
              <a:srgbClr val="DCE3DA"/>
            </a:solidFill>
            <a:prstDash val="solid"/>
          </a:ln>
        </p:spPr>
      </p:sp>
      <p:sp>
        <p:nvSpPr>
          <p:cNvPr id="11" name="Text 9"/>
          <p:cNvSpPr txBox="1"/>
          <p:nvPr/>
        </p:nvSpPr>
        <p:spPr>
          <a:xfrm>
            <a:off x="896112" y="4233672"/>
            <a:ext cx="4745736" cy="27432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Cifrado extremo a extremo</a:t>
            </a:r>
            <a:endParaRPr lang="en-US" sz="1500" dirty="0"/>
          </a:p>
        </p:txBody>
      </p:sp>
      <p:sp>
        <p:nvSpPr>
          <p:cNvPr id="12" name="Text 10"/>
          <p:cNvSpPr txBox="1"/>
          <p:nvPr/>
        </p:nvSpPr>
        <p:spPr>
          <a:xfrm>
            <a:off x="896112" y="4544568"/>
            <a:ext cx="4745736" cy="566928"/>
          </a:xfrm>
          <a:prstGeom prst="rect">
            <a:avLst/>
          </a:prstGeom>
          <a:noFill/>
          <a:ln/>
        </p:spPr>
        <p:txBody>
          <a:bodyPr wrap="square" lIns="0" tIns="0" rIns="0" bIns="0" rtlCol="0" anchor="ctr"/>
          <a:lstStyle/>
          <a:p>
            <a:pPr indent="0" marL="0">
              <a:lnSpc>
                <a:spcPts val="1600"/>
              </a:lnSpc>
              <a:buNone/>
            </a:pPr>
            <a:r>
              <a:rPr lang="en-US" sz="1150" dirty="0">
                <a:solidFill>
                  <a:srgbClr val="1C2620"/>
                </a:solidFill>
                <a:latin typeface="Calibri" pitchFamily="34" charset="0"/>
                <a:ea typeface="Calibri" pitchFamily="34" charset="-122"/>
                <a:cs typeface="Calibri" pitchFamily="34" charset="-120"/>
              </a:rPr>
              <a:t>TLS obligatorio por política de bucket; KMS con rotación anual en DynamoDB, S3, logs, SNS y SQS.</a:t>
            </a:r>
            <a:endParaRPr lang="en-US" sz="1150" dirty="0"/>
          </a:p>
        </p:txBody>
      </p:sp>
      <p:sp>
        <p:nvSpPr>
          <p:cNvPr id="13" name="Shape 11"/>
          <p:cNvSpPr/>
          <p:nvPr/>
        </p:nvSpPr>
        <p:spPr>
          <a:xfrm>
            <a:off x="6263640" y="1417320"/>
            <a:ext cx="5257800" cy="1143000"/>
          </a:xfrm>
          <a:prstGeom prst="roundRect">
            <a:avLst>
              <a:gd name="adj" fmla="val 8000"/>
            </a:avLst>
          </a:prstGeom>
          <a:solidFill>
            <a:srgbClr val="F5F5F0"/>
          </a:solidFill>
          <a:ln w="12700">
            <a:solidFill>
              <a:srgbClr val="DCE3DA"/>
            </a:solidFill>
            <a:prstDash val="solid"/>
          </a:ln>
        </p:spPr>
      </p:sp>
      <p:sp>
        <p:nvSpPr>
          <p:cNvPr id="14" name="Text 12"/>
          <p:cNvSpPr txBox="1"/>
          <p:nvPr/>
        </p:nvSpPr>
        <p:spPr>
          <a:xfrm>
            <a:off x="6519672" y="1581912"/>
            <a:ext cx="4745736" cy="27432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Minimización de datos</a:t>
            </a:r>
            <a:endParaRPr lang="en-US" sz="1500" dirty="0"/>
          </a:p>
        </p:txBody>
      </p:sp>
      <p:sp>
        <p:nvSpPr>
          <p:cNvPr id="15" name="Text 13"/>
          <p:cNvSpPr txBox="1"/>
          <p:nvPr/>
        </p:nvSpPr>
        <p:spPr>
          <a:xfrm>
            <a:off x="6519672" y="1892808"/>
            <a:ext cx="4745736" cy="566928"/>
          </a:xfrm>
          <a:prstGeom prst="rect">
            <a:avLst/>
          </a:prstGeom>
          <a:noFill/>
          <a:ln/>
        </p:spPr>
        <p:txBody>
          <a:bodyPr wrap="square" lIns="0" tIns="0" rIns="0" bIns="0" rtlCol="0" anchor="ctr"/>
          <a:lstStyle/>
          <a:p>
            <a:pPr indent="0" marL="0">
              <a:lnSpc>
                <a:spcPts val="1600"/>
              </a:lnSpc>
              <a:buNone/>
            </a:pPr>
            <a:r>
              <a:rPr lang="en-US" sz="1150" dirty="0">
                <a:solidFill>
                  <a:srgbClr val="1C2620"/>
                </a:solidFill>
                <a:latin typeface="Calibri" pitchFamily="34" charset="0"/>
                <a:ea typeface="Calibri" pitchFamily="34" charset="-122"/>
                <a:cs typeface="Calibri" pitchFamily="34" charset="-120"/>
              </a:rPr>
              <a:t>No se pide nombre, cédula ni teléfono. La única identidad es el sub opaco de Cognito.</a:t>
            </a:r>
            <a:endParaRPr lang="en-US" sz="1150" dirty="0"/>
          </a:p>
        </p:txBody>
      </p:sp>
      <p:sp>
        <p:nvSpPr>
          <p:cNvPr id="16" name="Shape 14"/>
          <p:cNvSpPr/>
          <p:nvPr/>
        </p:nvSpPr>
        <p:spPr>
          <a:xfrm>
            <a:off x="6263640" y="2743200"/>
            <a:ext cx="5257800" cy="1143000"/>
          </a:xfrm>
          <a:prstGeom prst="roundRect">
            <a:avLst>
              <a:gd name="adj" fmla="val 8000"/>
            </a:avLst>
          </a:prstGeom>
          <a:solidFill>
            <a:srgbClr val="F5F5F0"/>
          </a:solidFill>
          <a:ln w="12700">
            <a:solidFill>
              <a:srgbClr val="DCE3DA"/>
            </a:solidFill>
            <a:prstDash val="solid"/>
          </a:ln>
        </p:spPr>
      </p:sp>
      <p:sp>
        <p:nvSpPr>
          <p:cNvPr id="17" name="Text 15"/>
          <p:cNvSpPr txBox="1"/>
          <p:nvPr/>
        </p:nvSpPr>
        <p:spPr>
          <a:xfrm>
            <a:off x="6519672" y="2907792"/>
            <a:ext cx="4745736" cy="27432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Seudonimización en logs</a:t>
            </a:r>
            <a:endParaRPr lang="en-US" sz="1500" dirty="0"/>
          </a:p>
        </p:txBody>
      </p:sp>
      <p:sp>
        <p:nvSpPr>
          <p:cNvPr id="18" name="Text 16"/>
          <p:cNvSpPr txBox="1"/>
          <p:nvPr/>
        </p:nvSpPr>
        <p:spPr>
          <a:xfrm>
            <a:off x="6519672" y="3218688"/>
            <a:ext cx="4745736" cy="566928"/>
          </a:xfrm>
          <a:prstGeom prst="rect">
            <a:avLst/>
          </a:prstGeom>
          <a:noFill/>
          <a:ln/>
        </p:spPr>
        <p:txBody>
          <a:bodyPr wrap="square" lIns="0" tIns="0" rIns="0" bIns="0" rtlCol="0" anchor="ctr"/>
          <a:lstStyle/>
          <a:p>
            <a:pPr indent="0" marL="0">
              <a:lnSpc>
                <a:spcPts val="1600"/>
              </a:lnSpc>
              <a:buNone/>
            </a:pPr>
            <a:r>
              <a:rPr lang="en-US" sz="1150" dirty="0">
                <a:solidFill>
                  <a:srgbClr val="1C2620"/>
                </a:solidFill>
                <a:latin typeface="Calibri" pitchFamily="34" charset="0"/>
                <a:ea typeface="Calibri" pitchFamily="34" charset="-122"/>
                <a:cs typeface="Calibri" pitchFamily="34" charset="-120"/>
              </a:rPr>
              <a:t>Se registra sha256(user_id) truncado: suficiente para correlacionar, insuficiente para identificar.</a:t>
            </a:r>
            <a:endParaRPr lang="en-US" sz="1150" dirty="0"/>
          </a:p>
        </p:txBody>
      </p:sp>
      <p:sp>
        <p:nvSpPr>
          <p:cNvPr id="19" name="Shape 17"/>
          <p:cNvSpPr/>
          <p:nvPr/>
        </p:nvSpPr>
        <p:spPr>
          <a:xfrm>
            <a:off x="6263640" y="4069080"/>
            <a:ext cx="5257800" cy="1143000"/>
          </a:xfrm>
          <a:prstGeom prst="roundRect">
            <a:avLst>
              <a:gd name="adj" fmla="val 8000"/>
            </a:avLst>
          </a:prstGeom>
          <a:solidFill>
            <a:srgbClr val="F5F5F0"/>
          </a:solidFill>
          <a:ln w="12700">
            <a:solidFill>
              <a:srgbClr val="DCE3DA"/>
            </a:solidFill>
            <a:prstDash val="solid"/>
          </a:ln>
        </p:spPr>
      </p:sp>
      <p:sp>
        <p:nvSpPr>
          <p:cNvPr id="20" name="Text 18"/>
          <p:cNvSpPr txBox="1"/>
          <p:nvPr/>
        </p:nvSpPr>
        <p:spPr>
          <a:xfrm>
            <a:off x="6519672" y="4233672"/>
            <a:ext cx="4745736" cy="27432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Sin fuga en los errores</a:t>
            </a:r>
            <a:endParaRPr lang="en-US" sz="1500" dirty="0"/>
          </a:p>
        </p:txBody>
      </p:sp>
      <p:sp>
        <p:nvSpPr>
          <p:cNvPr id="21" name="Text 19"/>
          <p:cNvSpPr txBox="1"/>
          <p:nvPr/>
        </p:nvSpPr>
        <p:spPr>
          <a:xfrm>
            <a:off x="6519672" y="4544568"/>
            <a:ext cx="4745736" cy="566928"/>
          </a:xfrm>
          <a:prstGeom prst="rect">
            <a:avLst/>
          </a:prstGeom>
          <a:noFill/>
          <a:ln/>
        </p:spPr>
        <p:txBody>
          <a:bodyPr wrap="square" lIns="0" tIns="0" rIns="0" bIns="0" rtlCol="0" anchor="ctr"/>
          <a:lstStyle/>
          <a:p>
            <a:pPr indent="0" marL="0">
              <a:lnSpc>
                <a:spcPts val="1600"/>
              </a:lnSpc>
              <a:buNone/>
            </a:pPr>
            <a:r>
              <a:rPr lang="en-US" sz="1150" dirty="0">
                <a:solidFill>
                  <a:srgbClr val="1C2620"/>
                </a:solidFill>
                <a:latin typeface="Calibri" pitchFamily="34" charset="0"/>
                <a:ea typeface="Calibri" pitchFamily="34" charset="-122"/>
                <a:cs typeface="Calibri" pitchFamily="34" charset="-120"/>
              </a:rPr>
              <a:t>Un fallo interno devuelve 500 genérico con request_id. Hay una prueba que lo verifica.</a:t>
            </a:r>
            <a:endParaRPr lang="en-US" sz="1150" dirty="0"/>
          </a:p>
        </p:txBody>
      </p:sp>
      <p:sp>
        <p:nvSpPr>
          <p:cNvPr id="22" name="Shape 20"/>
          <p:cNvSpPr/>
          <p:nvPr/>
        </p:nvSpPr>
        <p:spPr>
          <a:xfrm>
            <a:off x="640080" y="5440680"/>
            <a:ext cx="10881360" cy="777240"/>
          </a:xfrm>
          <a:prstGeom prst="roundRect">
            <a:avLst>
              <a:gd name="adj" fmla="val 11765"/>
            </a:avLst>
          </a:prstGeom>
          <a:solidFill>
            <a:srgbClr val="F5F5F0"/>
          </a:solidFill>
          <a:ln w="12700">
            <a:solidFill>
              <a:srgbClr val="DCE3DA"/>
            </a:solidFill>
            <a:prstDash val="solid"/>
          </a:ln>
        </p:spPr>
      </p:sp>
      <p:sp>
        <p:nvSpPr>
          <p:cNvPr id="23" name="Text 21"/>
          <p:cNvSpPr txBox="1"/>
          <p:nvPr/>
        </p:nvSpPr>
        <p:spPr>
          <a:xfrm>
            <a:off x="960120" y="5614416"/>
            <a:ext cx="10241280" cy="457200"/>
          </a:xfrm>
          <a:prstGeom prst="rect">
            <a:avLst/>
          </a:prstGeom>
          <a:noFill/>
          <a:ln/>
        </p:spPr>
        <p:txBody>
          <a:bodyPr wrap="square" lIns="0" tIns="0" rIns="0" bIns="0" rtlCol="0" anchor="ctr"/>
          <a:lstStyle/>
          <a:p>
            <a:pPr indent="0" marL="0">
              <a:lnSpc>
                <a:spcPts val="1600"/>
              </a:lnSpc>
              <a:buNone/>
            </a:pPr>
            <a:r>
              <a:rPr lang="en-US" sz="1150" i="1" dirty="0">
                <a:solidFill>
                  <a:srgbClr val="1C2620"/>
                </a:solidFill>
                <a:latin typeface="Calibri" pitchFamily="34" charset="0"/>
                <a:ea typeface="Calibri" pitchFamily="34" charset="-122"/>
                <a:cs typeface="Calibri" pitchFamily="34" charset="-120"/>
              </a:rPr>
              <a:t>Deuda reconocida: sin verificación anti-fraude por EXIF, sin WAF, sin desenfoque automático de rostros y sin reproceso automático de la DLQ. Documentarlo es parte del rigor.</a:t>
            </a:r>
            <a:endParaRPr lang="en-US" sz="1150" dirty="0"/>
          </a:p>
        </p:txBody>
      </p:sp>
      <p:sp>
        <p:nvSpPr>
          <p:cNvPr id="24" name="Text 22"/>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25" name="Text 23"/>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CALIDAD</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Prácticas de ingeniería que sostienen el resultado</a:t>
            </a:r>
            <a:endParaRPr lang="en-US" sz="3400" dirty="0"/>
          </a:p>
        </p:txBody>
      </p:sp>
      <p:sp>
        <p:nvSpPr>
          <p:cNvPr id="4" name="Shape 2"/>
          <p:cNvSpPr/>
          <p:nvPr/>
        </p:nvSpPr>
        <p:spPr>
          <a:xfrm>
            <a:off x="640080" y="1371600"/>
            <a:ext cx="2514600" cy="1600200"/>
          </a:xfrm>
          <a:prstGeom prst="roundRect">
            <a:avLst>
              <a:gd name="adj" fmla="val 5714"/>
            </a:avLst>
          </a:prstGeom>
          <a:solidFill>
            <a:srgbClr val="F5F5F0"/>
          </a:solidFill>
          <a:ln w="12700">
            <a:solidFill>
              <a:srgbClr val="DCE3DA"/>
            </a:solidFill>
            <a:prstDash val="solid"/>
          </a:ln>
        </p:spPr>
      </p:sp>
      <p:sp>
        <p:nvSpPr>
          <p:cNvPr id="5" name="Text 3"/>
          <p:cNvSpPr txBox="1"/>
          <p:nvPr/>
        </p:nvSpPr>
        <p:spPr>
          <a:xfrm>
            <a:off x="868680" y="1536192"/>
            <a:ext cx="2057400" cy="685800"/>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112</a:t>
            </a:r>
            <a:endParaRPr lang="en-US" sz="4000" dirty="0"/>
          </a:p>
        </p:txBody>
      </p:sp>
      <p:sp>
        <p:nvSpPr>
          <p:cNvPr id="6" name="Text 4"/>
          <p:cNvSpPr txBox="1"/>
          <p:nvPr/>
        </p:nvSpPr>
        <p:spPr>
          <a:xfrm>
            <a:off x="868680" y="2240280"/>
            <a:ext cx="2057400" cy="274320"/>
          </a:xfrm>
          <a:prstGeom prst="rect">
            <a:avLst/>
          </a:prstGeom>
          <a:noFill/>
          <a:ln/>
        </p:spPr>
        <p:txBody>
          <a:bodyPr wrap="square" lIns="0" tIns="0" rIns="0" bIns="0" rtlCol="0" anchor="ctr"/>
          <a:lstStyle/>
          <a:p>
            <a:pPr indent="0" marL="0">
              <a:buNone/>
            </a:pPr>
            <a:r>
              <a:rPr lang="en-US" sz="1300" b="1" dirty="0">
                <a:solidFill>
                  <a:srgbClr val="1C2620"/>
                </a:solidFill>
                <a:latin typeface="Calibri" pitchFamily="34" charset="0"/>
                <a:ea typeface="Calibri" pitchFamily="34" charset="-122"/>
                <a:cs typeface="Calibri" pitchFamily="34" charset="-120"/>
              </a:rPr>
              <a:t>Pruebas automatizadas</a:t>
            </a:r>
            <a:endParaRPr lang="en-US" sz="1300" dirty="0"/>
          </a:p>
        </p:txBody>
      </p:sp>
      <p:sp>
        <p:nvSpPr>
          <p:cNvPr id="7" name="Text 5"/>
          <p:cNvSpPr txBox="1"/>
          <p:nvPr/>
        </p:nvSpPr>
        <p:spPr>
          <a:xfrm>
            <a:off x="868680" y="2514600"/>
            <a:ext cx="2057400" cy="384048"/>
          </a:xfrm>
          <a:prstGeom prst="rect">
            <a:avLst/>
          </a:prstGeom>
          <a:noFill/>
          <a:ln/>
        </p:spPr>
        <p:txBody>
          <a:bodyPr wrap="square" lIns="0" tIns="0" rIns="0" bIns="0" rtlCol="0" anchor="ctr"/>
          <a:lstStyle/>
          <a:p>
            <a:pPr indent="0" marL="0">
              <a:buNone/>
            </a:pPr>
            <a:r>
              <a:rPr lang="en-US" sz="1050" dirty="0">
                <a:solidFill>
                  <a:srgbClr val="6B7A70"/>
                </a:solidFill>
                <a:latin typeface="Calibri" pitchFamily="34" charset="0"/>
                <a:ea typeface="Calibri" pitchFamily="34" charset="-122"/>
                <a:cs typeface="Calibri" pitchFamily="34" charset="-120"/>
              </a:rPr>
              <a:t>Corren sin credenciales de AWS y sin red</a:t>
            </a:r>
            <a:endParaRPr lang="en-US" sz="1050" dirty="0"/>
          </a:p>
        </p:txBody>
      </p:sp>
      <p:sp>
        <p:nvSpPr>
          <p:cNvPr id="8" name="Shape 6"/>
          <p:cNvSpPr/>
          <p:nvPr/>
        </p:nvSpPr>
        <p:spPr>
          <a:xfrm>
            <a:off x="3429000" y="1371600"/>
            <a:ext cx="2514600" cy="1600200"/>
          </a:xfrm>
          <a:prstGeom prst="roundRect">
            <a:avLst>
              <a:gd name="adj" fmla="val 5714"/>
            </a:avLst>
          </a:prstGeom>
          <a:solidFill>
            <a:srgbClr val="F5F5F0"/>
          </a:solidFill>
          <a:ln w="12700">
            <a:solidFill>
              <a:srgbClr val="DCE3DA"/>
            </a:solidFill>
            <a:prstDash val="solid"/>
          </a:ln>
        </p:spPr>
      </p:sp>
      <p:sp>
        <p:nvSpPr>
          <p:cNvPr id="9" name="Text 7"/>
          <p:cNvSpPr txBox="1"/>
          <p:nvPr/>
        </p:nvSpPr>
        <p:spPr>
          <a:xfrm>
            <a:off x="3657600" y="1536192"/>
            <a:ext cx="2057400" cy="685800"/>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82 %</a:t>
            </a:r>
            <a:endParaRPr lang="en-US" sz="4000" dirty="0"/>
          </a:p>
        </p:txBody>
      </p:sp>
      <p:sp>
        <p:nvSpPr>
          <p:cNvPr id="10" name="Text 8"/>
          <p:cNvSpPr txBox="1"/>
          <p:nvPr/>
        </p:nvSpPr>
        <p:spPr>
          <a:xfrm>
            <a:off x="3657600" y="2240280"/>
            <a:ext cx="2057400" cy="274320"/>
          </a:xfrm>
          <a:prstGeom prst="rect">
            <a:avLst/>
          </a:prstGeom>
          <a:noFill/>
          <a:ln/>
        </p:spPr>
        <p:txBody>
          <a:bodyPr wrap="square" lIns="0" tIns="0" rIns="0" bIns="0" rtlCol="0" anchor="ctr"/>
          <a:lstStyle/>
          <a:p>
            <a:pPr indent="0" marL="0">
              <a:buNone/>
            </a:pPr>
            <a:r>
              <a:rPr lang="en-US" sz="1300" b="1" dirty="0">
                <a:solidFill>
                  <a:srgbClr val="1C2620"/>
                </a:solidFill>
                <a:latin typeface="Calibri" pitchFamily="34" charset="0"/>
                <a:ea typeface="Calibri" pitchFamily="34" charset="-122"/>
                <a:cs typeface="Calibri" pitchFamily="34" charset="-120"/>
              </a:rPr>
              <a:t>Cobertura total</a:t>
            </a:r>
            <a:endParaRPr lang="en-US" sz="1300" dirty="0"/>
          </a:p>
        </p:txBody>
      </p:sp>
      <p:sp>
        <p:nvSpPr>
          <p:cNvPr id="11" name="Text 9"/>
          <p:cNvSpPr txBox="1"/>
          <p:nvPr/>
        </p:nvSpPr>
        <p:spPr>
          <a:xfrm>
            <a:off x="3657600" y="2514600"/>
            <a:ext cx="2057400" cy="384048"/>
          </a:xfrm>
          <a:prstGeom prst="rect">
            <a:avLst/>
          </a:prstGeom>
          <a:noFill/>
          <a:ln/>
        </p:spPr>
        <p:txBody>
          <a:bodyPr wrap="square" lIns="0" tIns="0" rIns="0" bIns="0" rtlCol="0" anchor="ctr"/>
          <a:lstStyle/>
          <a:p>
            <a:pPr indent="0" marL="0">
              <a:buNone/>
            </a:pPr>
            <a:r>
              <a:rPr lang="en-US" sz="1050" dirty="0">
                <a:solidFill>
                  <a:srgbClr val="6B7A70"/>
                </a:solidFill>
                <a:latin typeface="Calibri" pitchFamily="34" charset="0"/>
                <a:ea typeface="Calibri" pitchFamily="34" charset="-122"/>
                <a:cs typeface="Calibri" pitchFamily="34" charset="-120"/>
              </a:rPr>
              <a:t>Dominio y servicios al 100 %</a:t>
            </a:r>
            <a:endParaRPr lang="en-US" sz="1050" dirty="0"/>
          </a:p>
        </p:txBody>
      </p:sp>
      <p:sp>
        <p:nvSpPr>
          <p:cNvPr id="12" name="Shape 10"/>
          <p:cNvSpPr/>
          <p:nvPr/>
        </p:nvSpPr>
        <p:spPr>
          <a:xfrm>
            <a:off x="6217920" y="1371600"/>
            <a:ext cx="2514600" cy="1600200"/>
          </a:xfrm>
          <a:prstGeom prst="roundRect">
            <a:avLst>
              <a:gd name="adj" fmla="val 5714"/>
            </a:avLst>
          </a:prstGeom>
          <a:solidFill>
            <a:srgbClr val="F5F5F0"/>
          </a:solidFill>
          <a:ln w="12700">
            <a:solidFill>
              <a:srgbClr val="DCE3DA"/>
            </a:solidFill>
            <a:prstDash val="solid"/>
          </a:ln>
        </p:spPr>
      </p:sp>
      <p:sp>
        <p:nvSpPr>
          <p:cNvPr id="13" name="Text 11"/>
          <p:cNvSpPr txBox="1"/>
          <p:nvPr/>
        </p:nvSpPr>
        <p:spPr>
          <a:xfrm>
            <a:off x="6446520" y="1536192"/>
            <a:ext cx="2057400" cy="685800"/>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8</a:t>
            </a:r>
            <a:endParaRPr lang="en-US" sz="4000" dirty="0"/>
          </a:p>
        </p:txBody>
      </p:sp>
      <p:sp>
        <p:nvSpPr>
          <p:cNvPr id="14" name="Text 12"/>
          <p:cNvSpPr txBox="1"/>
          <p:nvPr/>
        </p:nvSpPr>
        <p:spPr>
          <a:xfrm>
            <a:off x="6446520" y="2240280"/>
            <a:ext cx="2057400" cy="274320"/>
          </a:xfrm>
          <a:prstGeom prst="rect">
            <a:avLst/>
          </a:prstGeom>
          <a:noFill/>
          <a:ln/>
        </p:spPr>
        <p:txBody>
          <a:bodyPr wrap="square" lIns="0" tIns="0" rIns="0" bIns="0" rtlCol="0" anchor="ctr"/>
          <a:lstStyle/>
          <a:p>
            <a:pPr indent="0" marL="0">
              <a:buNone/>
            </a:pPr>
            <a:r>
              <a:rPr lang="en-US" sz="1300" b="1" dirty="0">
                <a:solidFill>
                  <a:srgbClr val="1C2620"/>
                </a:solidFill>
                <a:latin typeface="Calibri" pitchFamily="34" charset="0"/>
                <a:ea typeface="Calibri" pitchFamily="34" charset="-122"/>
                <a:cs typeface="Calibri" pitchFamily="34" charset="-120"/>
              </a:rPr>
              <a:t>Roles IAM</a:t>
            </a:r>
            <a:endParaRPr lang="en-US" sz="1300" dirty="0"/>
          </a:p>
        </p:txBody>
      </p:sp>
      <p:sp>
        <p:nvSpPr>
          <p:cNvPr id="15" name="Text 13"/>
          <p:cNvSpPr txBox="1"/>
          <p:nvPr/>
        </p:nvSpPr>
        <p:spPr>
          <a:xfrm>
            <a:off x="6446520" y="2514600"/>
            <a:ext cx="2057400" cy="384048"/>
          </a:xfrm>
          <a:prstGeom prst="rect">
            <a:avLst/>
          </a:prstGeom>
          <a:noFill/>
          <a:ln/>
        </p:spPr>
        <p:txBody>
          <a:bodyPr wrap="square" lIns="0" tIns="0" rIns="0" bIns="0" rtlCol="0" anchor="ctr"/>
          <a:lstStyle/>
          <a:p>
            <a:pPr indent="0" marL="0">
              <a:buNone/>
            </a:pPr>
            <a:r>
              <a:rPr lang="en-US" sz="1050" dirty="0">
                <a:solidFill>
                  <a:srgbClr val="6B7A70"/>
                </a:solidFill>
                <a:latin typeface="Calibri" pitchFamily="34" charset="0"/>
                <a:ea typeface="Calibri" pitchFamily="34" charset="-122"/>
                <a:cs typeface="Calibri" pitchFamily="34" charset="-120"/>
              </a:rPr>
              <a:t>Uno por función, permisos declarados</a:t>
            </a:r>
            <a:endParaRPr lang="en-US" sz="1050" dirty="0"/>
          </a:p>
        </p:txBody>
      </p:sp>
      <p:sp>
        <p:nvSpPr>
          <p:cNvPr id="16" name="Shape 14"/>
          <p:cNvSpPr/>
          <p:nvPr/>
        </p:nvSpPr>
        <p:spPr>
          <a:xfrm>
            <a:off x="9006840" y="1371600"/>
            <a:ext cx="2514600" cy="1600200"/>
          </a:xfrm>
          <a:prstGeom prst="roundRect">
            <a:avLst>
              <a:gd name="adj" fmla="val 5714"/>
            </a:avLst>
          </a:prstGeom>
          <a:solidFill>
            <a:srgbClr val="F5F5F0"/>
          </a:solidFill>
          <a:ln w="12700">
            <a:solidFill>
              <a:srgbClr val="DCE3DA"/>
            </a:solidFill>
            <a:prstDash val="solid"/>
          </a:ln>
        </p:spPr>
      </p:sp>
      <p:sp>
        <p:nvSpPr>
          <p:cNvPr id="17" name="Text 15"/>
          <p:cNvSpPr txBox="1"/>
          <p:nvPr/>
        </p:nvSpPr>
        <p:spPr>
          <a:xfrm>
            <a:off x="9235440" y="1536192"/>
            <a:ext cx="2057400" cy="685800"/>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0</a:t>
            </a:r>
            <a:endParaRPr lang="en-US" sz="4000" dirty="0"/>
          </a:p>
        </p:txBody>
      </p:sp>
      <p:sp>
        <p:nvSpPr>
          <p:cNvPr id="18" name="Text 16"/>
          <p:cNvSpPr txBox="1"/>
          <p:nvPr/>
        </p:nvSpPr>
        <p:spPr>
          <a:xfrm>
            <a:off x="9235440" y="2240280"/>
            <a:ext cx="2057400" cy="274320"/>
          </a:xfrm>
          <a:prstGeom prst="rect">
            <a:avLst/>
          </a:prstGeom>
          <a:noFill/>
          <a:ln/>
        </p:spPr>
        <p:txBody>
          <a:bodyPr wrap="square" lIns="0" tIns="0" rIns="0" bIns="0" rtlCol="0" anchor="ctr"/>
          <a:lstStyle/>
          <a:p>
            <a:pPr indent="0" marL="0">
              <a:buNone/>
            </a:pPr>
            <a:r>
              <a:rPr lang="en-US" sz="1300" b="1" dirty="0">
                <a:solidFill>
                  <a:srgbClr val="1C2620"/>
                </a:solidFill>
                <a:latin typeface="Calibri" pitchFamily="34" charset="0"/>
                <a:ea typeface="Calibri" pitchFamily="34" charset="-122"/>
                <a:cs typeface="Calibri" pitchFamily="34" charset="-120"/>
              </a:rPr>
              <a:t>Recursos creados a mano</a:t>
            </a:r>
            <a:endParaRPr lang="en-US" sz="1300" dirty="0"/>
          </a:p>
        </p:txBody>
      </p:sp>
      <p:sp>
        <p:nvSpPr>
          <p:cNvPr id="19" name="Text 17"/>
          <p:cNvSpPr txBox="1"/>
          <p:nvPr/>
        </p:nvSpPr>
        <p:spPr>
          <a:xfrm>
            <a:off x="9235440" y="2514600"/>
            <a:ext cx="2057400" cy="384048"/>
          </a:xfrm>
          <a:prstGeom prst="rect">
            <a:avLst/>
          </a:prstGeom>
          <a:noFill/>
          <a:ln/>
        </p:spPr>
        <p:txBody>
          <a:bodyPr wrap="square" lIns="0" tIns="0" rIns="0" bIns="0" rtlCol="0" anchor="ctr"/>
          <a:lstStyle/>
          <a:p>
            <a:pPr indent="0" marL="0">
              <a:buNone/>
            </a:pPr>
            <a:r>
              <a:rPr lang="en-US" sz="1050" dirty="0">
                <a:solidFill>
                  <a:srgbClr val="6B7A70"/>
                </a:solidFill>
                <a:latin typeface="Calibri" pitchFamily="34" charset="0"/>
                <a:ea typeface="Calibri" pitchFamily="34" charset="-122"/>
                <a:cs typeface="Calibri" pitchFamily="34" charset="-120"/>
              </a:rPr>
              <a:t>Toda la infraestructura en Terraform</a:t>
            </a:r>
            <a:endParaRPr lang="en-US" sz="1050" dirty="0"/>
          </a:p>
        </p:txBody>
      </p:sp>
      <p:graphicFrame>
        <p:nvGraphicFramePr>
          <p:cNvPr id="20" name="Chart 0" descr=""/>
          <p:cNvGraphicFramePr/>
          <p:nvPr/>
        </p:nvGraphicFramePr>
        <p:xfrm>
          <a:off x="640080" y="3429000"/>
          <a:ext cx="5760720" cy="237744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6766560" y="3310128"/>
            <a:ext cx="4754880" cy="237744"/>
          </a:xfrm>
          <a:prstGeom prst="rect">
            <a:avLst/>
          </a:prstGeom>
          <a:noFill/>
          <a:ln/>
        </p:spPr>
        <p:txBody>
          <a:bodyPr wrap="square" lIns="0" tIns="0" rIns="0" bIns="0" rtlCol="0" anchor="ctr"/>
          <a:lstStyle/>
          <a:p>
            <a:pPr indent="0" marL="0">
              <a:buNone/>
            </a:pPr>
            <a:r>
              <a:rPr lang="en-US" sz="1350" b="1" dirty="0">
                <a:solidFill>
                  <a:srgbClr val="2C5F2D"/>
                </a:solidFill>
                <a:latin typeface="Cambria" pitchFamily="34" charset="0"/>
                <a:ea typeface="Cambria" pitchFamily="34" charset="-122"/>
                <a:cs typeface="Cambria" pitchFamily="34" charset="-120"/>
              </a:rPr>
              <a:t>Dependencias hacia el dominio</a:t>
            </a:r>
            <a:endParaRPr lang="en-US" sz="1350" dirty="0"/>
          </a:p>
        </p:txBody>
      </p:sp>
      <p:sp>
        <p:nvSpPr>
          <p:cNvPr id="22" name="Text 19"/>
          <p:cNvSpPr txBox="1"/>
          <p:nvPr/>
        </p:nvSpPr>
        <p:spPr>
          <a:xfrm>
            <a:off x="6766560" y="3547872"/>
            <a:ext cx="4754880" cy="384048"/>
          </a:xfrm>
          <a:prstGeom prst="rect">
            <a:avLst/>
          </a:prstGeom>
          <a:noFill/>
          <a:ln/>
        </p:spPr>
        <p:txBody>
          <a:bodyPr wrap="square" lIns="0" tIns="0" rIns="0" bIns="0" rtlCol="0" anchor="ctr"/>
          <a:lstStyle/>
          <a:p>
            <a:pPr indent="0" marL="0">
              <a:lnSpc>
                <a:spcPts val="1400"/>
              </a:lnSpc>
              <a:buNone/>
            </a:pPr>
            <a:r>
              <a:rPr lang="en-US" sz="1100" dirty="0">
                <a:solidFill>
                  <a:srgbClr val="1C2620"/>
                </a:solidFill>
                <a:latin typeface="Calibri" pitchFamily="34" charset="0"/>
                <a:ea typeface="Calibri" pitchFamily="34" charset="-122"/>
                <a:cs typeface="Calibri" pitchFamily="34" charset="-120"/>
              </a:rPr>
              <a:t>Handlers delgados sobre una capa de servicios que no conoce HTTP ni AWS.</a:t>
            </a:r>
            <a:endParaRPr lang="en-US" sz="1100" dirty="0"/>
          </a:p>
        </p:txBody>
      </p:sp>
      <p:sp>
        <p:nvSpPr>
          <p:cNvPr id="23" name="Text 20"/>
          <p:cNvSpPr txBox="1"/>
          <p:nvPr/>
        </p:nvSpPr>
        <p:spPr>
          <a:xfrm>
            <a:off x="6766560" y="3968496"/>
            <a:ext cx="4754880" cy="237744"/>
          </a:xfrm>
          <a:prstGeom prst="rect">
            <a:avLst/>
          </a:prstGeom>
          <a:noFill/>
          <a:ln/>
        </p:spPr>
        <p:txBody>
          <a:bodyPr wrap="square" lIns="0" tIns="0" rIns="0" bIns="0" rtlCol="0" anchor="ctr"/>
          <a:lstStyle/>
          <a:p>
            <a:pPr indent="0" marL="0">
              <a:buNone/>
            </a:pPr>
            <a:r>
              <a:rPr lang="en-US" sz="1350" b="1" dirty="0">
                <a:solidFill>
                  <a:srgbClr val="2C5F2D"/>
                </a:solidFill>
                <a:latin typeface="Cambria" pitchFamily="34" charset="0"/>
                <a:ea typeface="Cambria" pitchFamily="34" charset="-122"/>
                <a:cs typeface="Cambria" pitchFamily="34" charset="-120"/>
              </a:rPr>
              <a:t>Repositorio intercambiable</a:t>
            </a:r>
            <a:endParaRPr lang="en-US" sz="1350" dirty="0"/>
          </a:p>
        </p:txBody>
      </p:sp>
      <p:sp>
        <p:nvSpPr>
          <p:cNvPr id="24" name="Text 21"/>
          <p:cNvSpPr txBox="1"/>
          <p:nvPr/>
        </p:nvSpPr>
        <p:spPr>
          <a:xfrm>
            <a:off x="6766560" y="4206240"/>
            <a:ext cx="4754880" cy="384048"/>
          </a:xfrm>
          <a:prstGeom prst="rect">
            <a:avLst/>
          </a:prstGeom>
          <a:noFill/>
          <a:ln/>
        </p:spPr>
        <p:txBody>
          <a:bodyPr wrap="square" lIns="0" tIns="0" rIns="0" bIns="0" rtlCol="0" anchor="ctr"/>
          <a:lstStyle/>
          <a:p>
            <a:pPr indent="0" marL="0">
              <a:lnSpc>
                <a:spcPts val="1400"/>
              </a:lnSpc>
              <a:buNone/>
            </a:pPr>
            <a:r>
              <a:rPr lang="en-US" sz="1100" dirty="0">
                <a:solidFill>
                  <a:srgbClr val="1C2620"/>
                </a:solidFill>
                <a:latin typeface="Calibri" pitchFamily="34" charset="0"/>
                <a:ea typeface="Calibri" pitchFamily="34" charset="-122"/>
                <a:cs typeface="Calibri" pitchFamily="34" charset="-120"/>
              </a:rPr>
              <a:t>Un doble en memoria con la misma semántica permite probar sin nube.</a:t>
            </a:r>
            <a:endParaRPr lang="en-US" sz="1100" dirty="0"/>
          </a:p>
        </p:txBody>
      </p:sp>
      <p:sp>
        <p:nvSpPr>
          <p:cNvPr id="25" name="Text 22"/>
          <p:cNvSpPr txBox="1"/>
          <p:nvPr/>
        </p:nvSpPr>
        <p:spPr>
          <a:xfrm>
            <a:off x="6766560" y="4626864"/>
            <a:ext cx="4754880" cy="237744"/>
          </a:xfrm>
          <a:prstGeom prst="rect">
            <a:avLst/>
          </a:prstGeom>
          <a:noFill/>
          <a:ln/>
        </p:spPr>
        <p:txBody>
          <a:bodyPr wrap="square" lIns="0" tIns="0" rIns="0" bIns="0" rtlCol="0" anchor="ctr"/>
          <a:lstStyle/>
          <a:p>
            <a:pPr indent="0" marL="0">
              <a:buNone/>
            </a:pPr>
            <a:r>
              <a:rPr lang="en-US" sz="1350" b="1" dirty="0">
                <a:solidFill>
                  <a:srgbClr val="2C5F2D"/>
                </a:solidFill>
                <a:latin typeface="Cambria" pitchFamily="34" charset="0"/>
                <a:ea typeface="Cambria" pitchFamily="34" charset="-122"/>
                <a:cs typeface="Cambria" pitchFamily="34" charset="-120"/>
              </a:rPr>
              <a:t>CI en cada push</a:t>
            </a:r>
            <a:endParaRPr lang="en-US" sz="1350" dirty="0"/>
          </a:p>
        </p:txBody>
      </p:sp>
      <p:sp>
        <p:nvSpPr>
          <p:cNvPr id="26" name="Text 23"/>
          <p:cNvSpPr txBox="1"/>
          <p:nvPr/>
        </p:nvSpPr>
        <p:spPr>
          <a:xfrm>
            <a:off x="6766560" y="4864608"/>
            <a:ext cx="4754880" cy="384048"/>
          </a:xfrm>
          <a:prstGeom prst="rect">
            <a:avLst/>
          </a:prstGeom>
          <a:noFill/>
          <a:ln/>
        </p:spPr>
        <p:txBody>
          <a:bodyPr wrap="square" lIns="0" tIns="0" rIns="0" bIns="0" rtlCol="0" anchor="ctr"/>
          <a:lstStyle/>
          <a:p>
            <a:pPr indent="0" marL="0">
              <a:lnSpc>
                <a:spcPts val="1400"/>
              </a:lnSpc>
              <a:buNone/>
            </a:pPr>
            <a:r>
              <a:rPr lang="en-US" sz="1100" dirty="0">
                <a:solidFill>
                  <a:srgbClr val="1C2620"/>
                </a:solidFill>
                <a:latin typeface="Calibri" pitchFamily="34" charset="0"/>
                <a:ea typeface="Calibri" pitchFamily="34" charset="-122"/>
                <a:cs typeface="Calibri" pitchFamily="34" charset="-120"/>
              </a:rPr>
              <a:t>ruff, bandit, pytest con umbral de cobertura y terraform validate.</a:t>
            </a:r>
            <a:endParaRPr lang="en-US" sz="1100" dirty="0"/>
          </a:p>
        </p:txBody>
      </p:sp>
      <p:sp>
        <p:nvSpPr>
          <p:cNvPr id="27" name="Text 24"/>
          <p:cNvSpPr txBox="1"/>
          <p:nvPr/>
        </p:nvSpPr>
        <p:spPr>
          <a:xfrm>
            <a:off x="6766560" y="5285232"/>
            <a:ext cx="4754880" cy="237744"/>
          </a:xfrm>
          <a:prstGeom prst="rect">
            <a:avLst/>
          </a:prstGeom>
          <a:noFill/>
          <a:ln/>
        </p:spPr>
        <p:txBody>
          <a:bodyPr wrap="square" lIns="0" tIns="0" rIns="0" bIns="0" rtlCol="0" anchor="ctr"/>
          <a:lstStyle/>
          <a:p>
            <a:pPr indent="0" marL="0">
              <a:buNone/>
            </a:pPr>
            <a:r>
              <a:rPr lang="en-US" sz="1350" b="1" dirty="0">
                <a:solidFill>
                  <a:srgbClr val="2C5F2D"/>
                </a:solidFill>
                <a:latin typeface="Cambria" pitchFamily="34" charset="0"/>
                <a:ea typeface="Cambria" pitchFamily="34" charset="-122"/>
                <a:cs typeface="Cambria" pitchFamily="34" charset="-120"/>
              </a:rPr>
              <a:t>Despliegue con OIDC</a:t>
            </a:r>
            <a:endParaRPr lang="en-US" sz="1350" dirty="0"/>
          </a:p>
        </p:txBody>
      </p:sp>
      <p:sp>
        <p:nvSpPr>
          <p:cNvPr id="28" name="Text 25"/>
          <p:cNvSpPr txBox="1"/>
          <p:nvPr/>
        </p:nvSpPr>
        <p:spPr>
          <a:xfrm>
            <a:off x="6766560" y="5522976"/>
            <a:ext cx="4754880" cy="384048"/>
          </a:xfrm>
          <a:prstGeom prst="rect">
            <a:avLst/>
          </a:prstGeom>
          <a:noFill/>
          <a:ln/>
        </p:spPr>
        <p:txBody>
          <a:bodyPr wrap="square" lIns="0" tIns="0" rIns="0" bIns="0" rtlCol="0" anchor="ctr"/>
          <a:lstStyle/>
          <a:p>
            <a:pPr indent="0" marL="0">
              <a:lnSpc>
                <a:spcPts val="1400"/>
              </a:lnSpc>
              <a:buNone/>
            </a:pPr>
            <a:r>
              <a:rPr lang="en-US" sz="1100" dirty="0">
                <a:solidFill>
                  <a:srgbClr val="1C2620"/>
                </a:solidFill>
                <a:latin typeface="Calibri" pitchFamily="34" charset="0"/>
                <a:ea typeface="Calibri" pitchFamily="34" charset="-122"/>
                <a:cs typeface="Calibri" pitchFamily="34" charset="-120"/>
              </a:rPr>
              <a:t>GitHub asume un rol de AWS: cero llaves de larga vida almacenadas.</a:t>
            </a:r>
            <a:endParaRPr lang="en-US" sz="1100" dirty="0"/>
          </a:p>
        </p:txBody>
      </p:sp>
      <p:sp>
        <p:nvSpPr>
          <p:cNvPr id="29" name="Text 26"/>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30" name="Text 27"/>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COSTO DE OPERACIÓN</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Demostrarla no cuesta nada; operarla, cinco dólares</a:t>
            </a:r>
            <a:endParaRPr lang="en-US" sz="3400" dirty="0"/>
          </a:p>
        </p:txBody>
      </p:sp>
      <p:sp>
        <p:nvSpPr>
          <p:cNvPr id="4" name="Text 2"/>
          <p:cNvSpPr txBox="1"/>
          <p:nvPr/>
        </p:nvSpPr>
        <p:spPr>
          <a:xfrm>
            <a:off x="640080" y="1371600"/>
            <a:ext cx="10881360" cy="320040"/>
          </a:xfrm>
          <a:prstGeom prst="rect">
            <a:avLst/>
          </a:prstGeom>
          <a:noFill/>
          <a:ln/>
        </p:spPr>
        <p:txBody>
          <a:bodyPr wrap="square" lIns="0" tIns="0" rIns="0" bIns="0" rtlCol="0" anchor="ctr"/>
          <a:lstStyle/>
          <a:p>
            <a:pPr indent="0" marL="0">
              <a:buNone/>
            </a:pPr>
            <a:r>
              <a:rPr lang="en-US" sz="1350" dirty="0">
                <a:solidFill>
                  <a:srgbClr val="1C2620"/>
                </a:solidFill>
                <a:latin typeface="Calibri" pitchFamily="34" charset="0"/>
                <a:ea typeface="Calibri" pitchFamily="34" charset="-122"/>
                <a:cs typeface="Calibri" pitchFamily="34" charset="-120"/>
              </a:rPr>
              <a:t>Operación real de una localidad: 3.000 reportes y 30.000 consultas de mapa al mes, con foto promedio de 400 KB.</a:t>
            </a:r>
            <a:endParaRPr lang="en-US" sz="1350" dirty="0"/>
          </a:p>
        </p:txBody>
      </p:sp>
      <p:graphicFrame>
        <p:nvGraphicFramePr>
          <p:cNvPr id="5" name="Chart 0" descr=""/>
          <p:cNvGraphicFramePr/>
          <p:nvPr/>
        </p:nvGraphicFramePr>
        <p:xfrm>
          <a:off x="640080" y="1828800"/>
          <a:ext cx="566928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583680" y="1828800"/>
            <a:ext cx="4937760" cy="1417320"/>
          </a:xfrm>
          <a:prstGeom prst="roundRect">
            <a:avLst>
              <a:gd name="adj" fmla="val 6452"/>
            </a:avLst>
          </a:prstGeom>
          <a:solidFill>
            <a:srgbClr val="1A3A1B"/>
          </a:solidFill>
          <a:ln w="12700">
            <a:solidFill>
              <a:srgbClr val="DCE3DA"/>
            </a:solidFill>
            <a:prstDash val="solid"/>
          </a:ln>
        </p:spPr>
      </p:sp>
      <p:sp>
        <p:nvSpPr>
          <p:cNvPr id="7" name="Text 4"/>
          <p:cNvSpPr txBox="1"/>
          <p:nvPr/>
        </p:nvSpPr>
        <p:spPr>
          <a:xfrm>
            <a:off x="6903720" y="2029968"/>
            <a:ext cx="4754880" cy="5029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0 USD</a:t>
            </a:r>
            <a:endParaRPr lang="en-US" sz="3400" dirty="0"/>
          </a:p>
        </p:txBody>
      </p:sp>
      <p:sp>
        <p:nvSpPr>
          <p:cNvPr id="8" name="Text 5"/>
          <p:cNvSpPr txBox="1"/>
          <p:nvPr/>
        </p:nvSpPr>
        <p:spPr>
          <a:xfrm>
            <a:off x="6903720" y="2578608"/>
            <a:ext cx="4754880" cy="274320"/>
          </a:xfrm>
          <a:prstGeom prst="rect">
            <a:avLst/>
          </a:prstGeom>
          <a:noFill/>
          <a:ln/>
        </p:spPr>
        <p:txBody>
          <a:bodyPr wrap="square" lIns="0" tIns="0" rIns="0" bIns="0" rtlCol="0" anchor="ctr"/>
          <a:lstStyle/>
          <a:p>
            <a:pPr indent="0" marL="0">
              <a:buNone/>
            </a:pPr>
            <a:r>
              <a:rPr lang="en-US" sz="1200" dirty="0">
                <a:solidFill>
                  <a:srgbClr val="97BC62"/>
                </a:solidFill>
                <a:latin typeface="Calibri" pitchFamily="34" charset="0"/>
                <a:ea typeface="Calibri" pitchFamily="34" charset="-122"/>
                <a:cs typeface="Calibri" pitchFamily="34" charset="-120"/>
              </a:rPr>
              <a:t>La demostración cabe en la capa gratuita de AWS</a:t>
            </a:r>
            <a:endParaRPr lang="en-US" sz="1200" dirty="0"/>
          </a:p>
        </p:txBody>
      </p:sp>
      <p:sp>
        <p:nvSpPr>
          <p:cNvPr id="9" name="Text 6"/>
          <p:cNvSpPr txBox="1"/>
          <p:nvPr/>
        </p:nvSpPr>
        <p:spPr>
          <a:xfrm>
            <a:off x="6903720" y="2834640"/>
            <a:ext cx="4754880" cy="274320"/>
          </a:xfrm>
          <a:prstGeom prst="rect">
            <a:avLst/>
          </a:prstGeom>
          <a:noFill/>
          <a:ln/>
        </p:spPr>
        <p:txBody>
          <a:bodyPr wrap="square" lIns="0" tIns="0" rIns="0" bIns="0" rtlCol="0" anchor="ctr"/>
          <a:lstStyle/>
          <a:p>
            <a:pPr indent="0" marL="0">
              <a:buNone/>
            </a:pPr>
            <a:r>
              <a:rPr lang="en-US" sz="1150" dirty="0">
                <a:solidFill>
                  <a:srgbClr val="F5F5F0"/>
                </a:solidFill>
                <a:latin typeface="Calibri" pitchFamily="34" charset="0"/>
                <a:ea typeface="Calibri" pitchFamily="34" charset="-122"/>
                <a:cs typeface="Calibri" pitchFamily="34" charset="-120"/>
              </a:rPr>
              <a:t>Operación real de una localidad: ≈ 4,85 USD / mes</a:t>
            </a:r>
            <a:endParaRPr lang="en-US" sz="1150" dirty="0"/>
          </a:p>
        </p:txBody>
      </p:sp>
      <p:sp>
        <p:nvSpPr>
          <p:cNvPr id="10" name="Text 7"/>
          <p:cNvSpPr txBox="1"/>
          <p:nvPr/>
        </p:nvSpPr>
        <p:spPr>
          <a:xfrm>
            <a:off x="6583680" y="3520440"/>
            <a:ext cx="4937760" cy="256032"/>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El 62 % del costo es Rekognition</a:t>
            </a:r>
            <a:endParaRPr lang="en-US" sz="1400" dirty="0"/>
          </a:p>
        </p:txBody>
      </p:sp>
      <p:sp>
        <p:nvSpPr>
          <p:cNvPr id="11" name="Text 8"/>
          <p:cNvSpPr txBox="1"/>
          <p:nvPr/>
        </p:nvSpPr>
        <p:spPr>
          <a:xfrm>
            <a:off x="6583680" y="3776472"/>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Un clasificador propio en el dispositivo eliminaría ese renglón: es el argumento económico de la investigación.</a:t>
            </a:r>
            <a:endParaRPr lang="en-US" sz="1150" dirty="0"/>
          </a:p>
        </p:txBody>
      </p:sp>
      <p:sp>
        <p:nvSpPr>
          <p:cNvPr id="12" name="Text 9"/>
          <p:cNvSpPr txBox="1"/>
          <p:nvPr/>
        </p:nvSpPr>
        <p:spPr>
          <a:xfrm>
            <a:off x="6583680" y="4297680"/>
            <a:ext cx="4937760" cy="256032"/>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El resto escala a cero</a:t>
            </a:r>
            <a:endParaRPr lang="en-US" sz="1400" dirty="0"/>
          </a:p>
        </p:txBody>
      </p:sp>
      <p:sp>
        <p:nvSpPr>
          <p:cNvPr id="13" name="Text 10"/>
          <p:cNvSpPr txBox="1"/>
          <p:nvPr/>
        </p:nvSpPr>
        <p:spPr>
          <a:xfrm>
            <a:off x="6583680" y="4553712"/>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Sin tráfico no hay factura: no hay instancias, ni NAT Gateway, ni capacidad reservada.</a:t>
            </a:r>
            <a:endParaRPr lang="en-US" sz="1150" dirty="0"/>
          </a:p>
        </p:txBody>
      </p:sp>
      <p:sp>
        <p:nvSpPr>
          <p:cNvPr id="14" name="Text 11"/>
          <p:cNvSpPr txBox="1"/>
          <p:nvPr/>
        </p:nvSpPr>
        <p:spPr>
          <a:xfrm>
            <a:off x="6583680" y="5074920"/>
            <a:ext cx="4937760" cy="256032"/>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La clave KMS es opcional</a:t>
            </a:r>
            <a:endParaRPr lang="en-US" sz="1400" dirty="0"/>
          </a:p>
        </p:txBody>
      </p:sp>
      <p:sp>
        <p:nvSpPr>
          <p:cNvPr id="15" name="Text 12"/>
          <p:cNvSpPr txBox="1"/>
          <p:nvPr/>
        </p:nvSpPr>
        <p:spPr>
          <a:xfrm>
            <a:off x="6583680" y="5330952"/>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Único cargo fijo del diseño (1 USD/mes). Desactivada por defecto; el dato sigue cifrado con claves de AWS.</a:t>
            </a:r>
            <a:endParaRPr lang="en-US" sz="1150" dirty="0"/>
          </a:p>
        </p:txBody>
      </p:sp>
      <p:sp>
        <p:nvSpPr>
          <p:cNvPr id="16" name="Text 13"/>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17" name="Text 14"/>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SEMILLERO</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De taller de curso a línea de investigación</a:t>
            </a:r>
            <a:endParaRPr lang="en-US" sz="3400" dirty="0"/>
          </a:p>
        </p:txBody>
      </p:sp>
      <p:sp>
        <p:nvSpPr>
          <p:cNvPr id="4" name="Text 2"/>
          <p:cNvSpPr txBox="1"/>
          <p:nvPr/>
        </p:nvSpPr>
        <p:spPr>
          <a:xfrm>
            <a:off x="640080" y="1371600"/>
            <a:ext cx="10881360" cy="457200"/>
          </a:xfrm>
          <a:prstGeom prst="rect">
            <a:avLst/>
          </a:prstGeom>
          <a:noFill/>
          <a:ln/>
        </p:spPr>
        <p:txBody>
          <a:bodyPr wrap="square" lIns="0" tIns="0" rIns="0" bIns="0" rtlCol="0" anchor="ctr"/>
          <a:lstStyle/>
          <a:p>
            <a:pPr indent="0" marL="0">
              <a:lnSpc>
                <a:spcPts val="1900"/>
              </a:lnSpc>
              <a:buNone/>
            </a:pPr>
            <a:r>
              <a:rPr lang="en-US" sz="1350" dirty="0">
                <a:solidFill>
                  <a:srgbClr val="1C2620"/>
                </a:solidFill>
                <a:latin typeface="Calibri" pitchFamily="34" charset="0"/>
                <a:ea typeface="Calibri" pitchFamily="34" charset="-122"/>
                <a:cs typeface="Calibri" pitchFamily="34" charset="-120"/>
              </a:rPr>
              <a:t>Existe literatura sobre crowdsourcing ambiental y sobre clasificación automática de residuos, pero es escasa la evidencia sobre su combinación en contextos urbanos latinoamericanos.</a:t>
            </a:r>
            <a:endParaRPr lang="en-US" sz="1350" dirty="0"/>
          </a:p>
        </p:txBody>
      </p:sp>
      <p:sp>
        <p:nvSpPr>
          <p:cNvPr id="5" name="Shape 3"/>
          <p:cNvSpPr/>
          <p:nvPr/>
        </p:nvSpPr>
        <p:spPr>
          <a:xfrm>
            <a:off x="640080" y="1965960"/>
            <a:ext cx="3444240" cy="2377440"/>
          </a:xfrm>
          <a:prstGeom prst="roundRect">
            <a:avLst>
              <a:gd name="adj" fmla="val 3846"/>
            </a:avLst>
          </a:prstGeom>
          <a:solidFill>
            <a:srgbClr val="F5F5F0"/>
          </a:solidFill>
          <a:ln w="12700">
            <a:solidFill>
              <a:srgbClr val="DCE3DA"/>
            </a:solidFill>
            <a:prstDash val="solid"/>
          </a:ln>
        </p:spPr>
      </p:sp>
      <p:sp>
        <p:nvSpPr>
          <p:cNvPr id="6" name="Text 4"/>
          <p:cNvSpPr txBox="1"/>
          <p:nvPr/>
        </p:nvSpPr>
        <p:spPr>
          <a:xfrm>
            <a:off x="896112" y="2176272"/>
            <a:ext cx="2932176" cy="219456"/>
          </a:xfrm>
          <a:prstGeom prst="rect">
            <a:avLst/>
          </a:prstGeom>
          <a:noFill/>
          <a:ln/>
        </p:spPr>
        <p:txBody>
          <a:bodyPr wrap="square" lIns="0" tIns="0" rIns="0" bIns="0" rtlCol="0" anchor="ctr"/>
          <a:lstStyle/>
          <a:p>
            <a:pPr indent="0" marL="0">
              <a:buNone/>
            </a:pPr>
            <a:r>
              <a:rPr lang="en-US" sz="1000" b="1" spc="200" kern="0" dirty="0">
                <a:solidFill>
                  <a:srgbClr val="97BC62"/>
                </a:solidFill>
                <a:latin typeface="Calibri" pitchFamily="34" charset="0"/>
                <a:ea typeface="Calibri" pitchFamily="34" charset="-122"/>
                <a:cs typeface="Calibri" pitchFamily="34" charset="-120"/>
              </a:rPr>
              <a:t>FASE 1</a:t>
            </a:r>
            <a:endParaRPr lang="en-US" sz="1000" dirty="0"/>
          </a:p>
        </p:txBody>
      </p:sp>
      <p:sp>
        <p:nvSpPr>
          <p:cNvPr id="7" name="Text 5"/>
          <p:cNvSpPr txBox="1"/>
          <p:nvPr/>
        </p:nvSpPr>
        <p:spPr>
          <a:xfrm>
            <a:off x="896112" y="2432304"/>
            <a:ext cx="2932176" cy="329184"/>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Validación concurrente</a:t>
            </a:r>
            <a:endParaRPr lang="en-US" sz="1600" dirty="0"/>
          </a:p>
        </p:txBody>
      </p:sp>
      <p:sp>
        <p:nvSpPr>
          <p:cNvPr id="8" name="Text 6"/>
          <p:cNvSpPr txBox="1"/>
          <p:nvPr/>
        </p:nvSpPr>
        <p:spPr>
          <a:xfrm>
            <a:off x="896112" y="2816352"/>
            <a:ext cx="2932176" cy="1371600"/>
          </a:xfrm>
          <a:prstGeom prst="rect">
            <a:avLst/>
          </a:prstGeom>
          <a:noFill/>
          <a:ln/>
        </p:spPr>
        <p:txBody>
          <a:bodyPr wrap="square" lIns="0" tIns="0" rIns="0" bIns="0" rtlCol="0" anchor="ctr"/>
          <a:lstStyle/>
          <a:p>
            <a:pPr indent="0" marL="0">
              <a:lnSpc>
                <a:spcPts val="1600"/>
              </a:lnSpc>
              <a:buNone/>
            </a:pPr>
            <a:r>
              <a:rPr lang="en-US" sz="1150" dirty="0">
                <a:solidFill>
                  <a:srgbClr val="1C2620"/>
                </a:solidFill>
                <a:latin typeface="Calibri" pitchFamily="34" charset="0"/>
                <a:ea typeface="Calibri" pitchFamily="34" charset="-122"/>
                <a:cs typeface="Calibri" pitchFamily="34" charset="-120"/>
              </a:rPr>
              <a:t>Contrastar los puntos críticos derivados de reportes ciudadanos con el inventario oficial: precisión, exhaustividad y F1, con barrido de parámetros de agrupamiento.</a:t>
            </a:r>
            <a:endParaRPr lang="en-US" sz="1150" dirty="0"/>
          </a:p>
        </p:txBody>
      </p:sp>
      <p:sp>
        <p:nvSpPr>
          <p:cNvPr id="9" name="Shape 7"/>
          <p:cNvSpPr/>
          <p:nvPr/>
        </p:nvSpPr>
        <p:spPr>
          <a:xfrm>
            <a:off x="4358640" y="1965960"/>
            <a:ext cx="3444240" cy="2377440"/>
          </a:xfrm>
          <a:prstGeom prst="roundRect">
            <a:avLst>
              <a:gd name="adj" fmla="val 3846"/>
            </a:avLst>
          </a:prstGeom>
          <a:solidFill>
            <a:srgbClr val="F5F5F0"/>
          </a:solidFill>
          <a:ln w="12700">
            <a:solidFill>
              <a:srgbClr val="DCE3DA"/>
            </a:solidFill>
            <a:prstDash val="solid"/>
          </a:ln>
        </p:spPr>
      </p:sp>
      <p:sp>
        <p:nvSpPr>
          <p:cNvPr id="10" name="Text 8"/>
          <p:cNvSpPr txBox="1"/>
          <p:nvPr/>
        </p:nvSpPr>
        <p:spPr>
          <a:xfrm>
            <a:off x="4614672" y="2176272"/>
            <a:ext cx="2932176" cy="219456"/>
          </a:xfrm>
          <a:prstGeom prst="rect">
            <a:avLst/>
          </a:prstGeom>
          <a:noFill/>
          <a:ln/>
        </p:spPr>
        <p:txBody>
          <a:bodyPr wrap="square" lIns="0" tIns="0" rIns="0" bIns="0" rtlCol="0" anchor="ctr"/>
          <a:lstStyle/>
          <a:p>
            <a:pPr indent="0" marL="0">
              <a:buNone/>
            </a:pPr>
            <a:r>
              <a:rPr lang="en-US" sz="1000" b="1" spc="200" kern="0" dirty="0">
                <a:solidFill>
                  <a:srgbClr val="97BC62"/>
                </a:solidFill>
                <a:latin typeface="Calibri" pitchFamily="34" charset="0"/>
                <a:ea typeface="Calibri" pitchFamily="34" charset="-122"/>
                <a:cs typeface="Calibri" pitchFamily="34" charset="-120"/>
              </a:rPr>
              <a:t>FASE 2</a:t>
            </a:r>
            <a:endParaRPr lang="en-US" sz="1000" dirty="0"/>
          </a:p>
        </p:txBody>
      </p:sp>
      <p:sp>
        <p:nvSpPr>
          <p:cNvPr id="11" name="Text 9"/>
          <p:cNvSpPr txBox="1"/>
          <p:nvPr/>
        </p:nvSpPr>
        <p:spPr>
          <a:xfrm>
            <a:off x="4614672" y="2432304"/>
            <a:ext cx="2932176" cy="329184"/>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Clasificador propio</a:t>
            </a:r>
            <a:endParaRPr lang="en-US" sz="1600" dirty="0"/>
          </a:p>
        </p:txBody>
      </p:sp>
      <p:sp>
        <p:nvSpPr>
          <p:cNvPr id="12" name="Text 10"/>
          <p:cNvSpPr txBox="1"/>
          <p:nvPr/>
        </p:nvSpPr>
        <p:spPr>
          <a:xfrm>
            <a:off x="4614672" y="2816352"/>
            <a:ext cx="2932176" cy="1371600"/>
          </a:xfrm>
          <a:prstGeom prst="rect">
            <a:avLst/>
          </a:prstGeom>
          <a:noFill/>
          <a:ln/>
        </p:spPr>
        <p:txBody>
          <a:bodyPr wrap="square" lIns="0" tIns="0" rIns="0" bIns="0" rtlCol="0" anchor="ctr"/>
          <a:lstStyle/>
          <a:p>
            <a:pPr indent="0" marL="0">
              <a:lnSpc>
                <a:spcPts val="1600"/>
              </a:lnSpc>
              <a:buNone/>
            </a:pPr>
            <a:r>
              <a:rPr lang="en-US" sz="1150" dirty="0">
                <a:solidFill>
                  <a:srgbClr val="1C2620"/>
                </a:solidFill>
                <a:latin typeface="Calibri" pitchFamily="34" charset="0"/>
                <a:ea typeface="Calibri" pitchFamily="34" charset="-122"/>
                <a:cs typeface="Calibri" pitchFamily="34" charset="-120"/>
              </a:rPr>
              <a:t>Corpus anonimizado y etiquetado por doble anotador; MobileNetV3 ajustado frente a la línea base, medido en F1, latencia y costo.</a:t>
            </a:r>
            <a:endParaRPr lang="en-US" sz="1150" dirty="0"/>
          </a:p>
        </p:txBody>
      </p:sp>
      <p:sp>
        <p:nvSpPr>
          <p:cNvPr id="13" name="Shape 11"/>
          <p:cNvSpPr/>
          <p:nvPr/>
        </p:nvSpPr>
        <p:spPr>
          <a:xfrm>
            <a:off x="8077200" y="1965960"/>
            <a:ext cx="3444240" cy="2377440"/>
          </a:xfrm>
          <a:prstGeom prst="roundRect">
            <a:avLst>
              <a:gd name="adj" fmla="val 3846"/>
            </a:avLst>
          </a:prstGeom>
          <a:solidFill>
            <a:srgbClr val="F5F5F0"/>
          </a:solidFill>
          <a:ln w="12700">
            <a:solidFill>
              <a:srgbClr val="DCE3DA"/>
            </a:solidFill>
            <a:prstDash val="solid"/>
          </a:ln>
        </p:spPr>
      </p:sp>
      <p:sp>
        <p:nvSpPr>
          <p:cNvPr id="14" name="Text 12"/>
          <p:cNvSpPr txBox="1"/>
          <p:nvPr/>
        </p:nvSpPr>
        <p:spPr>
          <a:xfrm>
            <a:off x="8333232" y="2176272"/>
            <a:ext cx="2932176" cy="219456"/>
          </a:xfrm>
          <a:prstGeom prst="rect">
            <a:avLst/>
          </a:prstGeom>
          <a:noFill/>
          <a:ln/>
        </p:spPr>
        <p:txBody>
          <a:bodyPr wrap="square" lIns="0" tIns="0" rIns="0" bIns="0" rtlCol="0" anchor="ctr"/>
          <a:lstStyle/>
          <a:p>
            <a:pPr indent="0" marL="0">
              <a:buNone/>
            </a:pPr>
            <a:r>
              <a:rPr lang="en-US" sz="1000" b="1" spc="200" kern="0" dirty="0">
                <a:solidFill>
                  <a:srgbClr val="97BC62"/>
                </a:solidFill>
                <a:latin typeface="Calibri" pitchFamily="34" charset="0"/>
                <a:ea typeface="Calibri" pitchFamily="34" charset="-122"/>
                <a:cs typeface="Calibri" pitchFamily="34" charset="-120"/>
              </a:rPr>
              <a:t>FASE 3</a:t>
            </a:r>
            <a:endParaRPr lang="en-US" sz="1000" dirty="0"/>
          </a:p>
        </p:txBody>
      </p:sp>
      <p:sp>
        <p:nvSpPr>
          <p:cNvPr id="15" name="Text 13"/>
          <p:cNvSpPr txBox="1"/>
          <p:nvPr/>
        </p:nvSpPr>
        <p:spPr>
          <a:xfrm>
            <a:off x="8333232" y="2432304"/>
            <a:ext cx="2932176" cy="329184"/>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Modelo predictivo</a:t>
            </a:r>
            <a:endParaRPr lang="en-US" sz="1600" dirty="0"/>
          </a:p>
        </p:txBody>
      </p:sp>
      <p:sp>
        <p:nvSpPr>
          <p:cNvPr id="16" name="Text 14"/>
          <p:cNvSpPr txBox="1"/>
          <p:nvPr/>
        </p:nvSpPr>
        <p:spPr>
          <a:xfrm>
            <a:off x="8333232" y="2816352"/>
            <a:ext cx="2932176" cy="1371600"/>
          </a:xfrm>
          <a:prstGeom prst="rect">
            <a:avLst/>
          </a:prstGeom>
          <a:noFill/>
          <a:ln/>
        </p:spPr>
        <p:txBody>
          <a:bodyPr wrap="square" lIns="0" tIns="0" rIns="0" bIns="0" rtlCol="0" anchor="ctr"/>
          <a:lstStyle/>
          <a:p>
            <a:pPr indent="0" marL="0">
              <a:lnSpc>
                <a:spcPts val="1600"/>
              </a:lnSpc>
              <a:buNone/>
            </a:pPr>
            <a:r>
              <a:rPr lang="en-US" sz="1150" dirty="0">
                <a:solidFill>
                  <a:srgbClr val="1C2620"/>
                </a:solidFill>
                <a:latin typeface="Calibri" pitchFamily="34" charset="0"/>
                <a:ea typeface="Calibri" pitchFamily="34" charset="-122"/>
                <a:cs typeface="Calibri" pitchFamily="34" charset="-120"/>
              </a:rPr>
              <a:t>Rejilla de geohash y modelo de conteo para estimar reaparición a 7 días: pasar de recolección reactiva a preventiva.</a:t>
            </a:r>
            <a:endParaRPr lang="en-US" sz="1150" dirty="0"/>
          </a:p>
        </p:txBody>
      </p:sp>
      <p:sp>
        <p:nvSpPr>
          <p:cNvPr id="17" name="Text 15"/>
          <p:cNvSpPr txBox="1"/>
          <p:nvPr/>
        </p:nvSpPr>
        <p:spPr>
          <a:xfrm>
            <a:off x="640080" y="4572000"/>
            <a:ext cx="10881360" cy="292608"/>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La arquitectura actual ya habilita la investigación</a:t>
            </a:r>
            <a:endParaRPr lang="en-US" sz="1700" dirty="0"/>
          </a:p>
        </p:txBody>
      </p:sp>
      <p:sp>
        <p:nvSpPr>
          <p:cNvPr id="18" name="Shape 16"/>
          <p:cNvSpPr/>
          <p:nvPr/>
        </p:nvSpPr>
        <p:spPr>
          <a:xfrm>
            <a:off x="640080" y="5001768"/>
            <a:ext cx="274320" cy="274320"/>
          </a:xfrm>
          <a:prstGeom prst="ellipse">
            <a:avLst/>
          </a:prstGeom>
          <a:solidFill>
            <a:srgbClr val="97BC62"/>
          </a:solidFill>
          <a:ln w="12700">
            <a:solidFill>
              <a:srgbClr val="97BC62"/>
            </a:solidFill>
            <a:prstDash val="solid"/>
          </a:ln>
        </p:spPr>
      </p:sp>
      <p:sp>
        <p:nvSpPr>
          <p:cNvPr id="19" name="Text 17"/>
          <p:cNvSpPr txBox="1"/>
          <p:nvPr/>
        </p:nvSpPr>
        <p:spPr>
          <a:xfrm>
            <a:off x="640080" y="5001768"/>
            <a:ext cx="274320" cy="274320"/>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a:t>
            </a:r>
            <a:endParaRPr lang="en-US" sz="1500" dirty="0"/>
          </a:p>
        </p:txBody>
      </p:sp>
      <p:sp>
        <p:nvSpPr>
          <p:cNvPr id="20" name="Text 18"/>
          <p:cNvSpPr txBox="1"/>
          <p:nvPr/>
        </p:nvSpPr>
        <p:spPr>
          <a:xfrm>
            <a:off x="1051560" y="4983480"/>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Evidencias en S3 con etiquetas de IA almacenadas: corpus en formación desde el primer reporte</a:t>
            </a:r>
            <a:endParaRPr lang="en-US" sz="1150" dirty="0"/>
          </a:p>
        </p:txBody>
      </p:sp>
      <p:sp>
        <p:nvSpPr>
          <p:cNvPr id="21" name="Shape 19"/>
          <p:cNvSpPr/>
          <p:nvPr/>
        </p:nvSpPr>
        <p:spPr>
          <a:xfrm>
            <a:off x="6172200" y="5001768"/>
            <a:ext cx="274320" cy="274320"/>
          </a:xfrm>
          <a:prstGeom prst="ellipse">
            <a:avLst/>
          </a:prstGeom>
          <a:solidFill>
            <a:srgbClr val="97BC62"/>
          </a:solidFill>
          <a:ln w="12700">
            <a:solidFill>
              <a:srgbClr val="97BC62"/>
            </a:solidFill>
            <a:prstDash val="solid"/>
          </a:ln>
        </p:spPr>
      </p:sp>
      <p:sp>
        <p:nvSpPr>
          <p:cNvPr id="22" name="Text 20"/>
          <p:cNvSpPr txBox="1"/>
          <p:nvPr/>
        </p:nvSpPr>
        <p:spPr>
          <a:xfrm>
            <a:off x="6172200" y="5001768"/>
            <a:ext cx="274320" cy="274320"/>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a:t>
            </a:r>
            <a:endParaRPr lang="en-US" sz="1500" dirty="0"/>
          </a:p>
        </p:txBody>
      </p:sp>
      <p:sp>
        <p:nvSpPr>
          <p:cNvPr id="23" name="Text 21"/>
          <p:cNvSpPr txBox="1"/>
          <p:nvPr/>
        </p:nvSpPr>
        <p:spPr>
          <a:xfrm>
            <a:off x="6583680" y="4983480"/>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geohash + created_at indexados: la serie espacio-temporal ya existe</a:t>
            </a:r>
            <a:endParaRPr lang="en-US" sz="1150" dirty="0"/>
          </a:p>
        </p:txBody>
      </p:sp>
      <p:sp>
        <p:nvSpPr>
          <p:cNvPr id="24" name="Shape 22"/>
          <p:cNvSpPr/>
          <p:nvPr/>
        </p:nvSpPr>
        <p:spPr>
          <a:xfrm>
            <a:off x="640080" y="5550408"/>
            <a:ext cx="274320" cy="274320"/>
          </a:xfrm>
          <a:prstGeom prst="ellipse">
            <a:avLst/>
          </a:prstGeom>
          <a:solidFill>
            <a:srgbClr val="97BC62"/>
          </a:solidFill>
          <a:ln w="12700">
            <a:solidFill>
              <a:srgbClr val="97BC62"/>
            </a:solidFill>
            <a:prstDash val="solid"/>
          </a:ln>
        </p:spPr>
      </p:sp>
      <p:sp>
        <p:nvSpPr>
          <p:cNvPr id="25" name="Text 23"/>
          <p:cNvSpPr txBox="1"/>
          <p:nvPr/>
        </p:nvSpPr>
        <p:spPr>
          <a:xfrm>
            <a:off x="640080" y="5550408"/>
            <a:ext cx="274320" cy="274320"/>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a:t>
            </a:r>
            <a:endParaRPr lang="en-US" sz="1500" dirty="0"/>
          </a:p>
        </p:txBody>
      </p:sp>
      <p:sp>
        <p:nvSpPr>
          <p:cNvPr id="26" name="Text 24"/>
          <p:cNvSpPr txBox="1"/>
          <p:nvPr/>
        </p:nvSpPr>
        <p:spPr>
          <a:xfrm>
            <a:off x="1051560" y="5532120"/>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Parámetros de agrupamiento configurables: los experimentos son reproducibles</a:t>
            </a:r>
            <a:endParaRPr lang="en-US" sz="1150" dirty="0"/>
          </a:p>
        </p:txBody>
      </p:sp>
      <p:sp>
        <p:nvSpPr>
          <p:cNvPr id="27" name="Shape 25"/>
          <p:cNvSpPr/>
          <p:nvPr/>
        </p:nvSpPr>
        <p:spPr>
          <a:xfrm>
            <a:off x="6172200" y="5550408"/>
            <a:ext cx="274320" cy="274320"/>
          </a:xfrm>
          <a:prstGeom prst="ellipse">
            <a:avLst/>
          </a:prstGeom>
          <a:solidFill>
            <a:srgbClr val="97BC62"/>
          </a:solidFill>
          <a:ln w="12700">
            <a:solidFill>
              <a:srgbClr val="97BC62"/>
            </a:solidFill>
            <a:prstDash val="solid"/>
          </a:ln>
        </p:spPr>
      </p:sp>
      <p:sp>
        <p:nvSpPr>
          <p:cNvPr id="28" name="Text 26"/>
          <p:cNvSpPr txBox="1"/>
          <p:nvPr/>
        </p:nvSpPr>
        <p:spPr>
          <a:xfrm>
            <a:off x="6172200" y="5550408"/>
            <a:ext cx="274320" cy="274320"/>
          </a:xfrm>
          <a:prstGeom prst="rect">
            <a:avLst/>
          </a:prstGeom>
          <a:noFill/>
          <a:ln/>
        </p:spPr>
        <p:txBody>
          <a:bodyPr wrap="square" lIns="0" tIns="0" rIns="0" bIns="0" rtlCol="0" anchor="ctr"/>
          <a:lstStyle/>
          <a:p>
            <a:pPr algn="ctr" indent="0" marL="0">
              <a:buNone/>
            </a:pPr>
            <a:r>
              <a:rPr lang="en-US" sz="1500" b="1" dirty="0">
                <a:solidFill>
                  <a:srgbClr val="1A3A1B"/>
                </a:solidFill>
                <a:latin typeface="Calibri" pitchFamily="34" charset="0"/>
                <a:ea typeface="Calibri" pitchFamily="34" charset="-122"/>
                <a:cs typeface="Calibri" pitchFamily="34" charset="-120"/>
              </a:rPr>
              <a:t>✓</a:t>
            </a:r>
            <a:endParaRPr lang="en-US" sz="1500" dirty="0"/>
          </a:p>
        </p:txBody>
      </p:sp>
      <p:sp>
        <p:nvSpPr>
          <p:cNvPr id="29" name="Text 27"/>
          <p:cNvSpPr txBox="1"/>
          <p:nvPr/>
        </p:nvSpPr>
        <p:spPr>
          <a:xfrm>
            <a:off x="6583680" y="5532120"/>
            <a:ext cx="4937760" cy="457200"/>
          </a:xfrm>
          <a:prstGeom prst="rect">
            <a:avLst/>
          </a:prstGeom>
          <a:noFill/>
          <a:ln/>
        </p:spPr>
        <p:txBody>
          <a:bodyPr wrap="square" lIns="0" tIns="0" rIns="0" bIns="0" rtlCol="0" anchor="ctr"/>
          <a:lstStyle/>
          <a:p>
            <a:pPr indent="0" marL="0">
              <a:lnSpc>
                <a:spcPts val="1500"/>
              </a:lnSpc>
              <a:buNone/>
            </a:pPr>
            <a:r>
              <a:rPr lang="en-US" sz="1150" dirty="0">
                <a:solidFill>
                  <a:srgbClr val="1C2620"/>
                </a:solidFill>
                <a:latin typeface="Calibri" pitchFamily="34" charset="0"/>
                <a:ea typeface="Calibri" pitchFamily="34" charset="-122"/>
                <a:cs typeface="Calibri" pitchFamily="34" charset="-120"/>
              </a:rPr>
              <a:t>Publicación en EventBridge: agregar un consumidor de datos no toca el código que funciona</a:t>
            </a:r>
            <a:endParaRPr lang="en-US" sz="1150" dirty="0"/>
          </a:p>
        </p:txBody>
      </p:sp>
      <p:sp>
        <p:nvSpPr>
          <p:cNvPr id="30" name="Text 28"/>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31" name="Text 29"/>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REPOSITORIO</a:t>
            </a:r>
            <a:endParaRPr lang="en-US" sz="1100" dirty="0"/>
          </a:p>
        </p:txBody>
      </p:sp>
      <p:sp>
        <p:nvSpPr>
          <p:cNvPr id="3" name="Text 1"/>
          <p:cNvSpPr txBox="1"/>
          <p:nvPr/>
        </p:nvSpPr>
        <p:spPr>
          <a:xfrm>
            <a:off x="640080" y="621792"/>
            <a:ext cx="1088136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Qué se entrega</a:t>
            </a:r>
            <a:endParaRPr lang="en-US" sz="3400" dirty="0"/>
          </a:p>
        </p:txBody>
      </p:sp>
      <p:sp>
        <p:nvSpPr>
          <p:cNvPr id="4" name="Shape 2"/>
          <p:cNvSpPr/>
          <p:nvPr/>
        </p:nvSpPr>
        <p:spPr>
          <a:xfrm>
            <a:off x="640080" y="1463040"/>
            <a:ext cx="2514600" cy="2743200"/>
          </a:xfrm>
          <a:prstGeom prst="roundRect">
            <a:avLst>
              <a:gd name="adj" fmla="val 3636"/>
            </a:avLst>
          </a:prstGeom>
          <a:solidFill>
            <a:srgbClr val="F5F5F0"/>
          </a:solidFill>
          <a:ln w="12700">
            <a:solidFill>
              <a:srgbClr val="DCE3DA"/>
            </a:solidFill>
            <a:prstDash val="solid"/>
          </a:ln>
        </p:spPr>
      </p:sp>
      <p:sp>
        <p:nvSpPr>
          <p:cNvPr id="5" name="Text 3"/>
          <p:cNvSpPr txBox="1"/>
          <p:nvPr/>
        </p:nvSpPr>
        <p:spPr>
          <a:xfrm>
            <a:off x="868680" y="1664208"/>
            <a:ext cx="2057400" cy="274320"/>
          </a:xfrm>
          <a:prstGeom prst="rect">
            <a:avLst/>
          </a:prstGeom>
          <a:noFill/>
          <a:ln/>
        </p:spPr>
        <p:txBody>
          <a:bodyPr wrap="square" lIns="0" tIns="0" rIns="0" bIns="0" rtlCol="0" anchor="ctr"/>
          <a:lstStyle/>
          <a:p>
            <a:pPr indent="0" marL="0">
              <a:buNone/>
            </a:pPr>
            <a:r>
              <a:rPr lang="en-US" sz="1300" b="1" dirty="0">
                <a:solidFill>
                  <a:srgbClr val="97BC62"/>
                </a:solidFill>
                <a:latin typeface="Courier New" pitchFamily="34" charset="0"/>
                <a:ea typeface="Courier New" pitchFamily="34" charset="-122"/>
                <a:cs typeface="Courier New" pitchFamily="34" charset="-120"/>
              </a:rPr>
              <a:t>mobile/</a:t>
            </a:r>
            <a:endParaRPr lang="en-US" sz="1300" dirty="0"/>
          </a:p>
        </p:txBody>
      </p:sp>
      <p:sp>
        <p:nvSpPr>
          <p:cNvPr id="6" name="Text 4"/>
          <p:cNvSpPr txBox="1"/>
          <p:nvPr/>
        </p:nvSpPr>
        <p:spPr>
          <a:xfrm>
            <a:off x="868680" y="1993392"/>
            <a:ext cx="2057400" cy="457200"/>
          </a:xfrm>
          <a:prstGeom prst="rect">
            <a:avLst/>
          </a:prstGeom>
          <a:noFill/>
          <a:ln/>
        </p:spPr>
        <p:txBody>
          <a:bodyPr wrap="square" lIns="0" tIns="0" rIns="0" bIns="0" rtlCol="0" anchor="ctr"/>
          <a:lstStyle/>
          <a:p>
            <a:pPr indent="0" marL="0">
              <a:lnSpc>
                <a:spcPts val="1900"/>
              </a:lnSpc>
              <a:buNone/>
            </a:pPr>
            <a:r>
              <a:rPr lang="en-US" sz="1500" b="1" dirty="0">
                <a:solidFill>
                  <a:srgbClr val="2C5F2D"/>
                </a:solidFill>
                <a:latin typeface="Cambria" pitchFamily="34" charset="0"/>
                <a:ea typeface="Cambria" pitchFamily="34" charset="-122"/>
                <a:cs typeface="Cambria" pitchFamily="34" charset="-120"/>
              </a:rPr>
              <a:t>App Flutter</a:t>
            </a:r>
            <a:endParaRPr lang="en-US" sz="1500" dirty="0"/>
          </a:p>
        </p:txBody>
      </p:sp>
      <p:sp>
        <p:nvSpPr>
          <p:cNvPr id="7" name="Text 5"/>
          <p:cNvSpPr txBox="1"/>
          <p:nvPr/>
        </p:nvSpPr>
        <p:spPr>
          <a:xfrm>
            <a:off x="868680" y="2514600"/>
            <a:ext cx="2057400" cy="1463040"/>
          </a:xfrm>
          <a:prstGeom prst="rect">
            <a:avLst/>
          </a:prstGeom>
          <a:noFill/>
          <a:ln/>
        </p:spPr>
        <p:txBody>
          <a:bodyPr wrap="square" lIns="0" tIns="0" rIns="0" bIns="0" rtlCol="0" anchor="ctr"/>
          <a:lstStyle/>
          <a:p>
            <a:pPr indent="0" marL="0">
              <a:lnSpc>
                <a:spcPts val="1500"/>
              </a:lnSpc>
              <a:buNone/>
            </a:pPr>
            <a:r>
              <a:rPr lang="en-US" sz="1100" dirty="0">
                <a:solidFill>
                  <a:srgbClr val="1C2620"/>
                </a:solidFill>
                <a:latin typeface="Calibri" pitchFamily="34" charset="0"/>
                <a:ea typeface="Calibri" pitchFamily="34" charset="-122"/>
                <a:cs typeface="Calibri" pitchFamily="34" charset="-120"/>
              </a:rPr>
              <a:t>Modelos, servicios (API, auth, ubicación, cola sin conexión), pantallas de reporte y mapa, tema accesible Material 3 y pruebas.</a:t>
            </a:r>
            <a:endParaRPr lang="en-US" sz="1100" dirty="0"/>
          </a:p>
        </p:txBody>
      </p:sp>
      <p:sp>
        <p:nvSpPr>
          <p:cNvPr id="8" name="Shape 6"/>
          <p:cNvSpPr/>
          <p:nvPr/>
        </p:nvSpPr>
        <p:spPr>
          <a:xfrm>
            <a:off x="3429000" y="1463040"/>
            <a:ext cx="2514600" cy="2743200"/>
          </a:xfrm>
          <a:prstGeom prst="roundRect">
            <a:avLst>
              <a:gd name="adj" fmla="val 3636"/>
            </a:avLst>
          </a:prstGeom>
          <a:solidFill>
            <a:srgbClr val="F5F5F0"/>
          </a:solidFill>
          <a:ln w="12700">
            <a:solidFill>
              <a:srgbClr val="DCE3DA"/>
            </a:solidFill>
            <a:prstDash val="solid"/>
          </a:ln>
        </p:spPr>
      </p:sp>
      <p:sp>
        <p:nvSpPr>
          <p:cNvPr id="9" name="Text 7"/>
          <p:cNvSpPr txBox="1"/>
          <p:nvPr/>
        </p:nvSpPr>
        <p:spPr>
          <a:xfrm>
            <a:off x="3657600" y="1664208"/>
            <a:ext cx="2057400" cy="274320"/>
          </a:xfrm>
          <a:prstGeom prst="rect">
            <a:avLst/>
          </a:prstGeom>
          <a:noFill/>
          <a:ln/>
        </p:spPr>
        <p:txBody>
          <a:bodyPr wrap="square" lIns="0" tIns="0" rIns="0" bIns="0" rtlCol="0" anchor="ctr"/>
          <a:lstStyle/>
          <a:p>
            <a:pPr indent="0" marL="0">
              <a:buNone/>
            </a:pPr>
            <a:r>
              <a:rPr lang="en-US" sz="1300" b="1" dirty="0">
                <a:solidFill>
                  <a:srgbClr val="97BC62"/>
                </a:solidFill>
                <a:latin typeface="Courier New" pitchFamily="34" charset="0"/>
                <a:ea typeface="Courier New" pitchFamily="34" charset="-122"/>
                <a:cs typeface="Courier New" pitchFamily="34" charset="-120"/>
              </a:rPr>
              <a:t>backend/</a:t>
            </a:r>
            <a:endParaRPr lang="en-US" sz="1300" dirty="0"/>
          </a:p>
        </p:txBody>
      </p:sp>
      <p:sp>
        <p:nvSpPr>
          <p:cNvPr id="10" name="Text 8"/>
          <p:cNvSpPr txBox="1"/>
          <p:nvPr/>
        </p:nvSpPr>
        <p:spPr>
          <a:xfrm>
            <a:off x="3657600" y="1993392"/>
            <a:ext cx="2057400" cy="457200"/>
          </a:xfrm>
          <a:prstGeom prst="rect">
            <a:avLst/>
          </a:prstGeom>
          <a:noFill/>
          <a:ln/>
        </p:spPr>
        <p:txBody>
          <a:bodyPr wrap="square" lIns="0" tIns="0" rIns="0" bIns="0" rtlCol="0" anchor="ctr"/>
          <a:lstStyle/>
          <a:p>
            <a:pPr indent="0" marL="0">
              <a:lnSpc>
                <a:spcPts val="1900"/>
              </a:lnSpc>
              <a:buNone/>
            </a:pPr>
            <a:r>
              <a:rPr lang="en-US" sz="1500" b="1" dirty="0">
                <a:solidFill>
                  <a:srgbClr val="2C5F2D"/>
                </a:solidFill>
                <a:latin typeface="Cambria" pitchFamily="34" charset="0"/>
                <a:ea typeface="Cambria" pitchFamily="34" charset="-122"/>
                <a:cs typeface="Cambria" pitchFamily="34" charset="-120"/>
              </a:rPr>
              <a:t>API en Python 3.12</a:t>
            </a:r>
            <a:endParaRPr lang="en-US" sz="1500" dirty="0"/>
          </a:p>
        </p:txBody>
      </p:sp>
      <p:sp>
        <p:nvSpPr>
          <p:cNvPr id="11" name="Text 9"/>
          <p:cNvSpPr txBox="1"/>
          <p:nvPr/>
        </p:nvSpPr>
        <p:spPr>
          <a:xfrm>
            <a:off x="3657600" y="2514600"/>
            <a:ext cx="2057400" cy="1463040"/>
          </a:xfrm>
          <a:prstGeom prst="rect">
            <a:avLst/>
          </a:prstGeom>
          <a:noFill/>
          <a:ln/>
        </p:spPr>
        <p:txBody>
          <a:bodyPr wrap="square" lIns="0" tIns="0" rIns="0" bIns="0" rtlCol="0" anchor="ctr"/>
          <a:lstStyle/>
          <a:p>
            <a:pPr indent="0" marL="0">
              <a:lnSpc>
                <a:spcPts val="1500"/>
              </a:lnSpc>
              <a:buNone/>
            </a:pPr>
            <a:r>
              <a:rPr lang="en-US" sz="1100" dirty="0">
                <a:solidFill>
                  <a:srgbClr val="1C2620"/>
                </a:solidFill>
                <a:latin typeface="Calibri" pitchFamily="34" charset="0"/>
                <a:ea typeface="Calibri" pitchFamily="34" charset="-122"/>
                <a:cs typeface="Calibri" pitchFamily="34" charset="-120"/>
              </a:rPr>
              <a:t>Ocho handlers, capa de dominio y servicios, repositorios intercambiables, 112 pruebas y peticiones listas en api.http.</a:t>
            </a:r>
            <a:endParaRPr lang="en-US" sz="1100" dirty="0"/>
          </a:p>
        </p:txBody>
      </p:sp>
      <p:sp>
        <p:nvSpPr>
          <p:cNvPr id="12" name="Shape 10"/>
          <p:cNvSpPr/>
          <p:nvPr/>
        </p:nvSpPr>
        <p:spPr>
          <a:xfrm>
            <a:off x="6217920" y="1463040"/>
            <a:ext cx="2514600" cy="2743200"/>
          </a:xfrm>
          <a:prstGeom prst="roundRect">
            <a:avLst>
              <a:gd name="adj" fmla="val 3636"/>
            </a:avLst>
          </a:prstGeom>
          <a:solidFill>
            <a:srgbClr val="F5F5F0"/>
          </a:solidFill>
          <a:ln w="12700">
            <a:solidFill>
              <a:srgbClr val="DCE3DA"/>
            </a:solidFill>
            <a:prstDash val="solid"/>
          </a:ln>
        </p:spPr>
      </p:sp>
      <p:sp>
        <p:nvSpPr>
          <p:cNvPr id="13" name="Text 11"/>
          <p:cNvSpPr txBox="1"/>
          <p:nvPr/>
        </p:nvSpPr>
        <p:spPr>
          <a:xfrm>
            <a:off x="6446520" y="1664208"/>
            <a:ext cx="2057400" cy="274320"/>
          </a:xfrm>
          <a:prstGeom prst="rect">
            <a:avLst/>
          </a:prstGeom>
          <a:noFill/>
          <a:ln/>
        </p:spPr>
        <p:txBody>
          <a:bodyPr wrap="square" lIns="0" tIns="0" rIns="0" bIns="0" rtlCol="0" anchor="ctr"/>
          <a:lstStyle/>
          <a:p>
            <a:pPr indent="0" marL="0">
              <a:buNone/>
            </a:pPr>
            <a:r>
              <a:rPr lang="en-US" sz="1300" b="1" dirty="0">
                <a:solidFill>
                  <a:srgbClr val="97BC62"/>
                </a:solidFill>
                <a:latin typeface="Courier New" pitchFamily="34" charset="0"/>
                <a:ea typeface="Courier New" pitchFamily="34" charset="-122"/>
                <a:cs typeface="Courier New" pitchFamily="34" charset="-120"/>
              </a:rPr>
              <a:t>infra/</a:t>
            </a:r>
            <a:endParaRPr lang="en-US" sz="1300" dirty="0"/>
          </a:p>
        </p:txBody>
      </p:sp>
      <p:sp>
        <p:nvSpPr>
          <p:cNvPr id="14" name="Text 12"/>
          <p:cNvSpPr txBox="1"/>
          <p:nvPr/>
        </p:nvSpPr>
        <p:spPr>
          <a:xfrm>
            <a:off x="6446520" y="1993392"/>
            <a:ext cx="2057400" cy="457200"/>
          </a:xfrm>
          <a:prstGeom prst="rect">
            <a:avLst/>
          </a:prstGeom>
          <a:noFill/>
          <a:ln/>
        </p:spPr>
        <p:txBody>
          <a:bodyPr wrap="square" lIns="0" tIns="0" rIns="0" bIns="0" rtlCol="0" anchor="ctr"/>
          <a:lstStyle/>
          <a:p>
            <a:pPr indent="0" marL="0">
              <a:lnSpc>
                <a:spcPts val="1900"/>
              </a:lnSpc>
              <a:buNone/>
            </a:pPr>
            <a:r>
              <a:rPr lang="en-US" sz="1500" b="1" dirty="0">
                <a:solidFill>
                  <a:srgbClr val="2C5F2D"/>
                </a:solidFill>
                <a:latin typeface="Cambria" pitchFamily="34" charset="0"/>
                <a:ea typeface="Cambria" pitchFamily="34" charset="-122"/>
                <a:cs typeface="Cambria" pitchFamily="34" charset="-120"/>
              </a:rPr>
              <a:t>Terraform</a:t>
            </a:r>
            <a:endParaRPr lang="en-US" sz="1500" dirty="0"/>
          </a:p>
        </p:txBody>
      </p:sp>
      <p:sp>
        <p:nvSpPr>
          <p:cNvPr id="15" name="Text 13"/>
          <p:cNvSpPr txBox="1"/>
          <p:nvPr/>
        </p:nvSpPr>
        <p:spPr>
          <a:xfrm>
            <a:off x="6446520" y="2514600"/>
            <a:ext cx="2057400" cy="1463040"/>
          </a:xfrm>
          <a:prstGeom prst="rect">
            <a:avLst/>
          </a:prstGeom>
          <a:noFill/>
          <a:ln/>
        </p:spPr>
        <p:txBody>
          <a:bodyPr wrap="square" lIns="0" tIns="0" rIns="0" bIns="0" rtlCol="0" anchor="ctr"/>
          <a:lstStyle/>
          <a:p>
            <a:pPr indent="0" marL="0">
              <a:lnSpc>
                <a:spcPts val="1500"/>
              </a:lnSpc>
              <a:buNone/>
            </a:pPr>
            <a:r>
              <a:rPr lang="en-US" sz="1100" dirty="0">
                <a:solidFill>
                  <a:srgbClr val="1C2620"/>
                </a:solidFill>
                <a:latin typeface="Calibri" pitchFamily="34" charset="0"/>
                <a:ea typeface="Calibri" pitchFamily="34" charset="-122"/>
                <a:cs typeface="Calibri" pitchFamily="34" charset="-120"/>
              </a:rPr>
              <a:t>DynamoDB, S3, Cognito, Lambda con roles de mínimo privilegio, API Gateway, EventBridge, SNS, DLQ, alarmas y tablero.</a:t>
            </a:r>
            <a:endParaRPr lang="en-US" sz="1100" dirty="0"/>
          </a:p>
        </p:txBody>
      </p:sp>
      <p:sp>
        <p:nvSpPr>
          <p:cNvPr id="16" name="Shape 14"/>
          <p:cNvSpPr/>
          <p:nvPr/>
        </p:nvSpPr>
        <p:spPr>
          <a:xfrm>
            <a:off x="9006840" y="1463040"/>
            <a:ext cx="2514600" cy="2743200"/>
          </a:xfrm>
          <a:prstGeom prst="roundRect">
            <a:avLst>
              <a:gd name="adj" fmla="val 3636"/>
            </a:avLst>
          </a:prstGeom>
          <a:solidFill>
            <a:srgbClr val="F5F5F0"/>
          </a:solidFill>
          <a:ln w="12700">
            <a:solidFill>
              <a:srgbClr val="DCE3DA"/>
            </a:solidFill>
            <a:prstDash val="solid"/>
          </a:ln>
        </p:spPr>
      </p:sp>
      <p:sp>
        <p:nvSpPr>
          <p:cNvPr id="17" name="Text 15"/>
          <p:cNvSpPr txBox="1"/>
          <p:nvPr/>
        </p:nvSpPr>
        <p:spPr>
          <a:xfrm>
            <a:off x="9235440" y="1664208"/>
            <a:ext cx="2057400" cy="274320"/>
          </a:xfrm>
          <a:prstGeom prst="rect">
            <a:avLst/>
          </a:prstGeom>
          <a:noFill/>
          <a:ln/>
        </p:spPr>
        <p:txBody>
          <a:bodyPr wrap="square" lIns="0" tIns="0" rIns="0" bIns="0" rtlCol="0" anchor="ctr"/>
          <a:lstStyle/>
          <a:p>
            <a:pPr indent="0" marL="0">
              <a:buNone/>
            </a:pPr>
            <a:r>
              <a:rPr lang="en-US" sz="1300" b="1" dirty="0">
                <a:solidFill>
                  <a:srgbClr val="97BC62"/>
                </a:solidFill>
                <a:latin typeface="Courier New" pitchFamily="34" charset="0"/>
                <a:ea typeface="Courier New" pitchFamily="34" charset="-122"/>
                <a:cs typeface="Courier New" pitchFamily="34" charset="-120"/>
              </a:rPr>
              <a:t>docs/</a:t>
            </a:r>
            <a:endParaRPr lang="en-US" sz="1300" dirty="0"/>
          </a:p>
        </p:txBody>
      </p:sp>
      <p:sp>
        <p:nvSpPr>
          <p:cNvPr id="18" name="Text 16"/>
          <p:cNvSpPr txBox="1"/>
          <p:nvPr/>
        </p:nvSpPr>
        <p:spPr>
          <a:xfrm>
            <a:off x="9235440" y="1993392"/>
            <a:ext cx="2057400" cy="457200"/>
          </a:xfrm>
          <a:prstGeom prst="rect">
            <a:avLst/>
          </a:prstGeom>
          <a:noFill/>
          <a:ln/>
        </p:spPr>
        <p:txBody>
          <a:bodyPr wrap="square" lIns="0" tIns="0" rIns="0" bIns="0" rtlCol="0" anchor="ctr"/>
          <a:lstStyle/>
          <a:p>
            <a:pPr indent="0" marL="0">
              <a:lnSpc>
                <a:spcPts val="1900"/>
              </a:lnSpc>
              <a:buNone/>
            </a:pPr>
            <a:r>
              <a:rPr lang="en-US" sz="1500" b="1" dirty="0">
                <a:solidFill>
                  <a:srgbClr val="2C5F2D"/>
                </a:solidFill>
                <a:latin typeface="Cambria" pitchFamily="34" charset="0"/>
                <a:ea typeface="Cambria" pitchFamily="34" charset="-122"/>
                <a:cs typeface="Cambria" pitchFamily="34" charset="-120"/>
              </a:rPr>
              <a:t>Documentación técnica</a:t>
            </a:r>
            <a:endParaRPr lang="en-US" sz="1500" dirty="0"/>
          </a:p>
        </p:txBody>
      </p:sp>
      <p:sp>
        <p:nvSpPr>
          <p:cNvPr id="19" name="Text 17"/>
          <p:cNvSpPr txBox="1"/>
          <p:nvPr/>
        </p:nvSpPr>
        <p:spPr>
          <a:xfrm>
            <a:off x="9235440" y="2514600"/>
            <a:ext cx="2057400" cy="1463040"/>
          </a:xfrm>
          <a:prstGeom prst="rect">
            <a:avLst/>
          </a:prstGeom>
          <a:noFill/>
          <a:ln/>
        </p:spPr>
        <p:txBody>
          <a:bodyPr wrap="square" lIns="0" tIns="0" rIns="0" bIns="0" rtlCol="0" anchor="ctr"/>
          <a:lstStyle/>
          <a:p>
            <a:pPr indent="0" marL="0">
              <a:lnSpc>
                <a:spcPts val="1500"/>
              </a:lnSpc>
              <a:buNone/>
            </a:pPr>
            <a:r>
              <a:rPr lang="en-US" sz="1100" dirty="0">
                <a:solidFill>
                  <a:srgbClr val="1C2620"/>
                </a:solidFill>
                <a:latin typeface="Calibri" pitchFamily="34" charset="0"/>
                <a:ea typeface="Calibri" pitchFamily="34" charset="-122"/>
                <a:cs typeface="Calibri" pitchFamily="34" charset="-120"/>
              </a:rPr>
              <a:t>Diez documentos: análisis, arquitectura, modelo de datos, seguridad, ADR, pruebas, proyección, despliegue, API y guion de sustentación.</a:t>
            </a:r>
            <a:endParaRPr lang="en-US" sz="1100" dirty="0"/>
          </a:p>
        </p:txBody>
      </p:sp>
      <p:sp>
        <p:nvSpPr>
          <p:cNvPr id="20" name="Shape 18"/>
          <p:cNvSpPr/>
          <p:nvPr/>
        </p:nvSpPr>
        <p:spPr>
          <a:xfrm>
            <a:off x="640080" y="4480560"/>
            <a:ext cx="10881360" cy="1371600"/>
          </a:xfrm>
          <a:prstGeom prst="roundRect">
            <a:avLst>
              <a:gd name="adj" fmla="val 6667"/>
            </a:avLst>
          </a:prstGeom>
          <a:solidFill>
            <a:srgbClr val="1A3A1B"/>
          </a:solidFill>
          <a:ln w="12700">
            <a:solidFill>
              <a:srgbClr val="DCE3DA"/>
            </a:solidFill>
            <a:prstDash val="solid"/>
          </a:ln>
        </p:spPr>
      </p:sp>
      <p:sp>
        <p:nvSpPr>
          <p:cNvPr id="21" name="Text 19"/>
          <p:cNvSpPr txBox="1"/>
          <p:nvPr/>
        </p:nvSpPr>
        <p:spPr>
          <a:xfrm>
            <a:off x="1051560" y="4681728"/>
            <a:ext cx="10058400" cy="3200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Repositorio público en GitHub</a:t>
            </a:r>
            <a:endParaRPr lang="en-US" sz="1900" dirty="0"/>
          </a:p>
        </p:txBody>
      </p:sp>
      <p:sp>
        <p:nvSpPr>
          <p:cNvPr id="22" name="Text 20"/>
          <p:cNvSpPr txBox="1"/>
          <p:nvPr/>
        </p:nvSpPr>
        <p:spPr>
          <a:xfrm>
            <a:off x="1051560" y="5029200"/>
            <a:ext cx="10058400" cy="320040"/>
          </a:xfrm>
          <a:prstGeom prst="rect">
            <a:avLst/>
          </a:prstGeom>
          <a:noFill/>
          <a:ln/>
        </p:spPr>
        <p:txBody>
          <a:bodyPr wrap="square" lIns="0" tIns="0" rIns="0" bIns="0" rtlCol="0" anchor="ctr"/>
          <a:lstStyle/>
          <a:p>
            <a:pPr indent="0" marL="0">
              <a:buNone/>
            </a:pPr>
            <a:r>
              <a:rPr lang="en-US" sz="1600" b="1" dirty="0">
                <a:solidFill>
                  <a:srgbClr val="97BC62"/>
                </a:solidFill>
                <a:latin typeface="Courier New" pitchFamily="34" charset="0"/>
                <a:ea typeface="Courier New" pitchFamily="34" charset="-122"/>
                <a:cs typeface="Courier New" pitchFamily="34" charset="-120"/>
              </a:rPr>
              <a:t>github.com/DiegoGamba/ecoruta</a:t>
            </a:r>
            <a:endParaRPr lang="en-US" sz="1600" dirty="0"/>
          </a:p>
        </p:txBody>
      </p:sp>
      <p:sp>
        <p:nvSpPr>
          <p:cNvPr id="23" name="Text 21"/>
          <p:cNvSpPr txBox="1"/>
          <p:nvPr/>
        </p:nvSpPr>
        <p:spPr>
          <a:xfrm>
            <a:off x="1051560" y="5413248"/>
            <a:ext cx="10058400" cy="292608"/>
          </a:xfrm>
          <a:prstGeom prst="rect">
            <a:avLst/>
          </a:prstGeom>
          <a:noFill/>
          <a:ln/>
        </p:spPr>
        <p:txBody>
          <a:bodyPr wrap="square" lIns="0" tIns="0" rIns="0" bIns="0" rtlCol="0" anchor="ctr"/>
          <a:lstStyle/>
          <a:p>
            <a:pPr indent="0" marL="0">
              <a:buNone/>
            </a:pPr>
            <a:r>
              <a:rPr lang="en-US" sz="1150" dirty="0">
                <a:solidFill>
                  <a:srgbClr val="F5F5F0"/>
                </a:solidFill>
                <a:latin typeface="Calibri" pitchFamily="34" charset="0"/>
                <a:ea typeface="Calibri" pitchFamily="34" charset="-122"/>
                <a:cs typeface="Calibri" pitchFamily="34" charset="-120"/>
              </a:rPr>
              <a:t>README con diagramas y guía de despliegue · CI con pruebas, análisis de seguridad y validación de infraestructura · Licencia MIT</a:t>
            </a:r>
            <a:endParaRPr lang="en-US" sz="1150" dirty="0"/>
          </a:p>
        </p:txBody>
      </p:sp>
      <p:sp>
        <p:nvSpPr>
          <p:cNvPr id="24" name="Text 22"/>
          <p:cNvSpPr txBox="1"/>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6B7A70"/>
                </a:solidFill>
                <a:latin typeface="Calibri" pitchFamily="34" charset="0"/>
                <a:ea typeface="Calibri" pitchFamily="34" charset="-122"/>
                <a:cs typeface="Calibri" pitchFamily="34" charset="-120"/>
              </a:rPr>
              <a:t>EcoRuta · Taller ABP · Diseño de Aplicaciones Móviles</a:t>
            </a:r>
            <a:endParaRPr lang="en-US" sz="900" dirty="0"/>
          </a:p>
        </p:txBody>
      </p:sp>
      <p:sp>
        <p:nvSpPr>
          <p:cNvPr id="25" name="Text 23"/>
          <p:cNvSpPr txBox="1"/>
          <p:nvPr/>
        </p:nvSpPr>
        <p:spPr>
          <a:xfrm>
            <a:off x="10881360" y="6355080"/>
            <a:ext cx="640080" cy="256032"/>
          </a:xfrm>
          <a:prstGeom prst="rect">
            <a:avLst/>
          </a:prstGeom>
          <a:noFill/>
          <a:ln/>
        </p:spPr>
        <p:txBody>
          <a:bodyPr wrap="square" lIns="0" tIns="0" rIns="0" bIns="0" rtlCol="0" anchor="ctr"/>
          <a:lstStyle/>
          <a:p>
            <a:pPr algn="r" indent="0" marL="0">
              <a:buNone/>
            </a:pPr>
            <a:r>
              <a:rPr lang="en-US" sz="900" dirty="0">
                <a:solidFill>
                  <a:srgbClr val="6B7A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3A1B"/>
        </a:solidFill>
      </p:bgPr>
    </p:bg>
    <p:spTree>
      <p:nvGrpSpPr>
        <p:cNvPr id="1" name=""/>
        <p:cNvGrpSpPr/>
        <p:nvPr/>
      </p:nvGrpSpPr>
      <p:grpSpPr>
        <a:xfrm>
          <a:off x="0" y="0"/>
          <a:ext cx="0" cy="0"/>
          <a:chOff x="0" y="0"/>
          <a:chExt cx="0" cy="0"/>
        </a:xfrm>
      </p:grpSpPr>
      <p:sp>
        <p:nvSpPr>
          <p:cNvPr id="2" name="Shape 0"/>
          <p:cNvSpPr/>
          <p:nvPr/>
        </p:nvSpPr>
        <p:spPr>
          <a:xfrm>
            <a:off x="-1645920" y="3108960"/>
            <a:ext cx="4754880" cy="4754880"/>
          </a:xfrm>
          <a:prstGeom prst="ellipse">
            <a:avLst/>
          </a:prstGeom>
          <a:solidFill>
            <a:srgbClr val="2C5F2D">
              <a:alpha val="50000"/>
            </a:srgbClr>
          </a:solidFill>
          <a:ln w="12700">
            <a:solidFill>
              <a:srgbClr val="2C5F2D">
                <a:alpha val="0"/>
              </a:srgbClr>
            </a:solidFill>
            <a:prstDash val="solid"/>
          </a:ln>
        </p:spPr>
      </p:sp>
      <p:sp>
        <p:nvSpPr>
          <p:cNvPr id="3" name="Text 1"/>
          <p:cNvSpPr txBox="1"/>
          <p:nvPr/>
        </p:nvSpPr>
        <p:spPr>
          <a:xfrm>
            <a:off x="640080" y="1188720"/>
            <a:ext cx="7315200" cy="274320"/>
          </a:xfrm>
          <a:prstGeom prst="rect">
            <a:avLst/>
          </a:prstGeom>
          <a:noFill/>
          <a:ln/>
        </p:spPr>
        <p:txBody>
          <a:bodyPr wrap="square" lIns="0" tIns="0" rIns="0" bIns="0" rtlCol="0" anchor="ctr"/>
          <a:lstStyle/>
          <a:p>
            <a:pPr indent="0" marL="0">
              <a:buNone/>
            </a:pPr>
            <a:r>
              <a:rPr lang="en-US" sz="1200" b="1" spc="300" kern="0" dirty="0">
                <a:solidFill>
                  <a:srgbClr val="97BC62"/>
                </a:solidFill>
                <a:latin typeface="Calibri" pitchFamily="34" charset="0"/>
                <a:ea typeface="Calibri" pitchFamily="34" charset="-122"/>
                <a:cs typeface="Calibri" pitchFamily="34" charset="-120"/>
              </a:rPr>
              <a:t>EN RESUMEN</a:t>
            </a:r>
            <a:endParaRPr lang="en-US" sz="1200" dirty="0"/>
          </a:p>
        </p:txBody>
      </p:sp>
      <p:sp>
        <p:nvSpPr>
          <p:cNvPr id="4" name="Text 2"/>
          <p:cNvSpPr txBox="1"/>
          <p:nvPr/>
        </p:nvSpPr>
        <p:spPr>
          <a:xfrm>
            <a:off x="640080" y="1554480"/>
            <a:ext cx="10424160" cy="1371600"/>
          </a:xfrm>
          <a:prstGeom prst="rect">
            <a:avLst/>
          </a:prstGeom>
          <a:noFill/>
          <a:ln/>
        </p:spPr>
        <p:txBody>
          <a:bodyPr wrap="square" lIns="0" tIns="0" rIns="0" bIns="0" rtlCol="0" anchor="ctr"/>
          <a:lstStyle/>
          <a:p>
            <a:pPr indent="0" marL="0">
              <a:lnSpc>
                <a:spcPts val="4400"/>
              </a:lnSpc>
              <a:buNone/>
            </a:pPr>
            <a:r>
              <a:rPr lang="en-US" sz="3100" b="1" dirty="0">
                <a:solidFill>
                  <a:srgbClr val="FFFFFF"/>
                </a:solidFill>
                <a:latin typeface="Cambria" pitchFamily="34" charset="0"/>
                <a:ea typeface="Cambria" pitchFamily="34" charset="-122"/>
                <a:cs typeface="Cambria" pitchFamily="34" charset="-120"/>
              </a:rPr>
              <a:t>El conocimiento local del vecino,</a:t>
            </a:r>
            <a:endParaRPr lang="en-US" sz="3100" dirty="0"/>
          </a:p>
          <a:p>
            <a:pPr indent="0" marL="0">
              <a:lnSpc>
                <a:spcPts val="4400"/>
              </a:lnSpc>
              <a:buNone/>
            </a:pPr>
            <a:r>
              <a:rPr lang="en-US" sz="3100" b="1" dirty="0">
                <a:solidFill>
                  <a:srgbClr val="FFFFFF"/>
                </a:solidFill>
                <a:latin typeface="Cambria" pitchFamily="34" charset="0"/>
                <a:ea typeface="Cambria" pitchFamily="34" charset="-122"/>
                <a:cs typeface="Cambria" pitchFamily="34" charset="-120"/>
              </a:rPr>
              <a:t>convertido en un inventario vivo y priorizado.</a:t>
            </a:r>
            <a:endParaRPr lang="en-US" sz="3100" dirty="0"/>
          </a:p>
        </p:txBody>
      </p:sp>
      <p:sp>
        <p:nvSpPr>
          <p:cNvPr id="5" name="Text 3"/>
          <p:cNvSpPr txBox="1"/>
          <p:nvPr/>
        </p:nvSpPr>
        <p:spPr>
          <a:xfrm>
            <a:off x="640080" y="3429000"/>
            <a:ext cx="5166360" cy="274320"/>
          </a:xfrm>
          <a:prstGeom prst="rect">
            <a:avLst/>
          </a:prstGeom>
          <a:noFill/>
          <a:ln/>
        </p:spPr>
        <p:txBody>
          <a:bodyPr wrap="square" lIns="0" tIns="0" rIns="0" bIns="0" rtlCol="0" anchor="ctr"/>
          <a:lstStyle/>
          <a:p>
            <a:pPr indent="0" marL="0">
              <a:buNone/>
            </a:pPr>
            <a:r>
              <a:rPr lang="en-US" sz="1600" b="1" dirty="0">
                <a:solidFill>
                  <a:srgbClr val="97BC62"/>
                </a:solidFill>
                <a:latin typeface="Cambria" pitchFamily="34" charset="0"/>
                <a:ea typeface="Cambria" pitchFamily="34" charset="-122"/>
                <a:cs typeface="Cambria" pitchFamily="34" charset="-120"/>
              </a:rPr>
              <a:t>Problema real y delimitado</a:t>
            </a:r>
            <a:endParaRPr lang="en-US" sz="1600" dirty="0"/>
          </a:p>
        </p:txBody>
      </p:sp>
      <p:sp>
        <p:nvSpPr>
          <p:cNvPr id="6" name="Text 4"/>
          <p:cNvSpPr txBox="1"/>
          <p:nvPr/>
        </p:nvSpPr>
        <p:spPr>
          <a:xfrm>
            <a:off x="640080" y="3739896"/>
            <a:ext cx="5166360" cy="548640"/>
          </a:xfrm>
          <a:prstGeom prst="rect">
            <a:avLst/>
          </a:prstGeom>
          <a:noFill/>
          <a:ln/>
        </p:spPr>
        <p:txBody>
          <a:bodyPr wrap="square" lIns="0" tIns="0" rIns="0" bIns="0" rtlCol="0" anchor="ctr"/>
          <a:lstStyle/>
          <a:p>
            <a:pPr indent="0" marL="0">
              <a:lnSpc>
                <a:spcPts val="1600"/>
              </a:lnSpc>
              <a:buNone/>
            </a:pPr>
            <a:r>
              <a:rPr lang="en-US" sz="1200" dirty="0">
                <a:solidFill>
                  <a:srgbClr val="F5F5F0"/>
                </a:solidFill>
                <a:latin typeface="Calibri" pitchFamily="34" charset="0"/>
                <a:ea typeface="Calibri" pitchFamily="34" charset="-122"/>
                <a:cs typeface="Calibri" pitchFamily="34" charset="-120"/>
              </a:rPr>
              <a:t>Puntos críticos dinámicos que los inventarios manuales no alcanzan</a:t>
            </a:r>
            <a:endParaRPr lang="en-US" sz="1200" dirty="0"/>
          </a:p>
        </p:txBody>
      </p:sp>
      <p:sp>
        <p:nvSpPr>
          <p:cNvPr id="7" name="Text 5"/>
          <p:cNvSpPr txBox="1"/>
          <p:nvPr/>
        </p:nvSpPr>
        <p:spPr>
          <a:xfrm>
            <a:off x="6217920" y="3429000"/>
            <a:ext cx="5166360" cy="274320"/>
          </a:xfrm>
          <a:prstGeom prst="rect">
            <a:avLst/>
          </a:prstGeom>
          <a:noFill/>
          <a:ln/>
        </p:spPr>
        <p:txBody>
          <a:bodyPr wrap="square" lIns="0" tIns="0" rIns="0" bIns="0" rtlCol="0" anchor="ctr"/>
          <a:lstStyle/>
          <a:p>
            <a:pPr indent="0" marL="0">
              <a:buNone/>
            </a:pPr>
            <a:r>
              <a:rPr lang="en-US" sz="1600" b="1" dirty="0">
                <a:solidFill>
                  <a:srgbClr val="97BC62"/>
                </a:solidFill>
                <a:latin typeface="Cambria" pitchFamily="34" charset="0"/>
                <a:ea typeface="Cambria" pitchFamily="34" charset="-122"/>
                <a:cs typeface="Cambria" pitchFamily="34" charset="-120"/>
              </a:rPr>
              <a:t>Arquitectura justificada</a:t>
            </a:r>
            <a:endParaRPr lang="en-US" sz="1600" dirty="0"/>
          </a:p>
        </p:txBody>
      </p:sp>
      <p:sp>
        <p:nvSpPr>
          <p:cNvPr id="8" name="Text 6"/>
          <p:cNvSpPr txBox="1"/>
          <p:nvPr/>
        </p:nvSpPr>
        <p:spPr>
          <a:xfrm>
            <a:off x="6217920" y="3739896"/>
            <a:ext cx="5166360" cy="548640"/>
          </a:xfrm>
          <a:prstGeom prst="rect">
            <a:avLst/>
          </a:prstGeom>
          <a:noFill/>
          <a:ln/>
        </p:spPr>
        <p:txBody>
          <a:bodyPr wrap="square" lIns="0" tIns="0" rIns="0" bIns="0" rtlCol="0" anchor="ctr"/>
          <a:lstStyle/>
          <a:p>
            <a:pPr indent="0" marL="0">
              <a:lnSpc>
                <a:spcPts val="1600"/>
              </a:lnSpc>
              <a:buNone/>
            </a:pPr>
            <a:r>
              <a:rPr lang="en-US" sz="1200" dirty="0">
                <a:solidFill>
                  <a:srgbClr val="F5F5F0"/>
                </a:solidFill>
                <a:latin typeface="Calibri" pitchFamily="34" charset="0"/>
                <a:ea typeface="Calibri" pitchFamily="34" charset="-122"/>
                <a:cs typeface="Calibri" pitchFamily="34" charset="-120"/>
              </a:rPr>
              <a:t>Cada servicio responde a un rasgo del problema, con alternativas descartadas por escrito</a:t>
            </a:r>
            <a:endParaRPr lang="en-US" sz="1200" dirty="0"/>
          </a:p>
        </p:txBody>
      </p:sp>
      <p:sp>
        <p:nvSpPr>
          <p:cNvPr id="9" name="Text 7"/>
          <p:cNvSpPr txBox="1"/>
          <p:nvPr/>
        </p:nvSpPr>
        <p:spPr>
          <a:xfrm>
            <a:off x="640080" y="4526280"/>
            <a:ext cx="5166360" cy="274320"/>
          </a:xfrm>
          <a:prstGeom prst="rect">
            <a:avLst/>
          </a:prstGeom>
          <a:noFill/>
          <a:ln/>
        </p:spPr>
        <p:txBody>
          <a:bodyPr wrap="square" lIns="0" tIns="0" rIns="0" bIns="0" rtlCol="0" anchor="ctr"/>
          <a:lstStyle/>
          <a:p>
            <a:pPr indent="0" marL="0">
              <a:buNone/>
            </a:pPr>
            <a:r>
              <a:rPr lang="en-US" sz="1600" b="1" dirty="0">
                <a:solidFill>
                  <a:srgbClr val="97BC62"/>
                </a:solidFill>
                <a:latin typeface="Cambria" pitchFamily="34" charset="0"/>
                <a:ea typeface="Cambria" pitchFamily="34" charset="-122"/>
                <a:cs typeface="Cambria" pitchFamily="34" charset="-120"/>
              </a:rPr>
              <a:t>Ingeniería verificable</a:t>
            </a:r>
            <a:endParaRPr lang="en-US" sz="1600" dirty="0"/>
          </a:p>
        </p:txBody>
      </p:sp>
      <p:sp>
        <p:nvSpPr>
          <p:cNvPr id="10" name="Text 8"/>
          <p:cNvSpPr txBox="1"/>
          <p:nvPr/>
        </p:nvSpPr>
        <p:spPr>
          <a:xfrm>
            <a:off x="640080" y="4837176"/>
            <a:ext cx="5166360" cy="548640"/>
          </a:xfrm>
          <a:prstGeom prst="rect">
            <a:avLst/>
          </a:prstGeom>
          <a:noFill/>
          <a:ln/>
        </p:spPr>
        <p:txBody>
          <a:bodyPr wrap="square" lIns="0" tIns="0" rIns="0" bIns="0" rtlCol="0" anchor="ctr"/>
          <a:lstStyle/>
          <a:p>
            <a:pPr indent="0" marL="0">
              <a:lnSpc>
                <a:spcPts val="1600"/>
              </a:lnSpc>
              <a:buNone/>
            </a:pPr>
            <a:r>
              <a:rPr lang="en-US" sz="1200" dirty="0">
                <a:solidFill>
                  <a:srgbClr val="F5F5F0"/>
                </a:solidFill>
                <a:latin typeface="Calibri" pitchFamily="34" charset="0"/>
                <a:ea typeface="Calibri" pitchFamily="34" charset="-122"/>
                <a:cs typeface="Calibri" pitchFamily="34" charset="-120"/>
              </a:rPr>
              <a:t>112 pruebas, roles de mínimo privilegio, infraestructura como código y CI</a:t>
            </a:r>
            <a:endParaRPr lang="en-US" sz="1200" dirty="0"/>
          </a:p>
        </p:txBody>
      </p:sp>
      <p:sp>
        <p:nvSpPr>
          <p:cNvPr id="11" name="Text 9"/>
          <p:cNvSpPr txBox="1"/>
          <p:nvPr/>
        </p:nvSpPr>
        <p:spPr>
          <a:xfrm>
            <a:off x="6217920" y="4526280"/>
            <a:ext cx="5166360" cy="274320"/>
          </a:xfrm>
          <a:prstGeom prst="rect">
            <a:avLst/>
          </a:prstGeom>
          <a:noFill/>
          <a:ln/>
        </p:spPr>
        <p:txBody>
          <a:bodyPr wrap="square" lIns="0" tIns="0" rIns="0" bIns="0" rtlCol="0" anchor="ctr"/>
          <a:lstStyle/>
          <a:p>
            <a:pPr indent="0" marL="0">
              <a:buNone/>
            </a:pPr>
            <a:r>
              <a:rPr lang="en-US" sz="1600" b="1" dirty="0">
                <a:solidFill>
                  <a:srgbClr val="97BC62"/>
                </a:solidFill>
                <a:latin typeface="Cambria" pitchFamily="34" charset="0"/>
                <a:ea typeface="Cambria" pitchFamily="34" charset="-122"/>
                <a:cs typeface="Cambria" pitchFamily="34" charset="-120"/>
              </a:rPr>
              <a:t>Camino investigativo abierto</a:t>
            </a:r>
            <a:endParaRPr lang="en-US" sz="1600" dirty="0"/>
          </a:p>
        </p:txBody>
      </p:sp>
      <p:sp>
        <p:nvSpPr>
          <p:cNvPr id="12" name="Text 10"/>
          <p:cNvSpPr txBox="1"/>
          <p:nvPr/>
        </p:nvSpPr>
        <p:spPr>
          <a:xfrm>
            <a:off x="6217920" y="4837176"/>
            <a:ext cx="5166360" cy="548640"/>
          </a:xfrm>
          <a:prstGeom prst="rect">
            <a:avLst/>
          </a:prstGeom>
          <a:noFill/>
          <a:ln/>
        </p:spPr>
        <p:txBody>
          <a:bodyPr wrap="square" lIns="0" tIns="0" rIns="0" bIns="0" rtlCol="0" anchor="ctr"/>
          <a:lstStyle/>
          <a:p>
            <a:pPr indent="0" marL="0">
              <a:lnSpc>
                <a:spcPts val="1600"/>
              </a:lnSpc>
              <a:buNone/>
            </a:pPr>
            <a:r>
              <a:rPr lang="en-US" sz="1200" dirty="0">
                <a:solidFill>
                  <a:srgbClr val="F5F5F0"/>
                </a:solidFill>
                <a:latin typeface="Calibri" pitchFamily="34" charset="0"/>
                <a:ea typeface="Calibri" pitchFamily="34" charset="-122"/>
                <a:cs typeface="Calibri" pitchFamily="34" charset="-120"/>
              </a:rPr>
              <a:t>Validación concurrente, corpus abierto y clasificador propio en el dispositivo</a:t>
            </a:r>
            <a:endParaRPr lang="en-US" sz="1200" dirty="0"/>
          </a:p>
        </p:txBody>
      </p:sp>
      <p:sp>
        <p:nvSpPr>
          <p:cNvPr id="13" name="Text 11"/>
          <p:cNvSpPr txBox="1"/>
          <p:nvPr/>
        </p:nvSpPr>
        <p:spPr>
          <a:xfrm>
            <a:off x="640080" y="5806440"/>
            <a:ext cx="8229600" cy="292608"/>
          </a:xfrm>
          <a:prstGeom prst="rect">
            <a:avLst/>
          </a:prstGeom>
          <a:noFill/>
          <a:ln/>
        </p:spPr>
        <p:txBody>
          <a:bodyPr wrap="square" lIns="0" tIns="0" rIns="0" bIns="0" rtlCol="0" anchor="ctr"/>
          <a:lstStyle/>
          <a:p>
            <a:pPr indent="0" marL="0">
              <a:buNone/>
            </a:pPr>
            <a:r>
              <a:rPr lang="en-US" sz="1200" dirty="0">
                <a:solidFill>
                  <a:srgbClr val="97BC62"/>
                </a:solidFill>
                <a:latin typeface="Calibri" pitchFamily="34" charset="0"/>
                <a:ea typeface="Calibri" pitchFamily="34" charset="-122"/>
                <a:cs typeface="Calibri" pitchFamily="34" charset="-120"/>
              </a:rPr>
              <a:t>Diego Gamba  ·  github.com/DiegoGamba/ecoruta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EcoRuta</dc:title>
  <dc:subject>PptxGenJS Presentation</dc:subject>
  <dc:creator>Diego Gamba</dc:creator>
  <cp:lastModifiedBy>Diego Gamba</cp:lastModifiedBy>
  <cp:revision>1</cp:revision>
  <dcterms:created xsi:type="dcterms:W3CDTF">2026-08-31T20:49:46Z</dcterms:created>
  <dcterms:modified xsi:type="dcterms:W3CDTF">2026-08-31T20:49:46Z</dcterms:modified>
</cp:coreProperties>
</file>