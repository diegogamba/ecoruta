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5F2D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2C5F2D"/>
                </a:solidFill>
                <a:latin typeface="Cambria"/>
              </a:rPr>
              <a:t>Cobertura por módulo del dominio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6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Geo</c:v>
                  </c:pt>
                  <c:pt idx="1">
                    <c:v>Servicios</c:v>
                  </c:pt>
                  <c:pt idx="2">
                    <c:v>Handlers API</c:v>
                  </c:pt>
                  <c:pt idx="3">
                    <c:v>HTTP</c:v>
                  </c:pt>
                  <c:pt idx="4">
                    <c:v>Modelos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26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 mensual (USD)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2D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97BC6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5A8F5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B8CFA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D4E2C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DCE3D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Rekognition</c:v>
                </c:pt>
                <c:pt idx="1">
                  <c:v>EventBridge · SNS · CloudWatch</c:v>
                </c:pt>
                <c:pt idx="2">
                  <c:v>DynamoDB</c:v>
                </c:pt>
                <c:pt idx="3">
                  <c:v>S3</c:v>
                </c:pt>
                <c:pt idx="4">
                  <c:v>Lambda</c:v>
                </c:pt>
                <c:pt idx="5">
                  <c:v>API Gateway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</c:v>
                </c:pt>
                <c:pt idx="1">
                  <c:v>0.6</c:v>
                </c:pt>
                <c:pt idx="2">
                  <c:v>0.1</c:v>
                </c:pt>
                <c:pt idx="3">
                  <c:v>0.05</c:v>
                </c:pt>
                <c:pt idx="4">
                  <c:v>0.05</c:v>
                </c:pt>
                <c:pt idx="5">
                  <c:v>0.04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C262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EcoRuta: una solución móvil respaldada por una arquitectura serverless en AWS para capturar, clasificar y priorizar puntos críticos de residuos sólidos a partir del reporte ciudadano.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ciclo entre que el residuo aparece y la cuadrilla llega es largo, y los costos son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foto no atraviesa la capa de cómputo: la app pide una URL prefirmada y sube directo a S3. Eso evita el límite de 6 MB de Lambda y reduce latencia y costo.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prueba encontró un defecto real: create devolvía el ítem completo de DynamoDB, incluyendo user_id y ttl. Se corrigió centralizando la proyección pública.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 Quedo atento a preguntas sobre la arquitectura, el algoritmo de agrupamiento o la proyección investigativa.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solidFill>
            <a:srgbClr val="2C5F2D">
              <a:alpha val="55000"/>
            </a:srgbClr>
          </a:solidFill>
          <a:ln w="12700">
            <a:solidFill>
              <a:srgbClr val="2C5F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840480"/>
            <a:ext cx="3108960" cy="3108960"/>
          </a:xfrm>
          <a:prstGeom prst="ellipse">
            <a:avLst/>
          </a:prstGeom>
          <a:solidFill>
            <a:srgbClr val="97BC62">
              <a:alpha val="22000"/>
            </a:srgbClr>
          </a:solidFill>
          <a:ln w="12700">
            <a:solidFill>
              <a:srgbClr val="97BC62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ABP ·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EcoRuta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3580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i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 ciudadano y priorización automática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i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puntos críticos de residuos sólidos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605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Flutter  ·  Arquitectura serverless en AWS  ·  Infraestructura como código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2011680" cy="2743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5120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Gamba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4406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Aplicaciones Móviles · Facultad de Ingeniería, Ciencias y Administración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puntos críticos aparecen, se erradican y reaparecen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los residuos sólidos urbanos no llega al sistema formal de recolección: se acumula en esquinas, separadores y orillas de quebrada. El fenómeno tiene tres rasgos que lo hacen difícil de atender con los instrumentos actuales.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444240" cy="2057400"/>
          </a:xfrm>
          <a:prstGeom prst="roundRect">
            <a:avLst>
              <a:gd name="adj" fmla="val 444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87168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72384"/>
            <a:ext cx="289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dinámico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401568"/>
            <a:ext cx="289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se erradica y reaparece a media cuadra. Los inventarios manuales quedan obsoletos en semanas.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58640" y="2240280"/>
            <a:ext cx="3444240" cy="2057400"/>
          </a:xfrm>
          <a:prstGeom prst="roundRect">
            <a:avLst>
              <a:gd name="adj" fmla="val 444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32960" y="2487168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29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32960" y="3072384"/>
            <a:ext cx="289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local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32960" y="3401568"/>
            <a:ext cx="289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mejor lo detecta es el vecino que pasa a diario, no el operador que recorre la macro-ruta.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77200" y="2240280"/>
            <a:ext cx="3444240" cy="2057400"/>
          </a:xfrm>
          <a:prstGeom prst="roundRect">
            <a:avLst>
              <a:gd name="adj" fmla="val 444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51520" y="2487168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15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1520" y="3072384"/>
            <a:ext cx="289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fluye la información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51520" y="3401568"/>
            <a:ext cx="289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canales actuales producen texto libre sin coordenadas ni evidencia: obligan a verificar en campo.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1A3A1B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4773168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operativa: recolección reactiva y no optimizada, riesgo sanitario por vectores, obstrucción de sumideros y deterioro del espacio público.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nos preguntamos y qué nos propusimos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536192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QUE GUÍA EL PROYECTO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78308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¿Puede un flujo de reporte ciudadano georreferenciado, con evidencia fotográfica y agrupamiento espacial automático, producir un inventario de puntos críticos más actualizado y accionable que el levantamiento manual periódico?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310896" cy="31089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1272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un reporte georreferenciado con evidencia en menos de 60 segundos, incluso sin conectividad.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94176"/>
            <a:ext cx="310896" cy="31089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67588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reportes dispersos en puntos críticos mediante agrupamiento espacial y priorizarlos por severidad.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42816"/>
            <a:ext cx="310896" cy="31089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242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22452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Sugerir el tipo de residuo desde la fotografía para estandarizar el dato.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10896" cy="31089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7731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de inmediato ante residuos peligrosos o severidad alta.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340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532180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indicadores operativos para el seguimiento de la entidad.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223760" y="2697480"/>
            <a:ext cx="4297680" cy="3017520"/>
          </a:xfrm>
          <a:prstGeom prst="roundRect">
            <a:avLst>
              <a:gd name="adj" fmla="val 303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0" y="29077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 LA ENTREGA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32461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primario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34472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 residente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374904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secundario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39502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de aseo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425196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Territorio piloto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453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localidad urbana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4754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cubierto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49560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→ clasificación → agrupamiento → priorización → cierre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525780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alcance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498080" y="5458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Facturación, despacho de vehículos, comparendo ambiental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una foto en la calle a una cuadrilla en ruta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ciudadano toma una foto, la app resuelve la ubicación y envía el reporte en menos de un minuto. En la nube el reporte se clasifica, se agrupa con sus vecinos y se prioriza.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971446" cy="2057400"/>
          </a:xfrm>
          <a:prstGeom prst="roundRect">
            <a:avLst>
              <a:gd name="adj" fmla="val 4638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97203" y="23317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97203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07792"/>
            <a:ext cx="1697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46120"/>
            <a:ext cx="16971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Foto, GPS y categoría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menos de 60 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29814" y="278892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67558" y="2103120"/>
            <a:ext cx="1971446" cy="2057400"/>
          </a:xfrm>
          <a:prstGeom prst="roundRect">
            <a:avLst>
              <a:gd name="adj" fmla="val 4638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24682" y="23317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4682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907792"/>
            <a:ext cx="1697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04718" y="3246120"/>
            <a:ext cx="16971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por computador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el tipo de residuo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57293" y="278892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95037" y="2103120"/>
            <a:ext cx="1971446" cy="2057400"/>
          </a:xfrm>
          <a:prstGeom prst="roundRect">
            <a:avLst>
              <a:gd name="adj" fmla="val 4638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2160" y="23317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521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32197" y="2907792"/>
            <a:ext cx="1697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232197" y="3246120"/>
            <a:ext cx="16971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cercanos forman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crítico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4771" y="278892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22515" y="2103120"/>
            <a:ext cx="1971446" cy="2057400"/>
          </a:xfrm>
          <a:prstGeom prst="roundRect">
            <a:avLst>
              <a:gd name="adj" fmla="val 4638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79638" y="23317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7963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59675" y="2907792"/>
            <a:ext cx="1697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59675" y="3246120"/>
            <a:ext cx="16971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Severidad acumulada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la intervención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12250" y="278892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549994" y="2103120"/>
            <a:ext cx="1971446" cy="2057400"/>
          </a:xfrm>
          <a:prstGeom prst="roundRect">
            <a:avLst>
              <a:gd name="adj" fmla="val 4638"/>
            </a:avLst>
          </a:prstGeom>
          <a:solidFill>
            <a:srgbClr val="1A3A1B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07117" y="2331720"/>
            <a:ext cx="457200" cy="45720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307117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687154" y="2907792"/>
            <a:ext cx="1697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Interviene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687154" y="3246120"/>
            <a:ext cx="16971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cierra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4434840"/>
            <a:ext cx="344424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" y="4599432"/>
            <a:ext cx="298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60 s</a:t>
            </a:r>
            <a:endParaRPr lang="en-US" sz="4000" dirty="0"/>
          </a:p>
        </p:txBody>
      </p:sp>
      <p:sp>
        <p:nvSpPr>
          <p:cNvPr id="36" name="Text 34"/>
          <p:cNvSpPr txBox="1"/>
          <p:nvPr/>
        </p:nvSpPr>
        <p:spPr>
          <a:xfrm>
            <a:off x="868680" y="53035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emitir un reporte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5577840"/>
            <a:ext cx="298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Foto, ubicación y categoría, con cola local si no hay señal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58640" y="4434840"/>
            <a:ext cx="344424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87240" y="4599432"/>
            <a:ext cx="298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m</a:t>
            </a:r>
            <a:endParaRPr lang="en-US" sz="4000" dirty="0"/>
          </a:p>
        </p:txBody>
      </p:sp>
      <p:sp>
        <p:nvSpPr>
          <p:cNvPr id="40" name="Text 38"/>
          <p:cNvSpPr txBox="1"/>
          <p:nvPr/>
        </p:nvSpPr>
        <p:spPr>
          <a:xfrm>
            <a:off x="4587240" y="53035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de agrupamiento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587240" y="5577840"/>
            <a:ext cx="298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entre 30 y 1000 m según el territorio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077200" y="4434840"/>
            <a:ext cx="344424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05800" y="4599432"/>
            <a:ext cx="298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4" name="Text 42"/>
          <p:cNvSpPr txBox="1"/>
          <p:nvPr/>
        </p:nvSpPr>
        <p:spPr>
          <a:xfrm>
            <a:off x="8305800" y="53035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mínimos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05800" y="5577840"/>
            <a:ext cx="298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para que un grupo se considere punto crítico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TÉCNICO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serverless en AWS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65960" y="1417320"/>
            <a:ext cx="955548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1563624"/>
            <a:ext cx="909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74520"/>
            <a:ext cx="9098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iOS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700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65960" y="2395728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94560" y="2542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grupos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2395728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2542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HTTP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throttling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64845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65960" y="3374136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3520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Lambda × 8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8313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arm64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0" y="3374136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20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rol IAM por función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38313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privilegio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6268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65960" y="4352544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498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809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single-table · 3 GSI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0" y="4352544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86600" y="4498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+ KMS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4809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cifradas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6052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ASÍNCRONO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965960" y="5330952"/>
            <a:ext cx="303276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94560" y="5477256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EventBridge + SNS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5788152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prioritarias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227320" y="5330952"/>
            <a:ext cx="303276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55920" y="5477256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Rekognition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55920" y="5788152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asistida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88680" y="5330952"/>
            <a:ext cx="3032760" cy="868680"/>
          </a:xfrm>
          <a:prstGeom prst="roundRect">
            <a:avLst>
              <a:gd name="adj" fmla="val 1052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17280" y="5477256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SQS DLQ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717280" y="5788152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pierde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TECNOLÓGICA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servicio responde a un rasgo del problema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898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 DEL PROBLEMA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13898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ELEGIDO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3898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709928"/>
            <a:ext cx="11155680" cy="658368"/>
          </a:xfrm>
          <a:prstGeom prst="rect">
            <a:avLst/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muy irregular: picos tras lluvias, casi nula de madrugada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78308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+ API Gateway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178308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a cero; sin capacidad ociosa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9631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siempre por zona o por estado, nunca analíticas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49631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single-table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49631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 Query por clave; nunca Scan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136392"/>
            <a:ext cx="11155680" cy="658368"/>
          </a:xfrm>
          <a:prstGeom prst="rect">
            <a:avLst/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0954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pesa mucho más que el resto del reporte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20954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+ URL prefirmada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20954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foto no pasa por el cómputo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92277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residuos sin dataset propio inicial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922776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Rekognition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92277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inmediata y reemplazable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562856"/>
            <a:ext cx="11155680" cy="658368"/>
          </a:xfrm>
          <a:prstGeom prst="rect">
            <a:avLst/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63600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consumidores del evento a futuro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463600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463600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productor no conoce a sus consumidores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34924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implícitos: ubicación y foto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534924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+ IAM + TTL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534924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Cifrado, mínimo privilegio, retención acotada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9436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Descartados con razón documentada: contenedores en ECS/EKS (costo base injustificado), PostgreSQL + PostGIS (instancia siempre encendida y VPC innecesaria), Firebase (menor ejercicio de arquitectura).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tabla, cuatro preguntas, ningún Scan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DynamoDB el modelo se diseña desde las consultas, no desde las entidades. Hay exactamente cuatro consultas en el producto y cada una tiene su clave.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548890" cy="1554480"/>
          </a:xfrm>
          <a:prstGeom prst="roundRect">
            <a:avLst>
              <a:gd name="adj" fmla="val 5882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148840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 de un reporte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24912"/>
            <a:ext cx="21465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principal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2146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6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REPORT#&lt;uuid&gt;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7570" y="1965960"/>
            <a:ext cx="2548890" cy="1554480"/>
          </a:xfrm>
          <a:prstGeom prst="roundRect">
            <a:avLst>
              <a:gd name="adj" fmla="val 5882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8738" y="2148840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hay cerca de aquí?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8738" y="2724912"/>
            <a:ext cx="21465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GSI1 · geohash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18738" y="3017520"/>
            <a:ext cx="2146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6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GEO#&lt;geohash6&gt;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5060" y="1965960"/>
            <a:ext cx="2548890" cy="1554480"/>
          </a:xfrm>
          <a:prstGeom prst="roundRect">
            <a:avLst>
              <a:gd name="adj" fmla="val 5882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6228" y="2148840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está pendiente?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96228" y="2724912"/>
            <a:ext cx="21465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GSI2 · estado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3017520"/>
            <a:ext cx="2146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6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STATUS#&lt;estado&gt;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72550" y="1965960"/>
            <a:ext cx="2548890" cy="1554480"/>
          </a:xfrm>
          <a:prstGeom prst="roundRect">
            <a:avLst>
              <a:gd name="adj" fmla="val 5882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73718" y="2148840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quién es esta foto?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73718" y="2724912"/>
            <a:ext cx="21465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GSI3 · disperso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73718" y="3017520"/>
            <a:ext cx="2146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6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EVID#&lt;clave&gt;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40480"/>
            <a:ext cx="344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Geohash a dos precisiones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160520"/>
            <a:ext cx="344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 con precisión 7 (~153 m) pero se particiona por los 6 primeros caracteres (~1,2 km): un barrio completo en una sola consulta, sin partición caliente.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358640" y="3840480"/>
            <a:ext cx="344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disperso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58640" y="4160520"/>
            <a:ext cx="344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GSI3 solo indexa reportes con evidencia, con proyección KEYS_ONLY. Sin él, cada foto subida costaría un Scan de la tabla entera.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77200" y="3840480"/>
            <a:ext cx="344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TTL de 540 días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077200" y="4160520"/>
            <a:ext cx="344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 la vez decisión de privacidad y de costo: el reporte y su evidencia en S3 caducan juntos.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reportes sueltos a puntos críticos priorizados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72184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4173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Prefiltrado por geohash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72821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consultan la celda del punto y sus vecinas en GSI1. Acota el conjunto a decenas de reportes sin escanear la tabla.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4414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Agrupamiento por densidad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75234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de DBSCAN sobre distancia de Haversine: cada reporte no asignado abre un grupo y absorbe a los que estén dentro del radio.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465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Umbral de existencia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776472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grupo es punto crítico solo con 3 o más reportes. Evita que una queja aislada movilice una cuadrilla.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544568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48970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Priorización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8006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Severidad acumulada ordena los grupos; la categoría dominante define el protocolo de manejo.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80960" y="1417320"/>
            <a:ext cx="3840480" cy="4114800"/>
          </a:xfrm>
          <a:prstGeom prst="roundRect">
            <a:avLst>
              <a:gd name="adj" fmla="val 2381"/>
            </a:avLst>
          </a:prstGeom>
          <a:solidFill>
            <a:srgbClr val="1A3A1B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0" y="16459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 VERIFICADO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20116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reportes en 8 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0" y="224028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punto crítico · severidad 15 · prioridad Alta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01000" y="27066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mismos, ya atendidos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0" y="293522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puntos: lo cerrado sale del análisis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001000" y="3401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 reportes cercanos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36301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puntos: no alcanza el umbral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4096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cercanos + 3 a 4 km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4325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puntos independientes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47914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pedido: 99.999 m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502005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acota a 1000 m en el servidor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y privacidad por diseño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257800" cy="1143000"/>
          </a:xfrm>
          <a:prstGeom prst="roundRect">
            <a:avLst>
              <a:gd name="adj" fmla="val 800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58191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Autenticación en el borde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92808"/>
            <a:ext cx="4745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valida el JWT antes de invocar código propio. Una petición sin credenciales nunca ejecuta una Lambda.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5257800" cy="1143000"/>
          </a:xfrm>
          <a:prstGeom prst="roundRect">
            <a:avLst>
              <a:gd name="adj" fmla="val 800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90779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Mínimo privilegio real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218688"/>
            <a:ext cx="4745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roles IAM, uno por función. get_report solo lee; presign_evidence solo firma en un prefijo del bucket.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5257800" cy="1143000"/>
          </a:xfrm>
          <a:prstGeom prst="roundRect">
            <a:avLst>
              <a:gd name="adj" fmla="val 800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423367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Cifrado extremo a extremo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544568"/>
            <a:ext cx="4745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obligatorio por política de bucket; KMS con rotación anual en DynamoDB, S3, logs, SNS y SQS.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5257800" cy="1143000"/>
          </a:xfrm>
          <a:prstGeom prst="roundRect">
            <a:avLst>
              <a:gd name="adj" fmla="val 800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158191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Minimización de datos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1892808"/>
            <a:ext cx="4745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pide nombre, cédula ni teléfono. La única identidad es el sub opaco de Cognito.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1143000"/>
          </a:xfrm>
          <a:prstGeom prst="roundRect">
            <a:avLst>
              <a:gd name="adj" fmla="val 800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90779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Seudonimización en logs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218688"/>
            <a:ext cx="4745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sha256(user_id) truncado: suficiente para correlacionar, insuficiente para identificar.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4069080"/>
            <a:ext cx="5257800" cy="1143000"/>
          </a:xfrm>
          <a:prstGeom prst="roundRect">
            <a:avLst>
              <a:gd name="adj" fmla="val 8000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19672" y="4233672"/>
            <a:ext cx="4745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fuga en los errores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4544568"/>
            <a:ext cx="4745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interno devuelve 500 genérico con request_id. Hay una prueba que lo verifica.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56144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reconocida: sin verificación anti-fraude por EXIF, sin WAF, sin desenfoque automático de rostros y sin reproceso automático de la DLQ. Documentarlo es parte del rigor.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Prácticas de ingeniería que sostienen el resultado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51460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3619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 sin credenciales de AWS y sin red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1371600"/>
            <a:ext cx="251460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53619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total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y servicios al 100 %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51460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3619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IAM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por función, permisos declarados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06840" y="1371600"/>
            <a:ext cx="2514600" cy="1600200"/>
          </a:xfrm>
          <a:prstGeom prst="roundRect">
            <a:avLst>
              <a:gd name="adj" fmla="val 5714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0" y="153619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creados a mano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5146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infraestructura en Terraform</a:t>
            </a:r>
            <a:endParaRPr lang="en-US" sz="10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3429000"/>
          <a:ext cx="57607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766560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Dependencias hacia el dominio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6766560" y="354787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Handlers delgados sobre una capa de servicios que no conoce HTTP ni AWS.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766560" y="396849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Repositorio intercambiable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42062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doble en memoria con la misma semántica permite probar sin nube.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766560" y="462686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 en cada push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676656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ruff, bandit, pytest con umbral de cobertura y terraform validate.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766560" y="52852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Despliegue con OIDC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6766560" y="55229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asume un rol de AWS: cero llaves de larga vida almacenadas.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OPERACIÓN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de 4 dólares al mes en el piloto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una localidad, 3.000 reportes y 30.000 consultas de mapa al mes, con foto promedio de 400 KB.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2880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583680" y="1828800"/>
            <a:ext cx="4937760" cy="1371600"/>
          </a:xfrm>
          <a:prstGeom prst="roundRect">
            <a:avLst>
              <a:gd name="adj" fmla="val 6667"/>
            </a:avLst>
          </a:prstGeom>
          <a:solidFill>
            <a:srgbClr val="1A3A1B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2057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3,85 USD / mes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26334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 estimado del piloto completo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34290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78 % del costo es Rekognition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36850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clasificador propio ejecutado en el dispositivo eliminaría casi todo el gasto variable.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2062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resto escala a cero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4462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tráfico no hay factura: no hay instancias, ni NAT Gateway, ni capacidad reservada.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4983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que abaratan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52395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arm64 (~20 % menos por invocación), bucket key de KMS y ciclo de vida hacia clases frías en S3.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SEMILLERO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taller de curso a línea de investigación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literatura sobre crowdsourcing ambiental y sobre clasificación automática de residuos, pero es escasa la evidencia sobre su combinación en contextos urbanos latinoamericanos.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44240" cy="2377440"/>
          </a:xfrm>
          <a:prstGeom prst="roundRect">
            <a:avLst>
              <a:gd name="adj" fmla="val 384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76272"/>
            <a:ext cx="2932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32304"/>
            <a:ext cx="2932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concurrente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816352"/>
            <a:ext cx="2932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Contrastar los puntos críticos derivados de reportes ciudadanos con el inventario oficial: precisión, exhaustividad y F1, con barrido de parámetros de agrupamiento.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58640" y="1965960"/>
            <a:ext cx="3444240" cy="2377440"/>
          </a:xfrm>
          <a:prstGeom prst="roundRect">
            <a:avLst>
              <a:gd name="adj" fmla="val 384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4672" y="2176272"/>
            <a:ext cx="2932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14672" y="2432304"/>
            <a:ext cx="2932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Clasificador propio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4672" y="2816352"/>
            <a:ext cx="2932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anonimizado y etiquetado por doble anotador; MobileNetV3 ajustado frente a la línea base, medido en F1, latencia y costo.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965960"/>
            <a:ext cx="3444240" cy="2377440"/>
          </a:xfrm>
          <a:prstGeom prst="roundRect">
            <a:avLst>
              <a:gd name="adj" fmla="val 384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3232" y="2176272"/>
            <a:ext cx="2932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33232" y="2432304"/>
            <a:ext cx="2932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predictivo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33232" y="2816352"/>
            <a:ext cx="2932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Rejilla de geohash y modelo de conteo para estimar reaparición a 7 días: pasar de recolección reactiva a preventiva.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57200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arquitectura actual ya habilita la investigación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0080" y="5001768"/>
            <a:ext cx="274320" cy="27432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en S3 con etiquetas de IA almacenadas: corpus en formación desde el primer reporte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5001768"/>
            <a:ext cx="274320" cy="27432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5001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geohash + created_at indexados: la serie espacio-temporal ya existe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50408"/>
            <a:ext cx="274320" cy="27432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550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de agrupamiento configurables: los experimentos son reproducibles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5550408"/>
            <a:ext cx="274320" cy="27432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5550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EventBridge: agregar un consumidor de datos no toca el código que funciona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entrega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14600" cy="2743200"/>
          </a:xfrm>
          <a:prstGeom prst="roundRect">
            <a:avLst>
              <a:gd name="adj" fmla="val 363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mobile/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933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Flutter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Modelos, servicios (API, auth, ubicación, cola sin conexión), pantallas de reporte y mapa, tema accesible Material 3 y pruebas.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14600" cy="2743200"/>
          </a:xfrm>
          <a:prstGeom prst="roundRect">
            <a:avLst>
              <a:gd name="adj" fmla="val 363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6642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933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en Python 3.12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5146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handlers, capa de dominio y servicios, repositorios intercambiables, 109 pruebas y peticiones listas en api.http.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514600" cy="2743200"/>
          </a:xfrm>
          <a:prstGeom prst="roundRect">
            <a:avLst>
              <a:gd name="adj" fmla="val 363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6642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infra/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19933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5146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DynamoDB, S3, Cognito, Lambda con roles de mínimo privilegio, API Gateway, EventBridge, SNS, DLQ, alarmas y tablero.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1463040"/>
            <a:ext cx="2514600" cy="2743200"/>
          </a:xfrm>
          <a:prstGeom prst="roundRect">
            <a:avLst>
              <a:gd name="adj" fmla="val 3636"/>
            </a:avLst>
          </a:prstGeom>
          <a:solidFill>
            <a:srgbClr val="F5F5F0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0" y="16642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19933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Documentación técnica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5146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documentos: análisis, arquitectura, modelo de datos, seguridad, ADR, pruebas, proyección, despliegue y referencia de API.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A3A1B"/>
          </a:solidFill>
          <a:ln w="12700">
            <a:solidFill>
              <a:srgbClr val="DCE3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46817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Repositorio público en GitHub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029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github.com/DiegoGamba/ecoruta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4132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con diagramas y guía de despliegue · CI con pruebas, análisis de seguridad y validación de infraestructura · Licencia MIT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55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EcoRuta · Taller ABP · Diseño de Aplicaciones Móviles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881360" y="6355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A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108960"/>
            <a:ext cx="4754880" cy="4754880"/>
          </a:xfrm>
          <a:prstGeom prst="ellipse">
            <a:avLst/>
          </a:prstGeom>
          <a:solidFill>
            <a:srgbClr val="2C5F2D">
              <a:alpha val="50000"/>
            </a:srgbClr>
          </a:solidFill>
          <a:ln w="12700">
            <a:solidFill>
              <a:srgbClr val="2C5F2D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conocimiento local del vecino,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convertido en un inventario vivo y priorizado.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real y delimitado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39896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críticos dinámicos que los inventarios manuales no alcanzan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34290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justificada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3739896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servicio responde a un rasgo del problema, con alternativas descartadas por escrito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52628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verificable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837176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 pruebas, roles de mínimo privilegio, infraestructura como código y CI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452628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Camino investigativo abierto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4837176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5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concurrente, corpus abierto y clasificador propio en el dispositivo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06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Gamba  ·  github.com/DiegoGamba/ecoruta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EcoRuta</dc:title>
  <dc:subject>PptxGenJS Presentation</dc:subject>
  <dc:creator>Diego Gamba</dc:creator>
  <cp:lastModifiedBy>Diego Gamba</cp:lastModifiedBy>
  <cp:revision>1</cp:revision>
  <dcterms:created xsi:type="dcterms:W3CDTF">2026-08-31T20:31:41Z</dcterms:created>
  <dcterms:modified xsi:type="dcterms:W3CDTF">2026-08-31T20:31:41Z</dcterms:modified>
</cp:coreProperties>
</file>